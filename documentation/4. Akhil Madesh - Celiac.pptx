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611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FF0E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EAE8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0"/>
            <a:ext cx="1828800" cy="5143500"/>
          </a:xfrm>
          <a:prstGeom prst="rect">
            <a:avLst/>
          </a:prstGeom>
          <a:solidFill>
            <a:srgbClr val="F2EBF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-731520"/>
            <a:ext cx="2560320" cy="2560320"/>
          </a:xfrm>
          <a:prstGeom prst="ellipse">
            <a:avLst/>
          </a:prstGeom>
          <a:solidFill>
            <a:srgbClr val="F5C9B3">
              <a:alpha val="80000"/>
            </a:srgbClr>
          </a:solidFill>
          <a:ln w="12700">
            <a:solidFill>
              <a:srgbClr val="F5C9B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-594360"/>
            <a:ext cx="2194560" cy="2194560"/>
          </a:xfrm>
          <a:prstGeom prst="ellipse">
            <a:avLst/>
          </a:prstGeom>
          <a:solidFill>
            <a:srgbClr val="F0C8B8">
              <a:alpha val="75000"/>
            </a:srgbClr>
          </a:solidFill>
          <a:ln w="12700">
            <a:solidFill>
              <a:srgbClr val="F0C8B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566160"/>
            <a:ext cx="2377440" cy="2377440"/>
          </a:xfrm>
          <a:prstGeom prst="ellipse">
            <a:avLst/>
          </a:prstGeom>
          <a:solidFill>
            <a:srgbClr val="C5C0E8">
              <a:alpha val="55000"/>
            </a:srgbClr>
          </a:solidFill>
          <a:ln w="12700">
            <a:solidFill>
              <a:srgbClr val="C5C0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502920" cy="64008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44752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Celiac Disease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48640" y="2157984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&amp; Support Vector Machine Classifiers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Healthcare Project  |  May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2103120"/>
            <a:ext cx="1737360" cy="1737360"/>
          </a:xfrm>
          <a:prstGeom prst="roundRect">
            <a:avLst>
              <a:gd name="adj" fmla="val 12632"/>
            </a:avLst>
          </a:prstGeom>
          <a:solidFill>
            <a:srgbClr val="F96B6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05472" y="2359152"/>
            <a:ext cx="1225296" cy="1225296"/>
          </a:xfrm>
          <a:prstGeom prst="roundRect">
            <a:avLst>
              <a:gd name="adj" fmla="val 14925"/>
            </a:avLst>
          </a:prstGeom>
          <a:solidFill>
            <a:srgbClr val="F5A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4041648"/>
            <a:ext cx="196596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4041648"/>
            <a:ext cx="50292" cy="804672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41056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2,206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67512" y="4407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24328" y="4041648"/>
            <a:ext cx="196596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24328" y="4041648"/>
            <a:ext cx="50292" cy="804672"/>
          </a:xfrm>
          <a:prstGeom prst="rect">
            <a:avLst/>
          </a:prstGeom>
          <a:solidFill>
            <a:srgbClr val="9B8FD4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41056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788920" y="4407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45736" y="4041648"/>
            <a:ext cx="196596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45736" y="4041648"/>
            <a:ext cx="50292" cy="80467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41056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910328" y="4407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67144" y="4041648"/>
            <a:ext cx="196596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67144" y="4041648"/>
            <a:ext cx="50292" cy="804672"/>
          </a:xfrm>
          <a:prstGeom prst="rect">
            <a:avLst/>
          </a:prstGeom>
          <a:solidFill>
            <a:srgbClr val="F5A05A"/>
          </a:solidFill>
          <a:ln/>
        </p:spPr>
      </p:sp>
      <p:sp>
        <p:nvSpPr>
          <p:cNvPr id="29" name="Text 27"/>
          <p:cNvSpPr/>
          <p:nvPr/>
        </p:nvSpPr>
        <p:spPr>
          <a:xfrm>
            <a:off x="7031736" y="41056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031736" y="44074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FF0E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EAE8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0"/>
            <a:ext cx="1828800" cy="5143500"/>
          </a:xfrm>
          <a:prstGeom prst="rect">
            <a:avLst/>
          </a:prstGeom>
          <a:solidFill>
            <a:srgbClr val="F2EBF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-731520"/>
            <a:ext cx="2560320" cy="2560320"/>
          </a:xfrm>
          <a:prstGeom prst="ellipse">
            <a:avLst/>
          </a:prstGeom>
          <a:solidFill>
            <a:srgbClr val="F5C9B3">
              <a:alpha val="80000"/>
            </a:srgbClr>
          </a:solidFill>
          <a:ln w="12700">
            <a:solidFill>
              <a:srgbClr val="F5C9B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-594360"/>
            <a:ext cx="2194560" cy="2194560"/>
          </a:xfrm>
          <a:prstGeom prst="ellipse">
            <a:avLst/>
          </a:prstGeom>
          <a:solidFill>
            <a:srgbClr val="F0C8B8">
              <a:alpha val="75000"/>
            </a:srgbClr>
          </a:solidFill>
          <a:ln w="12700">
            <a:solidFill>
              <a:srgbClr val="F0C8B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566160"/>
            <a:ext cx="2377440" cy="2377440"/>
          </a:xfrm>
          <a:prstGeom prst="ellipse">
            <a:avLst/>
          </a:prstGeom>
          <a:solidFill>
            <a:srgbClr val="C5C0E8">
              <a:alpha val="55000"/>
            </a:srgbClr>
          </a:solidFill>
          <a:ln w="12700">
            <a:solidFill>
              <a:srgbClr val="C5C0E8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822960"/>
            <a:ext cx="502920" cy="64008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987552"/>
            <a:ext cx="388620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33272"/>
            <a:ext cx="50292" cy="731520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1051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 Records (Rows)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47672"/>
            <a:ext cx="388620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93392"/>
            <a:ext cx="50292" cy="731520"/>
          </a:xfrm>
          <a:prstGeom prst="rect">
            <a:avLst/>
          </a:prstGeom>
          <a:solidFill>
            <a:srgbClr val="9B8F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2011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" y="2404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 — 14 Features + 1 Target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388620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53512"/>
            <a:ext cx="50292" cy="7315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2971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4632" y="33649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Cases (Celiac Diagnosed)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388620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13632"/>
            <a:ext cx="50292" cy="731520"/>
          </a:xfrm>
          <a:prstGeom prst="rect">
            <a:avLst/>
          </a:prstGeom>
          <a:solidFill>
            <a:srgbClr val="F5A05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" y="3931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4632" y="4325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Diabetes Type → Dropped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07408" y="95097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 THE DATASET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07408" y="1207008"/>
            <a:ext cx="4572000" cy="262433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4453128" y="1243584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50408" y="1243584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1243584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07408" y="1469441"/>
            <a:ext cx="4572000" cy="2624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453128" y="1506017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50408" y="1506017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36792" y="1506017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 (1–35 yrs)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07408" y="1731874"/>
            <a:ext cx="4572000" cy="262433"/>
          </a:xfrm>
          <a:prstGeom prst="rect">
            <a:avLst/>
          </a:prstGeom>
          <a:solidFill>
            <a:srgbClr val="FDF8F6"/>
          </a:solidFill>
          <a:ln/>
        </p:spPr>
      </p:sp>
      <p:sp>
        <p:nvSpPr>
          <p:cNvPr id="36" name="Text 34"/>
          <p:cNvSpPr/>
          <p:nvPr/>
        </p:nvSpPr>
        <p:spPr>
          <a:xfrm>
            <a:off x="4453128" y="1768450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50408" y="1768450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36792" y="1768450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07408" y="1994306"/>
            <a:ext cx="4572000" cy="2624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453128" y="2030882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50408" y="2030882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36792" y="2030882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diabetes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07408" y="2256739"/>
            <a:ext cx="4572000" cy="262433"/>
          </a:xfrm>
          <a:prstGeom prst="rect">
            <a:avLst/>
          </a:prstGeom>
          <a:solidFill>
            <a:srgbClr val="FDF8F6"/>
          </a:solidFill>
          <a:ln/>
        </p:spPr>
      </p:sp>
      <p:sp>
        <p:nvSpPr>
          <p:cNvPr id="44" name="Text 42"/>
          <p:cNvSpPr/>
          <p:nvPr/>
        </p:nvSpPr>
        <p:spPr>
          <a:xfrm>
            <a:off x="4453128" y="2293315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Diarrhoea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50408" y="2293315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36792" y="2293315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/ Fatty / Watery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407408" y="2519172"/>
            <a:ext cx="4572000" cy="2624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453128" y="2555748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50408" y="2555748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36792" y="2555748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pain (yes/no)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07408" y="2781605"/>
            <a:ext cx="4572000" cy="262433"/>
          </a:xfrm>
          <a:prstGeom prst="rect">
            <a:avLst/>
          </a:prstGeom>
          <a:solidFill>
            <a:srgbClr val="FDF8F6"/>
          </a:solidFill>
          <a:ln/>
        </p:spPr>
      </p:sp>
      <p:sp>
        <p:nvSpPr>
          <p:cNvPr id="52" name="Text 50"/>
          <p:cNvSpPr/>
          <p:nvPr/>
        </p:nvSpPr>
        <p:spPr>
          <a:xfrm>
            <a:off x="4453128" y="2818181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Short_Stature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50408" y="2818181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36792" y="2818181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 / DSS / Variant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407408" y="3044038"/>
            <a:ext cx="4572000" cy="2624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453128" y="3080614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Sticky_Stool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550408" y="3080614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36792" y="3080614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stool (yes/no)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07408" y="3306470"/>
            <a:ext cx="4572000" cy="262433"/>
          </a:xfrm>
          <a:prstGeom prst="rect">
            <a:avLst/>
          </a:prstGeom>
          <a:solidFill>
            <a:srgbClr val="FDF8F6"/>
          </a:solidFill>
          <a:ln/>
        </p:spPr>
      </p:sp>
      <p:sp>
        <p:nvSpPr>
          <p:cNvPr id="60" name="Text 58"/>
          <p:cNvSpPr/>
          <p:nvPr/>
        </p:nvSpPr>
        <p:spPr>
          <a:xfrm>
            <a:off x="4453128" y="3343046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Weight_loss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550408" y="3343046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336792" y="3343046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 (yes/no)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407408" y="3568903"/>
            <a:ext cx="4572000" cy="2624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453128" y="3605479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/ IgG / IgM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550408" y="3605479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336792" y="3605479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Immunoglobulin A, G, M levels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407408" y="3831336"/>
            <a:ext cx="4572000" cy="262433"/>
          </a:xfrm>
          <a:prstGeom prst="rect">
            <a:avLst/>
          </a:prstGeom>
          <a:solidFill>
            <a:srgbClr val="FDF8F6"/>
          </a:solidFill>
          <a:ln/>
        </p:spPr>
      </p:sp>
      <p:sp>
        <p:nvSpPr>
          <p:cNvPr id="68" name="Text 66"/>
          <p:cNvSpPr/>
          <p:nvPr/>
        </p:nvSpPr>
        <p:spPr>
          <a:xfrm>
            <a:off x="4453128" y="3867912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550408" y="3867912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336792" y="3867912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grade (0, 1, 2, 3a, 3b, 3c)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407408" y="4093769"/>
            <a:ext cx="4572000" cy="2624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4453128" y="4130345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cd_type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550408" y="4130345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336792" y="4130345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 (typical/silent/latent…)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407408" y="4356202"/>
            <a:ext cx="4572000" cy="262433"/>
          </a:xfrm>
          <a:prstGeom prst="rect">
            <a:avLst/>
          </a:prstGeom>
          <a:solidFill>
            <a:srgbClr val="FDF8F6"/>
          </a:solidFill>
          <a:ln/>
        </p:spPr>
      </p:sp>
      <p:sp>
        <p:nvSpPr>
          <p:cNvPr id="76" name="Text 74"/>
          <p:cNvSpPr/>
          <p:nvPr/>
        </p:nvSpPr>
        <p:spPr>
          <a:xfrm>
            <a:off x="4453128" y="4392778"/>
            <a:ext cx="1051560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Type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550408" y="4392778"/>
            <a:ext cx="749808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336792" y="4392778"/>
            <a:ext cx="25237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missing → dropped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407408" y="4618634"/>
            <a:ext cx="4572000" cy="2651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0" name="Text 78"/>
          <p:cNvSpPr/>
          <p:nvPr/>
        </p:nvSpPr>
        <p:spPr>
          <a:xfrm>
            <a:off x="4407408" y="465521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Disease_Diagnose  (yes / no)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FF0E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EAE8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0"/>
            <a:ext cx="1828800" cy="5143500"/>
          </a:xfrm>
          <a:prstGeom prst="rect">
            <a:avLst/>
          </a:prstGeom>
          <a:solidFill>
            <a:srgbClr val="F2EBF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-731520"/>
            <a:ext cx="2560320" cy="2560320"/>
          </a:xfrm>
          <a:prstGeom prst="ellipse">
            <a:avLst/>
          </a:prstGeom>
          <a:solidFill>
            <a:srgbClr val="F5C9B3">
              <a:alpha val="80000"/>
            </a:srgbClr>
          </a:solidFill>
          <a:ln w="12700">
            <a:solidFill>
              <a:srgbClr val="F5C9B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-594360"/>
            <a:ext cx="2194560" cy="2194560"/>
          </a:xfrm>
          <a:prstGeom prst="ellipse">
            <a:avLst/>
          </a:prstGeom>
          <a:solidFill>
            <a:srgbClr val="F0C8B8">
              <a:alpha val="75000"/>
            </a:srgbClr>
          </a:solidFill>
          <a:ln w="12700">
            <a:solidFill>
              <a:srgbClr val="F0C8B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566160"/>
            <a:ext cx="2377440" cy="2377440"/>
          </a:xfrm>
          <a:prstGeom prst="ellipse">
            <a:avLst/>
          </a:prstGeom>
          <a:solidFill>
            <a:srgbClr val="C5C0E8">
              <a:alpha val="55000"/>
            </a:srgbClr>
          </a:solidFill>
          <a:ln w="12700">
            <a:solidFill>
              <a:srgbClr val="C5C0E8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—  Part 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822960"/>
            <a:ext cx="502920" cy="640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96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class balance and patient age demographics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4160520" cy="3611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261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63040"/>
            <a:ext cx="4005072" cy="32461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709160" y="1207008"/>
            <a:ext cx="4160520" cy="3611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64608" y="1261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by Diagnosis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463040"/>
            <a:ext cx="4005072" cy="32461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4320" y="4809744"/>
            <a:ext cx="8595360" cy="228600"/>
          </a:xfrm>
          <a:prstGeom prst="roundRect">
            <a:avLst>
              <a:gd name="adj" fmla="val 32000"/>
            </a:avLst>
          </a:prstGeom>
          <a:solidFill>
            <a:srgbClr val="FFF0EA"/>
          </a:solidFill>
          <a:ln/>
        </p:spPr>
      </p:sp>
      <p:sp>
        <p:nvSpPr>
          <p:cNvPr id="18" name="Text 14"/>
          <p:cNvSpPr/>
          <p:nvPr/>
        </p:nvSpPr>
        <p:spPr>
          <a:xfrm>
            <a:off x="274320" y="48188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83.5% of patients are Celiac positive  |  Peak age group: 5–15 years (children most affected)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FF0E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EAE8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0"/>
            <a:ext cx="1828800" cy="5143500"/>
          </a:xfrm>
          <a:prstGeom prst="rect">
            <a:avLst/>
          </a:prstGeom>
          <a:solidFill>
            <a:srgbClr val="F2EBF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-731520"/>
            <a:ext cx="2560320" cy="2560320"/>
          </a:xfrm>
          <a:prstGeom prst="ellipse">
            <a:avLst/>
          </a:prstGeom>
          <a:solidFill>
            <a:srgbClr val="F5C9B3">
              <a:alpha val="80000"/>
            </a:srgbClr>
          </a:solidFill>
          <a:ln w="12700">
            <a:solidFill>
              <a:srgbClr val="F5C9B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-594360"/>
            <a:ext cx="2194560" cy="2194560"/>
          </a:xfrm>
          <a:prstGeom prst="ellipse">
            <a:avLst/>
          </a:prstGeom>
          <a:solidFill>
            <a:srgbClr val="F0C8B8">
              <a:alpha val="75000"/>
            </a:srgbClr>
          </a:solidFill>
          <a:ln w="12700">
            <a:solidFill>
              <a:srgbClr val="F0C8B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566160"/>
            <a:ext cx="2377440" cy="2377440"/>
          </a:xfrm>
          <a:prstGeom prst="ellipse">
            <a:avLst/>
          </a:prstGeom>
          <a:solidFill>
            <a:srgbClr val="C5C0E8">
              <a:alpha val="55000"/>
            </a:srgbClr>
          </a:solidFill>
          <a:ln w="12700">
            <a:solidFill>
              <a:srgbClr val="C5C0E8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—  Part 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822960"/>
            <a:ext cx="502920" cy="64008"/>
          </a:xfrm>
          <a:prstGeom prst="rect">
            <a:avLst/>
          </a:prstGeom>
          <a:solidFill>
            <a:srgbClr val="9B8FD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96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markers and clinical symptoms across diagnosed vs. non-diagnosed patients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4160520" cy="3611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261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Immunoglobulin Levels  (IgA / IgG / IgM)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81328"/>
            <a:ext cx="4005072" cy="32186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709160" y="1207008"/>
            <a:ext cx="4160520" cy="3611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64608" y="1261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Prevalence by Diagnosis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481328"/>
            <a:ext cx="4005072" cy="321868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4320" y="4809744"/>
            <a:ext cx="8595360" cy="228600"/>
          </a:xfrm>
          <a:prstGeom prst="roundRect">
            <a:avLst>
              <a:gd name="adj" fmla="val 32000"/>
            </a:avLst>
          </a:prstGeom>
          <a:solidFill>
            <a:srgbClr val="F0EAF8"/>
          </a:solidFill>
          <a:ln/>
        </p:spPr>
      </p:sp>
      <p:sp>
        <p:nvSpPr>
          <p:cNvPr id="18" name="Text 14"/>
          <p:cNvSpPr/>
          <p:nvPr/>
        </p:nvSpPr>
        <p:spPr>
          <a:xfrm>
            <a:off x="274320" y="48188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IgA &amp; IgG elevated in diagnosed patients  |  87% abdominal pain  |  88% sticky stool in positive cases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FF0E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EAE8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0"/>
            <a:ext cx="1828800" cy="5143500"/>
          </a:xfrm>
          <a:prstGeom prst="rect">
            <a:avLst/>
          </a:prstGeom>
          <a:solidFill>
            <a:srgbClr val="F2EBF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-731520"/>
            <a:ext cx="2560320" cy="2560320"/>
          </a:xfrm>
          <a:prstGeom prst="ellipse">
            <a:avLst/>
          </a:prstGeom>
          <a:solidFill>
            <a:srgbClr val="F5C9B3">
              <a:alpha val="80000"/>
            </a:srgbClr>
          </a:solidFill>
          <a:ln w="12700">
            <a:solidFill>
              <a:srgbClr val="F5C9B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-594360"/>
            <a:ext cx="2194560" cy="2194560"/>
          </a:xfrm>
          <a:prstGeom prst="ellipse">
            <a:avLst/>
          </a:prstGeom>
          <a:solidFill>
            <a:srgbClr val="F0C8B8">
              <a:alpha val="75000"/>
            </a:srgbClr>
          </a:solidFill>
          <a:ln w="12700">
            <a:solidFill>
              <a:srgbClr val="F0C8B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566160"/>
            <a:ext cx="2377440" cy="2377440"/>
          </a:xfrm>
          <a:prstGeom prst="ellipse">
            <a:avLst/>
          </a:prstGeom>
          <a:solidFill>
            <a:srgbClr val="C5C0E8">
              <a:alpha val="55000"/>
            </a:srgbClr>
          </a:solidFill>
          <a:ln w="12700">
            <a:solidFill>
              <a:srgbClr val="C5C0E8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Hyperparameters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822960"/>
            <a:ext cx="502920" cy="64008"/>
          </a:xfrm>
          <a:prstGeom prst="rect">
            <a:avLst/>
          </a:prstGeom>
          <a:solidFill>
            <a:srgbClr val="9B8FD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9509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397764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435608"/>
            <a:ext cx="402336" cy="402336"/>
          </a:xfrm>
          <a:prstGeom prst="ellipse">
            <a:avLst/>
          </a:prstGeom>
          <a:solidFill>
            <a:srgbClr val="F9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44475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13167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 Column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1563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Diabetes Type — 418 missing values (19%). Too much to impute reliably.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397764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331720"/>
            <a:ext cx="402336" cy="402336"/>
          </a:xfrm>
          <a:prstGeom prst="ellipse">
            <a:avLst/>
          </a:prstGeom>
          <a:solidFill>
            <a:srgbClr val="9B8FD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34086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2128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2688" y="245973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binary cols (Gender, Abdominal…). One-Hot for multi-class (Diarrhoea, Marsh, cd_type).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054096"/>
            <a:ext cx="397764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227832"/>
            <a:ext cx="402336" cy="402336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2369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108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Numerics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2688" y="33558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on Age, IgA, IgG, IgM — so no feature dominates due to scale differences.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950208"/>
            <a:ext cx="3977640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123944"/>
            <a:ext cx="402336" cy="402336"/>
          </a:xfrm>
          <a:prstGeom prst="ellipse">
            <a:avLst/>
          </a:prstGeom>
          <a:solidFill>
            <a:srgbClr val="F5A05A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13308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40050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Train-Test Split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2688" y="42519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test. Stratified to preserve 83/17 class ratio in both sets.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9509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HYPERPARAMETERS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80560" y="1261872"/>
            <a:ext cx="443484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1316736"/>
            <a:ext cx="50292" cy="530352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645152" y="13075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45152" y="1536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in the forest. More trees = stable predictions but slower training.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80560" y="1975104"/>
            <a:ext cx="443484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80560" y="2029968"/>
            <a:ext cx="50292" cy="530352"/>
          </a:xfrm>
          <a:prstGeom prst="rect">
            <a:avLst/>
          </a:prstGeom>
          <a:solidFill>
            <a:srgbClr val="9B8FD4"/>
          </a:solidFill>
          <a:ln/>
        </p:spPr>
      </p:sp>
      <p:sp>
        <p:nvSpPr>
          <p:cNvPr id="38" name="Text 36"/>
          <p:cNvSpPr/>
          <p:nvPr/>
        </p:nvSpPr>
        <p:spPr>
          <a:xfrm>
            <a:off x="4645152" y="20208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45152" y="22494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tree depth = 5 levels. Prevents overfitting by limiting tree complexity.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80560" y="2688336"/>
            <a:ext cx="443484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80560" y="2743200"/>
            <a:ext cx="50292" cy="53035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2" name="Text 40"/>
          <p:cNvSpPr/>
          <p:nvPr/>
        </p:nvSpPr>
        <p:spPr>
          <a:xfrm>
            <a:off x="4645152" y="2734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= 'sqrt'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45152" y="2962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√(total features) features are considered. Keeps trees diverse.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80560" y="3401568"/>
            <a:ext cx="443484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3456432"/>
            <a:ext cx="50292" cy="530352"/>
          </a:xfrm>
          <a:prstGeom prst="rect">
            <a:avLst/>
          </a:prstGeom>
          <a:solidFill>
            <a:srgbClr val="F5A05A"/>
          </a:solidFill>
          <a:ln/>
        </p:spPr>
      </p:sp>
      <p:sp>
        <p:nvSpPr>
          <p:cNvPr id="46" name="Text 44"/>
          <p:cNvSpPr/>
          <p:nvPr/>
        </p:nvSpPr>
        <p:spPr>
          <a:xfrm>
            <a:off x="4645152" y="34472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= 'gini'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645152" y="3675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evaluated by Gini Impurity — measures how often a random sample would be misclassified.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80560" y="4114800"/>
            <a:ext cx="443484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80560" y="4169664"/>
            <a:ext cx="50292" cy="530352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50" name="Text 48"/>
          <p:cNvSpPr/>
          <p:nvPr/>
        </p:nvSpPr>
        <p:spPr>
          <a:xfrm>
            <a:off x="4645152" y="4160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balanced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645152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Auto-adjusts for 83% vs 17% imbalance. Penalises missing minority class (no) errors more.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FF0E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EAE8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0"/>
            <a:ext cx="1828800" cy="5143500"/>
          </a:xfrm>
          <a:prstGeom prst="rect">
            <a:avLst/>
          </a:prstGeom>
          <a:solidFill>
            <a:srgbClr val="F2EBF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-731520"/>
            <a:ext cx="2560320" cy="2560320"/>
          </a:xfrm>
          <a:prstGeom prst="ellipse">
            <a:avLst/>
          </a:prstGeom>
          <a:solidFill>
            <a:srgbClr val="F5C9B3">
              <a:alpha val="80000"/>
            </a:srgbClr>
          </a:solidFill>
          <a:ln w="12700">
            <a:solidFill>
              <a:srgbClr val="F5C9B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-594360"/>
            <a:ext cx="2194560" cy="2194560"/>
          </a:xfrm>
          <a:prstGeom prst="ellipse">
            <a:avLst/>
          </a:prstGeom>
          <a:solidFill>
            <a:srgbClr val="F0C8B8">
              <a:alpha val="75000"/>
            </a:srgbClr>
          </a:solidFill>
          <a:ln w="12700">
            <a:solidFill>
              <a:srgbClr val="F0C8B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566160"/>
            <a:ext cx="2377440" cy="2377440"/>
          </a:xfrm>
          <a:prstGeom prst="ellipse">
            <a:avLst/>
          </a:prstGeom>
          <a:solidFill>
            <a:srgbClr val="C5C0E8">
              <a:alpha val="55000"/>
            </a:srgbClr>
          </a:solidFill>
          <a:ln w="12700">
            <a:solidFill>
              <a:srgbClr val="C5C0E8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Results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822960"/>
            <a:ext cx="502920" cy="64008"/>
          </a:xfrm>
          <a:prstGeom prst="rect">
            <a:avLst/>
          </a:prstGeom>
          <a:solidFill>
            <a:srgbClr val="F5A05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87552"/>
            <a:ext cx="5394960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04241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  (Accuracy / Precision / Recall)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5303520" cy="217627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52160" y="987552"/>
            <a:ext cx="3017520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1042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 Grade Distribution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234440"/>
            <a:ext cx="2926080" cy="21762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3584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Metrics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931920" y="35844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Random Forest achieved the best results across all metrics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58768"/>
          <a:ext cx="8631936" cy="1600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9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FF0EA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EAE8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0"/>
            <a:ext cx="1828800" cy="5143500"/>
          </a:xfrm>
          <a:prstGeom prst="rect">
            <a:avLst/>
          </a:prstGeom>
          <a:solidFill>
            <a:srgbClr val="F2EBF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-731520"/>
            <a:ext cx="2560320" cy="2560320"/>
          </a:xfrm>
          <a:prstGeom prst="ellipse">
            <a:avLst/>
          </a:prstGeom>
          <a:solidFill>
            <a:srgbClr val="F5C9B3">
              <a:alpha val="80000"/>
            </a:srgbClr>
          </a:solidFill>
          <a:ln w="12700">
            <a:solidFill>
              <a:srgbClr val="F5C9B3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-594360"/>
            <a:ext cx="2194560" cy="2194560"/>
          </a:xfrm>
          <a:prstGeom prst="ellipse">
            <a:avLst/>
          </a:prstGeom>
          <a:solidFill>
            <a:srgbClr val="F0C8B8">
              <a:alpha val="75000"/>
            </a:srgbClr>
          </a:solidFill>
          <a:ln w="12700">
            <a:solidFill>
              <a:srgbClr val="F0C8B8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566160"/>
            <a:ext cx="2377440" cy="2377440"/>
          </a:xfrm>
          <a:prstGeom prst="ellipse">
            <a:avLst/>
          </a:prstGeom>
          <a:solidFill>
            <a:srgbClr val="C5C0E8">
              <a:alpha val="55000"/>
            </a:srgbClr>
          </a:solidFill>
          <a:ln w="12700">
            <a:solidFill>
              <a:srgbClr val="C5C0E8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How It Works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822960"/>
            <a:ext cx="502920" cy="64008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1005840"/>
            <a:ext cx="2029968" cy="347472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1115568"/>
            <a:ext cx="548640" cy="548640"/>
          </a:xfrm>
          <a:prstGeom prst="ellipse">
            <a:avLst/>
          </a:prstGeom>
          <a:solidFill>
            <a:srgbClr val="F9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152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17739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2203704"/>
            <a:ext cx="713232" cy="45720"/>
          </a:xfrm>
          <a:prstGeom prst="rect">
            <a:avLst/>
          </a:prstGeom>
          <a:solidFill>
            <a:srgbClr val="F9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304288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gets a random subset of training data (with replacement). This is called Bagging. Different trees see different data → reduces overfitting.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32304" y="1005840"/>
            <a:ext cx="2029968" cy="347472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115568"/>
            <a:ext cx="548640" cy="548640"/>
          </a:xfrm>
          <a:prstGeom prst="ellipse">
            <a:avLst/>
          </a:prstGeom>
          <a:solidFill>
            <a:srgbClr val="9B8FD4"/>
          </a:solidFill>
          <a:ln/>
        </p:spPr>
      </p:sp>
      <p:sp>
        <p:nvSpPr>
          <p:cNvPr id="18" name="Text 16"/>
          <p:cNvSpPr/>
          <p:nvPr/>
        </p:nvSpPr>
        <p:spPr>
          <a:xfrm>
            <a:off x="3182112" y="1152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23744" y="17739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Randomness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90672" y="2203704"/>
            <a:ext cx="713232" cy="45720"/>
          </a:xfrm>
          <a:prstGeom prst="rect">
            <a:avLst/>
          </a:prstGeom>
          <a:solidFill>
            <a:srgbClr val="9B8FD4"/>
          </a:solidFill>
          <a:ln/>
        </p:spPr>
      </p:sp>
      <p:sp>
        <p:nvSpPr>
          <p:cNvPr id="21" name="Text 19"/>
          <p:cNvSpPr/>
          <p:nvPr/>
        </p:nvSpPr>
        <p:spPr>
          <a:xfrm>
            <a:off x="2523744" y="2304288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node split, only a random subset of features (√n features) is considered. Keeps trees different from each other → lowers correlation between trees.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08576" y="1005840"/>
            <a:ext cx="2029968" cy="347472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58384" y="1115568"/>
            <a:ext cx="548640" cy="54864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4" name="Text 22"/>
          <p:cNvSpPr/>
          <p:nvPr/>
        </p:nvSpPr>
        <p:spPr>
          <a:xfrm>
            <a:off x="5358384" y="1152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0016" y="17739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Many Trees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66944" y="2203704"/>
            <a:ext cx="713232" cy="457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7" name="Text 25"/>
          <p:cNvSpPr/>
          <p:nvPr/>
        </p:nvSpPr>
        <p:spPr>
          <a:xfrm>
            <a:off x="4700016" y="2304288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Decision Trees are built independently, each slightly different due to data and feature randomness. Each tree is a "weak learner" on its own.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005840"/>
            <a:ext cx="2029968" cy="347472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34656" y="1115568"/>
            <a:ext cx="548640" cy="548640"/>
          </a:xfrm>
          <a:prstGeom prst="ellipse">
            <a:avLst/>
          </a:prstGeom>
          <a:solidFill>
            <a:srgbClr val="F5A05A"/>
          </a:solidFill>
          <a:ln/>
        </p:spPr>
      </p:sp>
      <p:sp>
        <p:nvSpPr>
          <p:cNvPr id="30" name="Text 28"/>
          <p:cNvSpPr/>
          <p:nvPr/>
        </p:nvSpPr>
        <p:spPr>
          <a:xfrm>
            <a:off x="7534656" y="1152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76288" y="17739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(Bagging)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43216" y="2203704"/>
            <a:ext cx="713232" cy="45720"/>
          </a:xfrm>
          <a:prstGeom prst="rect">
            <a:avLst/>
          </a:prstGeom>
          <a:solidFill>
            <a:srgbClr val="F5A05A"/>
          </a:solidFill>
          <a:ln/>
        </p:spPr>
      </p:sp>
      <p:sp>
        <p:nvSpPr>
          <p:cNvPr id="33" name="Text 31"/>
          <p:cNvSpPr/>
          <p:nvPr/>
        </p:nvSpPr>
        <p:spPr>
          <a:xfrm>
            <a:off x="6876288" y="2304288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patient, every tree independently predicts yes or no. The class with the most votes across all trees becomes the final prediction — wisdom of the crowd.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462272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638544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256032" y="4572000"/>
            <a:ext cx="8631936" cy="384048"/>
          </a:xfrm>
          <a:prstGeom prst="roundRect">
            <a:avLst>
              <a:gd name="adj" fmla="val 42857"/>
            </a:avLst>
          </a:prstGeom>
          <a:solidFill>
            <a:srgbClr val="FFF0EA"/>
          </a:solidFill>
          <a:ln/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6032" y="4608576"/>
            <a:ext cx="863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for this project?  →  Handles class imbalance  |  No feature scaling needed  |  Provides feature importance  |  Robust to outliers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761</Words>
  <Application>Microsoft Office PowerPoint</Application>
  <PresentationFormat>On-screen Show (16:9)</PresentationFormat>
  <Paragraphs>161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Celiac Disease Prediction</dc:title>
  <dc:subject>PptxGenJS Presentation</dc:subject>
  <dc:creator>PptxGenJS</dc:creator>
  <cp:lastModifiedBy>Akhil Madesh Gudise</cp:lastModifiedBy>
  <cp:revision>2</cp:revision>
  <dcterms:created xsi:type="dcterms:W3CDTF">2026-05-04T19:32:04Z</dcterms:created>
  <dcterms:modified xsi:type="dcterms:W3CDTF">2026-05-05T05:23:54Z</dcterms:modified>
</cp:coreProperties>
</file>