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7" r:id="rId5"/>
    <p:sldId id="259" r:id="rId6"/>
    <p:sldId id="266" r:id="rId7"/>
    <p:sldId id="265" r:id="rId8"/>
    <p:sldId id="264" r:id="rId9"/>
    <p:sldId id="263" r:id="rId10"/>
    <p:sldId id="260" r:id="rId11"/>
    <p:sldId id="262"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7EC8"/>
    <a:srgbClr val="002060"/>
    <a:srgbClr val="F5A05A"/>
    <a:srgbClr val="3BBFAD"/>
    <a:srgbClr val="F96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206" y="1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6760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5B417-0695-76D4-B2E3-ED4DFDEEE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E112A-85DC-0B16-5DF8-9353DDA03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714BD1-A4E7-D39E-CE05-FDE3B359A3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4D874B-6506-A35D-6AD1-524BBEBECDC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74467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122E3-0A2F-8B08-D7D4-B7CD58332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A2137-EA3F-1B12-8132-B69A7B0D6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D73CDE-8CCF-11D0-C076-7B03F6897E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35E9C8-5B19-3568-EB7F-16E0416CC23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99598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C3E3C-C71E-F99A-1749-8AA87E6DB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3F402-FA35-2D11-1EA3-B2656A3AD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43D41-2BE0-8E8E-58D5-89C9C1BFE0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5B464E-E305-C9E7-5D33-859E2FE832C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240591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42067-C0ED-19B5-564E-A43139CB1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06973-786F-94B0-1C40-83C1D62EBB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6354BC-8B6F-FB9C-E4BC-B875057436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13BA9-3335-046E-FDB6-88EAD3B1C05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634607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D749E-C211-923A-7630-8C20C2A52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385F6-79D8-D718-30CB-09A5E907F2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F0333A-ED83-6369-97DF-80B0F61C42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316342-E74B-6EAD-2A8C-C2C94D1C8D1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26536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B5F"/>
        </a:solidFill>
        <a:effectLst/>
      </p:bgPr>
    </p:bg>
    <p:spTree>
      <p:nvGrpSpPr>
        <p:cNvPr id="1" name=""/>
        <p:cNvGrpSpPr/>
        <p:nvPr/>
      </p:nvGrpSpPr>
      <p:grpSpPr>
        <a:xfrm>
          <a:off x="0" y="0"/>
          <a:ext cx="0" cy="0"/>
          <a:chOff x="0" y="0"/>
          <a:chExt cx="0" cy="0"/>
        </a:xfrm>
      </p:grpSpPr>
      <p:sp>
        <p:nvSpPr>
          <p:cNvPr id="2" name="Shape 0"/>
          <p:cNvSpPr/>
          <p:nvPr/>
        </p:nvSpPr>
        <p:spPr>
          <a:xfrm>
            <a:off x="10058400" y="-731520"/>
            <a:ext cx="2377440" cy="2377440"/>
          </a:xfrm>
          <a:prstGeom prst="ellipse">
            <a:avLst/>
          </a:prstGeom>
          <a:solidFill>
            <a:srgbClr val="3BBFAD">
              <a:alpha val="60000"/>
            </a:srgbClr>
          </a:solidFill>
          <a:ln w="12700">
            <a:solidFill>
              <a:srgbClr val="333333"/>
            </a:solidFill>
            <a:prstDash val="solid"/>
          </a:ln>
        </p:spPr>
      </p:sp>
      <p:sp>
        <p:nvSpPr>
          <p:cNvPr id="3" name="Shape 1"/>
          <p:cNvSpPr/>
          <p:nvPr/>
        </p:nvSpPr>
        <p:spPr>
          <a:xfrm>
            <a:off x="10607040" y="5120640"/>
            <a:ext cx="1828800" cy="1828800"/>
          </a:xfrm>
          <a:prstGeom prst="ellipse">
            <a:avLst/>
          </a:prstGeom>
          <a:solidFill>
            <a:srgbClr val="F96167">
              <a:alpha val="55000"/>
            </a:srgbClr>
          </a:solidFill>
          <a:ln w="12700">
            <a:solidFill>
              <a:srgbClr val="333333"/>
            </a:solidFill>
            <a:prstDash val="solid"/>
          </a:ln>
        </p:spPr>
      </p:sp>
      <p:sp>
        <p:nvSpPr>
          <p:cNvPr id="4" name="Shape 2"/>
          <p:cNvSpPr/>
          <p:nvPr/>
        </p:nvSpPr>
        <p:spPr>
          <a:xfrm>
            <a:off x="-731520" y="5303520"/>
            <a:ext cx="1828800" cy="1828800"/>
          </a:xfrm>
          <a:prstGeom prst="ellipse">
            <a:avLst/>
          </a:prstGeom>
          <a:solidFill>
            <a:srgbClr val="F5A05A">
              <a:alpha val="60000"/>
            </a:srgbClr>
          </a:solidFill>
          <a:ln w="12700">
            <a:solidFill>
              <a:srgbClr val="333333"/>
            </a:solidFill>
            <a:prstDash val="solid"/>
          </a:ln>
        </p:spPr>
      </p:sp>
      <p:sp>
        <p:nvSpPr>
          <p:cNvPr id="5" name="Text 3"/>
          <p:cNvSpPr/>
          <p:nvPr/>
        </p:nvSpPr>
        <p:spPr>
          <a:xfrm>
            <a:off x="640080" y="914400"/>
            <a:ext cx="7315200" cy="100584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NurtureAI</a:t>
            </a:r>
            <a:endParaRPr lang="en-US" sz="5200" dirty="0"/>
          </a:p>
        </p:txBody>
      </p:sp>
      <p:sp>
        <p:nvSpPr>
          <p:cNvPr id="6" name="Text 4"/>
          <p:cNvSpPr/>
          <p:nvPr/>
        </p:nvSpPr>
        <p:spPr>
          <a:xfrm>
            <a:off x="640080" y="1965960"/>
            <a:ext cx="8229600" cy="502920"/>
          </a:xfrm>
          <a:prstGeom prst="rect">
            <a:avLst/>
          </a:prstGeom>
          <a:noFill/>
          <a:ln/>
        </p:spPr>
        <p:txBody>
          <a:bodyPr wrap="square" rtlCol="0" anchor="ctr"/>
          <a:lstStyle/>
          <a:p>
            <a:pPr marL="0" indent="0">
              <a:buNone/>
            </a:pPr>
            <a:r>
              <a:rPr lang="en-US" sz="2200" dirty="0">
                <a:solidFill>
                  <a:srgbClr val="3BBFAD"/>
                </a:solidFill>
                <a:latin typeface="Calibri" pitchFamily="34" charset="0"/>
                <a:ea typeface="Calibri" pitchFamily="34" charset="-122"/>
                <a:cs typeface="Calibri" pitchFamily="34" charset="-120"/>
              </a:rPr>
              <a:t>A Smart Parenting Intelligence Platform</a:t>
            </a:r>
            <a:endParaRPr lang="en-US" sz="2200" dirty="0"/>
          </a:p>
        </p:txBody>
      </p:sp>
      <p:sp>
        <p:nvSpPr>
          <p:cNvPr id="7" name="Shape 5"/>
          <p:cNvSpPr/>
          <p:nvPr/>
        </p:nvSpPr>
        <p:spPr>
          <a:xfrm>
            <a:off x="640080" y="2606040"/>
            <a:ext cx="3200400" cy="54864"/>
          </a:xfrm>
          <a:prstGeom prst="rect">
            <a:avLst/>
          </a:prstGeom>
          <a:solidFill>
            <a:srgbClr val="F96167"/>
          </a:solidFill>
          <a:ln w="12700">
            <a:solidFill>
              <a:srgbClr val="333333"/>
            </a:solidFill>
            <a:prstDash val="solid"/>
          </a:ln>
        </p:spPr>
      </p:sp>
      <p:sp>
        <p:nvSpPr>
          <p:cNvPr id="8" name="Text 6"/>
          <p:cNvSpPr/>
          <p:nvPr/>
        </p:nvSpPr>
        <p:spPr>
          <a:xfrm>
            <a:off x="640080" y="2788920"/>
            <a:ext cx="9144000" cy="411480"/>
          </a:xfrm>
          <a:prstGeom prst="rect">
            <a:avLst/>
          </a:prstGeom>
          <a:noFill/>
          <a:ln/>
        </p:spPr>
        <p:txBody>
          <a:bodyPr wrap="square" rtlCol="0" anchor="ctr"/>
          <a:lstStyle/>
          <a:p>
            <a:pPr marL="0" indent="0">
              <a:buNone/>
            </a:pPr>
            <a:r>
              <a:rPr lang="en-US" sz="1400" dirty="0">
                <a:solidFill>
                  <a:srgbClr val="B0AED6"/>
                </a:solidFill>
                <a:latin typeface="Calibri" pitchFamily="34" charset="0"/>
                <a:ea typeface="Calibri" pitchFamily="34" charset="-122"/>
                <a:cs typeface="Calibri" pitchFamily="34" charset="-120"/>
              </a:rPr>
              <a:t>Child Behaviour &amp; Mental Health  ·  Celiac Disease  ·  Child Mortality  ·  Parenting Chatbot</a:t>
            </a:r>
            <a:endParaRPr lang="en-US" sz="1400" dirty="0"/>
          </a:p>
        </p:txBody>
      </p:sp>
      <p:sp>
        <p:nvSpPr>
          <p:cNvPr id="9" name="Text 7"/>
          <p:cNvSpPr/>
          <p:nvPr/>
        </p:nvSpPr>
        <p:spPr>
          <a:xfrm>
            <a:off x="640080" y="5486400"/>
            <a:ext cx="10058400" cy="320040"/>
          </a:xfrm>
          <a:prstGeom prst="rect">
            <a:avLst/>
          </a:prstGeom>
          <a:noFill/>
          <a:ln/>
        </p:spPr>
        <p:txBody>
          <a:bodyPr wrap="square" rtlCol="0" anchor="ctr"/>
          <a:lstStyle/>
          <a:p>
            <a:pPr marL="0" indent="0">
              <a:buNone/>
            </a:pPr>
            <a:r>
              <a:rPr lang="en-US" sz="1100" dirty="0">
                <a:solidFill>
                  <a:srgbClr val="8884B8"/>
                </a:solidFill>
                <a:latin typeface="Calibri" pitchFamily="34" charset="0"/>
                <a:ea typeface="Calibri" pitchFamily="34" charset="-122"/>
                <a:cs typeface="Calibri" pitchFamily="34" charset="-120"/>
              </a:rPr>
              <a:t>May 2026  |  CMI-PIU Dataset  |  OrdinalGB Pipeline  |  Best QWK = 0.6259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0F8"/>
        </a:solidFill>
        <a:effectLst/>
      </p:bgPr>
    </p:bg>
    <p:spTree>
      <p:nvGrpSpPr>
        <p:cNvPr id="1" name=""/>
        <p:cNvGrpSpPr/>
        <p:nvPr/>
      </p:nvGrpSpPr>
      <p:grpSpPr>
        <a:xfrm>
          <a:off x="0" y="0"/>
          <a:ext cx="0" cy="0"/>
          <a:chOff x="0" y="0"/>
          <a:chExt cx="0" cy="0"/>
        </a:xfrm>
      </p:grpSpPr>
      <p:sp>
        <p:nvSpPr>
          <p:cNvPr id="2" name="Shape 0"/>
          <p:cNvSpPr/>
          <p:nvPr/>
        </p:nvSpPr>
        <p:spPr>
          <a:xfrm>
            <a:off x="10241280" y="-548640"/>
            <a:ext cx="2011680" cy="2011680"/>
          </a:xfrm>
          <a:prstGeom prst="ellipse">
            <a:avLst/>
          </a:prstGeom>
          <a:solidFill>
            <a:srgbClr val="3BBFAD">
              <a:alpha val="60000"/>
            </a:srgbClr>
          </a:solidFill>
          <a:ln w="12700">
            <a:solidFill>
              <a:srgbClr val="333333"/>
            </a:solidFill>
            <a:prstDash val="solid"/>
          </a:ln>
        </p:spPr>
      </p:sp>
      <p:sp>
        <p:nvSpPr>
          <p:cNvPr id="3" name="Shape 1"/>
          <p:cNvSpPr/>
          <p:nvPr/>
        </p:nvSpPr>
        <p:spPr>
          <a:xfrm>
            <a:off x="10789920" y="5303520"/>
            <a:ext cx="1463040" cy="1463040"/>
          </a:xfrm>
          <a:prstGeom prst="ellipse">
            <a:avLst/>
          </a:prstGeom>
          <a:solidFill>
            <a:srgbClr val="F96167">
              <a:alpha val="50000"/>
            </a:srgbClr>
          </a:solidFill>
          <a:ln w="12700">
            <a:solidFill>
              <a:srgbClr val="333333"/>
            </a:solidFill>
            <a:prstDash val="solid"/>
          </a:ln>
        </p:spPr>
      </p:sp>
      <p:sp>
        <p:nvSpPr>
          <p:cNvPr id="4" name="Shape 2"/>
          <p:cNvSpPr/>
          <p:nvPr/>
        </p:nvSpPr>
        <p:spPr>
          <a:xfrm>
            <a:off x="-457200" y="5486400"/>
            <a:ext cx="1463040" cy="1463040"/>
          </a:xfrm>
          <a:prstGeom prst="ellipse">
            <a:avLst/>
          </a:prstGeom>
          <a:solidFill>
            <a:srgbClr val="F5A05A">
              <a:alpha val="55000"/>
            </a:srgbClr>
          </a:solidFill>
          <a:ln w="12700">
            <a:solidFill>
              <a:srgbClr val="333333"/>
            </a:solidFill>
            <a:prstDash val="solid"/>
          </a:ln>
        </p:spPr>
      </p:sp>
      <p:sp>
        <p:nvSpPr>
          <p:cNvPr id="5" name="Shape 3"/>
          <p:cNvSpPr/>
          <p:nvPr/>
        </p:nvSpPr>
        <p:spPr>
          <a:xfrm>
            <a:off x="91440" y="2743200"/>
            <a:ext cx="457200" cy="457200"/>
          </a:xfrm>
          <a:prstGeom prst="ellipse">
            <a:avLst/>
          </a:prstGeom>
          <a:solidFill>
            <a:srgbClr val="8B7EC8">
              <a:alpha val="70000"/>
            </a:srgbClr>
          </a:solidFill>
          <a:ln w="12700">
            <a:solidFill>
              <a:srgbClr val="333333"/>
            </a:solidFill>
            <a:prstDash val="solid"/>
          </a:ln>
        </p:spPr>
      </p:sp>
      <p:sp>
        <p:nvSpPr>
          <p:cNvPr id="6" name="Text 4"/>
          <p:cNvSpPr/>
          <p:nvPr/>
        </p:nvSpPr>
        <p:spPr>
          <a:xfrm>
            <a:off x="502920" y="274320"/>
            <a:ext cx="9144000" cy="594360"/>
          </a:xfrm>
          <a:prstGeom prst="rect">
            <a:avLst/>
          </a:prstGeom>
          <a:noFill/>
          <a:ln/>
        </p:spPr>
        <p:txBody>
          <a:bodyPr wrap="square" rtlCol="0" anchor="ctr"/>
          <a:lstStyle/>
          <a:p>
            <a:pPr marL="0" indent="0">
              <a:buNone/>
            </a:pPr>
            <a:r>
              <a:rPr lang="en-US" sz="3200" b="1" dirty="0">
                <a:solidFill>
                  <a:srgbClr val="2E2B5F"/>
                </a:solidFill>
                <a:latin typeface="Calibri" pitchFamily="34" charset="0"/>
                <a:ea typeface="Calibri" pitchFamily="34" charset="-122"/>
                <a:cs typeface="Calibri" pitchFamily="34" charset="-120"/>
              </a:rPr>
              <a:t>Problem Statement</a:t>
            </a:r>
            <a:endParaRPr lang="en-US" sz="3200" dirty="0"/>
          </a:p>
        </p:txBody>
      </p:sp>
      <p:sp>
        <p:nvSpPr>
          <p:cNvPr id="7" name="Shape 5"/>
          <p:cNvSpPr/>
          <p:nvPr/>
        </p:nvSpPr>
        <p:spPr>
          <a:xfrm>
            <a:off x="502920" y="896112"/>
            <a:ext cx="1463040" cy="54864"/>
          </a:xfrm>
          <a:prstGeom prst="rect">
            <a:avLst/>
          </a:prstGeom>
          <a:solidFill>
            <a:srgbClr val="F96167"/>
          </a:solidFill>
          <a:ln w="12700">
            <a:solidFill>
              <a:srgbClr val="333333"/>
            </a:solidFill>
            <a:prstDash val="solid"/>
          </a:ln>
        </p:spPr>
      </p:sp>
      <p:sp>
        <p:nvSpPr>
          <p:cNvPr id="8" name="Shape 6"/>
          <p:cNvSpPr/>
          <p:nvPr/>
        </p:nvSpPr>
        <p:spPr>
          <a:xfrm>
            <a:off x="502920" y="1097280"/>
            <a:ext cx="10789920" cy="1051560"/>
          </a:xfrm>
          <a:prstGeom prst="rect">
            <a:avLst/>
          </a:prstGeom>
          <a:solidFill>
            <a:srgbClr val="2E2B5F"/>
          </a:solidFill>
          <a:ln w="12700">
            <a:solidFill>
              <a:srgbClr val="333333"/>
            </a:solidFill>
            <a:prstDash val="solid"/>
          </a:ln>
        </p:spPr>
      </p:sp>
      <p:sp>
        <p:nvSpPr>
          <p:cNvPr id="9" name="Text 7"/>
          <p:cNvSpPr/>
          <p:nvPr/>
        </p:nvSpPr>
        <p:spPr>
          <a:xfrm>
            <a:off x="685800" y="1170432"/>
            <a:ext cx="10424160" cy="89611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1 in 5 children globally suffer from a diagnosable mental health disorder — yet 80% receive no professional care. Paediatric diseases like Celiac disease often remain undetected for years, and child mortality risks go unassessed due to fragmented health data and lack of accessible tools for parents and caregivers.</a:t>
            </a:r>
            <a:endParaRPr lang="en-US" sz="1350" dirty="0"/>
          </a:p>
        </p:txBody>
      </p:sp>
      <p:sp>
        <p:nvSpPr>
          <p:cNvPr id="10" name="Shape 8"/>
          <p:cNvSpPr/>
          <p:nvPr/>
        </p:nvSpPr>
        <p:spPr>
          <a:xfrm>
            <a:off x="502920" y="2304288"/>
            <a:ext cx="2560320" cy="3520440"/>
          </a:xfrm>
          <a:prstGeom prst="rect">
            <a:avLst/>
          </a:prstGeom>
          <a:solidFill>
            <a:srgbClr val="FFFFFF"/>
          </a:solidFill>
          <a:ln w="12700">
            <a:solidFill>
              <a:srgbClr val="E0DEEF"/>
            </a:solidFill>
            <a:prstDash val="solid"/>
          </a:ln>
        </p:spPr>
      </p:sp>
      <p:sp>
        <p:nvSpPr>
          <p:cNvPr id="11" name="Shape 9"/>
          <p:cNvSpPr/>
          <p:nvPr/>
        </p:nvSpPr>
        <p:spPr>
          <a:xfrm>
            <a:off x="502920" y="2304288"/>
            <a:ext cx="2560320" cy="109728"/>
          </a:xfrm>
          <a:prstGeom prst="rect">
            <a:avLst/>
          </a:prstGeom>
          <a:solidFill>
            <a:srgbClr val="F96167"/>
          </a:solidFill>
          <a:ln w="12700">
            <a:solidFill>
              <a:srgbClr val="333333"/>
            </a:solidFill>
            <a:prstDash val="solid"/>
          </a:ln>
        </p:spPr>
      </p:sp>
      <p:sp>
        <p:nvSpPr>
          <p:cNvPr id="12" name="Text 10"/>
          <p:cNvSpPr/>
          <p:nvPr/>
        </p:nvSpPr>
        <p:spPr>
          <a:xfrm>
            <a:off x="640080" y="2487168"/>
            <a:ext cx="54864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13" name="Text 11"/>
          <p:cNvSpPr/>
          <p:nvPr/>
        </p:nvSpPr>
        <p:spPr>
          <a:xfrm>
            <a:off x="640080" y="2971800"/>
            <a:ext cx="2286000" cy="411480"/>
          </a:xfrm>
          <a:prstGeom prst="rect">
            <a:avLst/>
          </a:prstGeom>
          <a:noFill/>
          <a:ln/>
        </p:spPr>
        <p:txBody>
          <a:bodyPr wrap="square" rtlCol="0" anchor="ctr"/>
          <a:lstStyle/>
          <a:p>
            <a:pPr marL="0" indent="0">
              <a:buNone/>
            </a:pPr>
            <a:r>
              <a:rPr lang="en-US" sz="1300" b="1" dirty="0">
                <a:solidFill>
                  <a:srgbClr val="2E2B5F"/>
                </a:solidFill>
                <a:latin typeface="Calibri" pitchFamily="34" charset="0"/>
                <a:ea typeface="Calibri" pitchFamily="34" charset="-122"/>
                <a:cs typeface="Calibri" pitchFamily="34" charset="-120"/>
              </a:rPr>
              <a:t>Delayed Diagnosis</a:t>
            </a:r>
            <a:endParaRPr lang="en-US" sz="1300" dirty="0"/>
          </a:p>
        </p:txBody>
      </p:sp>
      <p:sp>
        <p:nvSpPr>
          <p:cNvPr id="14" name="Text 12"/>
          <p:cNvSpPr/>
          <p:nvPr/>
        </p:nvSpPr>
        <p:spPr>
          <a:xfrm>
            <a:off x="640080" y="3401568"/>
            <a:ext cx="2286000" cy="2286000"/>
          </a:xfrm>
          <a:prstGeom prst="rect">
            <a:avLst/>
          </a:prstGeom>
          <a:noFill/>
          <a:ln/>
        </p:spPr>
        <p:txBody>
          <a:bodyPr wrap="square" rtlCol="0" anchor="ctr"/>
          <a:lstStyle/>
          <a:p>
            <a:pPr marL="0" indent="0">
              <a:buNone/>
            </a:pPr>
            <a:r>
              <a:rPr lang="en-US" sz="1100" dirty="0">
                <a:solidFill>
                  <a:srgbClr val="6B6B8A"/>
                </a:solidFill>
                <a:latin typeface="Calibri" pitchFamily="34" charset="0"/>
                <a:ea typeface="Calibri" pitchFamily="34" charset="-122"/>
                <a:cs typeface="Calibri" pitchFamily="34" charset="-120"/>
              </a:rPr>
              <a:t>Children with problematic internet use (PIU) and behavioural disorders are diagnosed years late, missing the critical early-intervention window.</a:t>
            </a:r>
            <a:endParaRPr lang="en-US" sz="1100" dirty="0"/>
          </a:p>
        </p:txBody>
      </p:sp>
      <p:sp>
        <p:nvSpPr>
          <p:cNvPr id="15" name="Shape 13"/>
          <p:cNvSpPr/>
          <p:nvPr/>
        </p:nvSpPr>
        <p:spPr>
          <a:xfrm>
            <a:off x="3172968" y="2304288"/>
            <a:ext cx="2560320" cy="3520440"/>
          </a:xfrm>
          <a:prstGeom prst="rect">
            <a:avLst/>
          </a:prstGeom>
          <a:solidFill>
            <a:srgbClr val="FFFFFF"/>
          </a:solidFill>
          <a:ln w="12700">
            <a:solidFill>
              <a:srgbClr val="E0DEEF"/>
            </a:solidFill>
            <a:prstDash val="solid"/>
          </a:ln>
        </p:spPr>
      </p:sp>
      <p:sp>
        <p:nvSpPr>
          <p:cNvPr id="16" name="Shape 14"/>
          <p:cNvSpPr/>
          <p:nvPr/>
        </p:nvSpPr>
        <p:spPr>
          <a:xfrm>
            <a:off x="3172968" y="2304288"/>
            <a:ext cx="2560320" cy="109728"/>
          </a:xfrm>
          <a:prstGeom prst="rect">
            <a:avLst/>
          </a:prstGeom>
          <a:solidFill>
            <a:srgbClr val="3BBFAD"/>
          </a:solidFill>
          <a:ln w="12700">
            <a:solidFill>
              <a:srgbClr val="333333"/>
            </a:solidFill>
            <a:prstDash val="solid"/>
          </a:ln>
        </p:spPr>
      </p:sp>
      <p:sp>
        <p:nvSpPr>
          <p:cNvPr id="17" name="Text 15"/>
          <p:cNvSpPr/>
          <p:nvPr/>
        </p:nvSpPr>
        <p:spPr>
          <a:xfrm>
            <a:off x="3310128" y="2487168"/>
            <a:ext cx="54864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18" name="Text 16"/>
          <p:cNvSpPr/>
          <p:nvPr/>
        </p:nvSpPr>
        <p:spPr>
          <a:xfrm>
            <a:off x="3310128" y="2971800"/>
            <a:ext cx="2286000" cy="411480"/>
          </a:xfrm>
          <a:prstGeom prst="rect">
            <a:avLst/>
          </a:prstGeom>
          <a:noFill/>
          <a:ln/>
        </p:spPr>
        <p:txBody>
          <a:bodyPr wrap="square" rtlCol="0" anchor="ctr"/>
          <a:lstStyle/>
          <a:p>
            <a:pPr marL="0" indent="0">
              <a:buNone/>
            </a:pPr>
            <a:r>
              <a:rPr lang="en-US" sz="1300" b="1" dirty="0">
                <a:solidFill>
                  <a:srgbClr val="2E2B5F"/>
                </a:solidFill>
                <a:latin typeface="Calibri" pitchFamily="34" charset="0"/>
                <a:ea typeface="Calibri" pitchFamily="34" charset="-122"/>
                <a:cs typeface="Calibri" pitchFamily="34" charset="-120"/>
              </a:rPr>
              <a:t>Celiac Goes Undetected</a:t>
            </a:r>
            <a:endParaRPr lang="en-US" sz="1300" dirty="0"/>
          </a:p>
        </p:txBody>
      </p:sp>
      <p:sp>
        <p:nvSpPr>
          <p:cNvPr id="19" name="Text 17"/>
          <p:cNvSpPr/>
          <p:nvPr/>
        </p:nvSpPr>
        <p:spPr>
          <a:xfrm>
            <a:off x="3310128" y="3401568"/>
            <a:ext cx="2286000" cy="2286000"/>
          </a:xfrm>
          <a:prstGeom prst="rect">
            <a:avLst/>
          </a:prstGeom>
          <a:noFill/>
          <a:ln/>
        </p:spPr>
        <p:txBody>
          <a:bodyPr wrap="square" rtlCol="0" anchor="ctr"/>
          <a:lstStyle/>
          <a:p>
            <a:pPr marL="0" indent="0">
              <a:buNone/>
            </a:pPr>
            <a:r>
              <a:rPr lang="en-US" sz="1100" dirty="0">
                <a:solidFill>
                  <a:srgbClr val="6B6B8A"/>
                </a:solidFill>
                <a:latin typeface="Calibri" pitchFamily="34" charset="0"/>
                <a:ea typeface="Calibri" pitchFamily="34" charset="-122"/>
                <a:cs typeface="Calibri" pitchFamily="34" charset="-120"/>
              </a:rPr>
              <a:t>Celiac disease affects ~1% of children but takes an average of 6–10 years to diagnose due to its non-specific symptom profile and low clinical awareness.</a:t>
            </a:r>
            <a:endParaRPr lang="en-US" sz="1100" dirty="0"/>
          </a:p>
        </p:txBody>
      </p:sp>
      <p:sp>
        <p:nvSpPr>
          <p:cNvPr id="20" name="Shape 18"/>
          <p:cNvSpPr/>
          <p:nvPr/>
        </p:nvSpPr>
        <p:spPr>
          <a:xfrm>
            <a:off x="5843016" y="2304288"/>
            <a:ext cx="2560320" cy="3520440"/>
          </a:xfrm>
          <a:prstGeom prst="rect">
            <a:avLst/>
          </a:prstGeom>
          <a:solidFill>
            <a:srgbClr val="FFFFFF"/>
          </a:solidFill>
          <a:ln w="12700">
            <a:solidFill>
              <a:srgbClr val="E0DEEF"/>
            </a:solidFill>
            <a:prstDash val="solid"/>
          </a:ln>
        </p:spPr>
      </p:sp>
      <p:sp>
        <p:nvSpPr>
          <p:cNvPr id="21" name="Shape 19"/>
          <p:cNvSpPr/>
          <p:nvPr/>
        </p:nvSpPr>
        <p:spPr>
          <a:xfrm>
            <a:off x="5843016" y="2304288"/>
            <a:ext cx="2560320" cy="109728"/>
          </a:xfrm>
          <a:prstGeom prst="rect">
            <a:avLst/>
          </a:prstGeom>
          <a:solidFill>
            <a:srgbClr val="F5A05A"/>
          </a:solidFill>
          <a:ln w="12700">
            <a:solidFill>
              <a:srgbClr val="333333"/>
            </a:solidFill>
            <a:prstDash val="solid"/>
          </a:ln>
        </p:spPr>
      </p:sp>
      <p:sp>
        <p:nvSpPr>
          <p:cNvPr id="22" name="Text 20"/>
          <p:cNvSpPr/>
          <p:nvPr/>
        </p:nvSpPr>
        <p:spPr>
          <a:xfrm>
            <a:off x="5980176" y="2487168"/>
            <a:ext cx="54864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23" name="Text 21"/>
          <p:cNvSpPr/>
          <p:nvPr/>
        </p:nvSpPr>
        <p:spPr>
          <a:xfrm>
            <a:off x="5980176" y="2971800"/>
            <a:ext cx="2286000" cy="411480"/>
          </a:xfrm>
          <a:prstGeom prst="rect">
            <a:avLst/>
          </a:prstGeom>
          <a:noFill/>
          <a:ln/>
        </p:spPr>
        <p:txBody>
          <a:bodyPr wrap="square" rtlCol="0" anchor="ctr"/>
          <a:lstStyle/>
          <a:p>
            <a:pPr marL="0" indent="0">
              <a:buNone/>
            </a:pPr>
            <a:r>
              <a:rPr lang="en-US" sz="1300" b="1" dirty="0">
                <a:solidFill>
                  <a:srgbClr val="2E2B5F"/>
                </a:solidFill>
                <a:latin typeface="Calibri" pitchFamily="34" charset="0"/>
                <a:ea typeface="Calibri" pitchFamily="34" charset="-122"/>
                <a:cs typeface="Calibri" pitchFamily="34" charset="-120"/>
              </a:rPr>
              <a:t>Data Fragmentation</a:t>
            </a:r>
            <a:endParaRPr lang="en-US" sz="1300" dirty="0"/>
          </a:p>
        </p:txBody>
      </p:sp>
      <p:sp>
        <p:nvSpPr>
          <p:cNvPr id="24" name="Text 22"/>
          <p:cNvSpPr/>
          <p:nvPr/>
        </p:nvSpPr>
        <p:spPr>
          <a:xfrm>
            <a:off x="5980176" y="3401568"/>
            <a:ext cx="2286000" cy="2286000"/>
          </a:xfrm>
          <a:prstGeom prst="rect">
            <a:avLst/>
          </a:prstGeom>
          <a:noFill/>
          <a:ln/>
        </p:spPr>
        <p:txBody>
          <a:bodyPr wrap="square" rtlCol="0" anchor="ctr"/>
          <a:lstStyle/>
          <a:p>
            <a:pPr marL="0" indent="0">
              <a:buNone/>
            </a:pPr>
            <a:r>
              <a:rPr lang="en-US" sz="1100" dirty="0">
                <a:solidFill>
                  <a:srgbClr val="6B6B8A"/>
                </a:solidFill>
                <a:latin typeface="Calibri" pitchFamily="34" charset="0"/>
                <a:ea typeface="Calibri" pitchFamily="34" charset="-122"/>
                <a:cs typeface="Calibri" pitchFamily="34" charset="-120"/>
              </a:rPr>
              <a:t>Child health data—physical, nutritional, immunological—is siloed across clinics and schools, making holistic risk assessment impossible for caregivers.</a:t>
            </a:r>
            <a:endParaRPr lang="en-US" sz="1100" dirty="0"/>
          </a:p>
        </p:txBody>
      </p:sp>
      <p:sp>
        <p:nvSpPr>
          <p:cNvPr id="25" name="Shape 23"/>
          <p:cNvSpPr/>
          <p:nvPr/>
        </p:nvSpPr>
        <p:spPr>
          <a:xfrm>
            <a:off x="8513064" y="2304288"/>
            <a:ext cx="2560320" cy="3520440"/>
          </a:xfrm>
          <a:prstGeom prst="rect">
            <a:avLst/>
          </a:prstGeom>
          <a:solidFill>
            <a:srgbClr val="FFFFFF"/>
          </a:solidFill>
          <a:ln w="12700">
            <a:solidFill>
              <a:srgbClr val="E0DEEF"/>
            </a:solidFill>
            <a:prstDash val="solid"/>
          </a:ln>
        </p:spPr>
      </p:sp>
      <p:sp>
        <p:nvSpPr>
          <p:cNvPr id="26" name="Shape 24"/>
          <p:cNvSpPr/>
          <p:nvPr/>
        </p:nvSpPr>
        <p:spPr>
          <a:xfrm>
            <a:off x="8513064" y="2304288"/>
            <a:ext cx="2560320" cy="109728"/>
          </a:xfrm>
          <a:prstGeom prst="rect">
            <a:avLst/>
          </a:prstGeom>
          <a:solidFill>
            <a:srgbClr val="8B7EC8"/>
          </a:solidFill>
          <a:ln w="12700">
            <a:solidFill>
              <a:srgbClr val="333333"/>
            </a:solidFill>
            <a:prstDash val="solid"/>
          </a:ln>
        </p:spPr>
      </p:sp>
      <p:sp>
        <p:nvSpPr>
          <p:cNvPr id="27" name="Text 25"/>
          <p:cNvSpPr/>
          <p:nvPr/>
        </p:nvSpPr>
        <p:spPr>
          <a:xfrm>
            <a:off x="8650224" y="2487168"/>
            <a:ext cx="54864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28" name="Text 26"/>
          <p:cNvSpPr/>
          <p:nvPr/>
        </p:nvSpPr>
        <p:spPr>
          <a:xfrm>
            <a:off x="8650224" y="2971800"/>
            <a:ext cx="2286000" cy="411480"/>
          </a:xfrm>
          <a:prstGeom prst="rect">
            <a:avLst/>
          </a:prstGeom>
          <a:noFill/>
          <a:ln/>
        </p:spPr>
        <p:txBody>
          <a:bodyPr wrap="square" rtlCol="0" anchor="ctr"/>
          <a:lstStyle/>
          <a:p>
            <a:pPr marL="0" indent="0">
              <a:buNone/>
            </a:pPr>
            <a:r>
              <a:rPr lang="en-US" sz="1300" b="1" dirty="0">
                <a:solidFill>
                  <a:srgbClr val="2E2B5F"/>
                </a:solidFill>
                <a:latin typeface="Calibri" pitchFamily="34" charset="0"/>
                <a:ea typeface="Calibri" pitchFamily="34" charset="-122"/>
                <a:cs typeface="Calibri" pitchFamily="34" charset="-120"/>
              </a:rPr>
              <a:t>No Accessible Guidance</a:t>
            </a:r>
            <a:endParaRPr lang="en-US" sz="1300" dirty="0"/>
          </a:p>
        </p:txBody>
      </p:sp>
      <p:sp>
        <p:nvSpPr>
          <p:cNvPr id="29" name="Text 27"/>
          <p:cNvSpPr/>
          <p:nvPr/>
        </p:nvSpPr>
        <p:spPr>
          <a:xfrm>
            <a:off x="8650224" y="3401568"/>
            <a:ext cx="2286000" cy="2286000"/>
          </a:xfrm>
          <a:prstGeom prst="rect">
            <a:avLst/>
          </a:prstGeom>
          <a:noFill/>
          <a:ln/>
        </p:spPr>
        <p:txBody>
          <a:bodyPr wrap="square" rtlCol="0" anchor="ctr"/>
          <a:lstStyle/>
          <a:p>
            <a:pPr marL="0" indent="0">
              <a:buNone/>
            </a:pPr>
            <a:r>
              <a:rPr lang="en-US" sz="1100" dirty="0">
                <a:solidFill>
                  <a:srgbClr val="6B6B8A"/>
                </a:solidFill>
                <a:latin typeface="Calibri" pitchFamily="34" charset="0"/>
                <a:ea typeface="Calibri" pitchFamily="34" charset="-122"/>
                <a:cs typeface="Calibri" pitchFamily="34" charset="-120"/>
              </a:rPr>
              <a:t>Parents lack a single, intelligent platform to ask parenting questions, understand risk outputs, and take evidence-based action in real time.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0F8"/>
        </a:solidFill>
        <a:effectLst/>
      </p:bgPr>
    </p:bg>
    <p:spTree>
      <p:nvGrpSpPr>
        <p:cNvPr id="1" name=""/>
        <p:cNvGrpSpPr/>
        <p:nvPr/>
      </p:nvGrpSpPr>
      <p:grpSpPr>
        <a:xfrm>
          <a:off x="0" y="0"/>
          <a:ext cx="0" cy="0"/>
          <a:chOff x="0" y="0"/>
          <a:chExt cx="0" cy="0"/>
        </a:xfrm>
      </p:grpSpPr>
      <p:sp>
        <p:nvSpPr>
          <p:cNvPr id="2" name="Shape 0"/>
          <p:cNvSpPr/>
          <p:nvPr/>
        </p:nvSpPr>
        <p:spPr>
          <a:xfrm>
            <a:off x="10241280" y="-548640"/>
            <a:ext cx="2011680" cy="2011680"/>
          </a:xfrm>
          <a:prstGeom prst="ellipse">
            <a:avLst/>
          </a:prstGeom>
          <a:solidFill>
            <a:srgbClr val="3BBFAD">
              <a:alpha val="60000"/>
            </a:srgbClr>
          </a:solidFill>
          <a:ln w="12700">
            <a:solidFill>
              <a:srgbClr val="333333"/>
            </a:solidFill>
            <a:prstDash val="solid"/>
          </a:ln>
        </p:spPr>
      </p:sp>
      <p:sp>
        <p:nvSpPr>
          <p:cNvPr id="3" name="Shape 1"/>
          <p:cNvSpPr/>
          <p:nvPr/>
        </p:nvSpPr>
        <p:spPr>
          <a:xfrm>
            <a:off x="10789920" y="5303520"/>
            <a:ext cx="1463040" cy="1463040"/>
          </a:xfrm>
          <a:prstGeom prst="ellipse">
            <a:avLst/>
          </a:prstGeom>
          <a:solidFill>
            <a:srgbClr val="F96167">
              <a:alpha val="50000"/>
            </a:srgbClr>
          </a:solidFill>
          <a:ln w="12700">
            <a:solidFill>
              <a:srgbClr val="333333"/>
            </a:solidFill>
            <a:prstDash val="solid"/>
          </a:ln>
        </p:spPr>
      </p:sp>
      <p:sp>
        <p:nvSpPr>
          <p:cNvPr id="4" name="Shape 2"/>
          <p:cNvSpPr/>
          <p:nvPr/>
        </p:nvSpPr>
        <p:spPr>
          <a:xfrm>
            <a:off x="-457200" y="5486400"/>
            <a:ext cx="1463040" cy="1463040"/>
          </a:xfrm>
          <a:prstGeom prst="ellipse">
            <a:avLst/>
          </a:prstGeom>
          <a:solidFill>
            <a:srgbClr val="F5A05A">
              <a:alpha val="55000"/>
            </a:srgbClr>
          </a:solidFill>
          <a:ln w="12700">
            <a:solidFill>
              <a:srgbClr val="333333"/>
            </a:solidFill>
            <a:prstDash val="solid"/>
          </a:ln>
        </p:spPr>
      </p:sp>
      <p:sp>
        <p:nvSpPr>
          <p:cNvPr id="5" name="Shape 3"/>
          <p:cNvSpPr/>
          <p:nvPr/>
        </p:nvSpPr>
        <p:spPr>
          <a:xfrm>
            <a:off x="91440" y="2743200"/>
            <a:ext cx="457200" cy="457200"/>
          </a:xfrm>
          <a:prstGeom prst="ellipse">
            <a:avLst/>
          </a:prstGeom>
          <a:solidFill>
            <a:srgbClr val="8B7EC8">
              <a:alpha val="70000"/>
            </a:srgbClr>
          </a:solidFill>
          <a:ln w="12700">
            <a:solidFill>
              <a:srgbClr val="333333"/>
            </a:solidFill>
            <a:prstDash val="solid"/>
          </a:ln>
        </p:spPr>
      </p:sp>
      <p:sp>
        <p:nvSpPr>
          <p:cNvPr id="6" name="Text 4"/>
          <p:cNvSpPr/>
          <p:nvPr/>
        </p:nvSpPr>
        <p:spPr>
          <a:xfrm>
            <a:off x="502920" y="274320"/>
            <a:ext cx="9144000" cy="594360"/>
          </a:xfrm>
          <a:prstGeom prst="rect">
            <a:avLst/>
          </a:prstGeom>
          <a:noFill/>
          <a:ln/>
        </p:spPr>
        <p:txBody>
          <a:bodyPr wrap="square" rtlCol="0" anchor="ctr"/>
          <a:lstStyle/>
          <a:p>
            <a:pPr marL="0" indent="0">
              <a:buNone/>
            </a:pPr>
            <a:r>
              <a:rPr lang="en-US" sz="3200" b="1" dirty="0">
                <a:solidFill>
                  <a:srgbClr val="2E2B5F"/>
                </a:solidFill>
                <a:latin typeface="Calibri" pitchFamily="34" charset="0"/>
                <a:ea typeface="Calibri" pitchFamily="34" charset="-122"/>
                <a:cs typeface="Calibri" pitchFamily="34" charset="-120"/>
              </a:rPr>
              <a:t>Introduction</a:t>
            </a:r>
            <a:endParaRPr lang="en-US" sz="3200" dirty="0"/>
          </a:p>
        </p:txBody>
      </p:sp>
      <p:sp>
        <p:nvSpPr>
          <p:cNvPr id="7" name="Shape 5"/>
          <p:cNvSpPr/>
          <p:nvPr/>
        </p:nvSpPr>
        <p:spPr>
          <a:xfrm>
            <a:off x="502920" y="896112"/>
            <a:ext cx="1280160" cy="54864"/>
          </a:xfrm>
          <a:prstGeom prst="rect">
            <a:avLst/>
          </a:prstGeom>
          <a:solidFill>
            <a:srgbClr val="F96167"/>
          </a:solidFill>
          <a:ln w="12700">
            <a:solidFill>
              <a:srgbClr val="333333"/>
            </a:solidFill>
            <a:prstDash val="solid"/>
          </a:ln>
        </p:spPr>
      </p:sp>
      <p:sp>
        <p:nvSpPr>
          <p:cNvPr id="8" name="Shape 6"/>
          <p:cNvSpPr/>
          <p:nvPr/>
        </p:nvSpPr>
        <p:spPr>
          <a:xfrm>
            <a:off x="502920" y="1051560"/>
            <a:ext cx="5029200" cy="4846320"/>
          </a:xfrm>
          <a:prstGeom prst="rect">
            <a:avLst/>
          </a:prstGeom>
          <a:solidFill>
            <a:srgbClr val="2E2B5F"/>
          </a:solidFill>
          <a:ln w="12700">
            <a:solidFill>
              <a:srgbClr val="333333"/>
            </a:solidFill>
            <a:prstDash val="solid"/>
          </a:ln>
        </p:spPr>
      </p:sp>
      <p:sp>
        <p:nvSpPr>
          <p:cNvPr id="9" name="Text 7"/>
          <p:cNvSpPr/>
          <p:nvPr/>
        </p:nvSpPr>
        <p:spPr>
          <a:xfrm>
            <a:off x="685800" y="1170432"/>
            <a:ext cx="4663440" cy="411480"/>
          </a:xfrm>
          <a:prstGeom prst="rect">
            <a:avLst/>
          </a:prstGeom>
          <a:noFill/>
          <a:ln/>
        </p:spPr>
        <p:txBody>
          <a:bodyPr wrap="square" rtlCol="0" anchor="ctr"/>
          <a:lstStyle/>
          <a:p>
            <a:pPr marL="0" indent="0">
              <a:buNone/>
            </a:pPr>
            <a:r>
              <a:rPr lang="en-US" sz="1600" b="1" dirty="0">
                <a:solidFill>
                  <a:srgbClr val="3BBFAD"/>
                </a:solidFill>
                <a:latin typeface="Calibri" pitchFamily="34" charset="0"/>
                <a:ea typeface="Calibri" pitchFamily="34" charset="-122"/>
                <a:cs typeface="Calibri" pitchFamily="34" charset="-120"/>
              </a:rPr>
              <a:t>What is NurtureAI?</a:t>
            </a:r>
            <a:endParaRPr lang="en-US" sz="1600" dirty="0"/>
          </a:p>
        </p:txBody>
      </p:sp>
      <p:sp>
        <p:nvSpPr>
          <p:cNvPr id="10" name="Text 8"/>
          <p:cNvSpPr/>
          <p:nvPr/>
        </p:nvSpPr>
        <p:spPr>
          <a:xfrm>
            <a:off x="685800" y="1664208"/>
            <a:ext cx="4663440" cy="4114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NurtureAI is an integrated, AI-powered parenting intelligence platform designed to support parents, caregivers, and paediatricians in making early, data-driven health decisions for children aged 0–22.</a:t>
            </a:r>
            <a:endParaRPr lang="en-US" sz="1150" dirty="0"/>
          </a:p>
          <a:p>
            <a:pPr marL="0" indent="0">
              <a:buNone/>
            </a:pP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The platform combines four specialised machine learning models:</a:t>
            </a:r>
            <a:endParaRPr lang="en-US" sz="1150" dirty="0"/>
          </a:p>
          <a:p>
            <a:pPr marL="0" indent="0">
              <a:buNone/>
            </a:pP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 Behaviour &amp; Mental Health Risk Predictor — detects PIU severity using physical and activity data (CMI-PIU dataset; OrdinalGB; QWK = 0.6259).</a:t>
            </a:r>
            <a:endParaRPr lang="en-US" sz="1150" dirty="0"/>
          </a:p>
          <a:p>
            <a:pPr marL="0" indent="0">
              <a:buNone/>
            </a:pP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 Celiac Disease Predictor — classifies celiac risk from immunological markers and clinical symptoms using a trained Random Forest.</a:t>
            </a:r>
            <a:endParaRPr lang="en-US" sz="1150" dirty="0"/>
          </a:p>
          <a:p>
            <a:pPr marL="0" indent="0">
              <a:buNone/>
            </a:pP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 Child Mortality Risk Predictor — assesses mortality probability from socioeconomic, immunisation, and maternal health indicators from NFHS data.</a:t>
            </a:r>
            <a:endParaRPr lang="en-US" sz="1150" dirty="0"/>
          </a:p>
          <a:p>
            <a:pPr marL="0" indent="0">
              <a:buNone/>
            </a:pP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 NurtureAI Chatbot — a RAG-powered conversational agent that answers parenting questions and explains risk predictions in plain language.</a:t>
            </a:r>
            <a:endParaRPr lang="en-US" sz="1150" dirty="0"/>
          </a:p>
        </p:txBody>
      </p:sp>
      <p:sp>
        <p:nvSpPr>
          <p:cNvPr id="11" name="Shape 9"/>
          <p:cNvSpPr/>
          <p:nvPr/>
        </p:nvSpPr>
        <p:spPr>
          <a:xfrm>
            <a:off x="5806440" y="1051560"/>
            <a:ext cx="5303520" cy="1078992"/>
          </a:xfrm>
          <a:prstGeom prst="rect">
            <a:avLst/>
          </a:prstGeom>
          <a:solidFill>
            <a:srgbClr val="FFFFFF"/>
          </a:solidFill>
          <a:ln w="12700">
            <a:solidFill>
              <a:srgbClr val="E0DEEF"/>
            </a:solidFill>
            <a:prstDash val="solid"/>
          </a:ln>
        </p:spPr>
      </p:sp>
      <p:sp>
        <p:nvSpPr>
          <p:cNvPr id="12" name="Shape 10"/>
          <p:cNvSpPr/>
          <p:nvPr/>
        </p:nvSpPr>
        <p:spPr>
          <a:xfrm>
            <a:off x="5806440" y="1051560"/>
            <a:ext cx="64008" cy="1078992"/>
          </a:xfrm>
          <a:prstGeom prst="rect">
            <a:avLst/>
          </a:prstGeom>
          <a:solidFill>
            <a:srgbClr val="F96167"/>
          </a:solidFill>
          <a:ln w="12700">
            <a:solidFill>
              <a:srgbClr val="333333"/>
            </a:solidFill>
            <a:prstDash val="solid"/>
          </a:ln>
        </p:spPr>
      </p:sp>
      <p:sp>
        <p:nvSpPr>
          <p:cNvPr id="13" name="Text 11"/>
          <p:cNvSpPr/>
          <p:nvPr/>
        </p:nvSpPr>
        <p:spPr>
          <a:xfrm>
            <a:off x="5989320" y="1143000"/>
            <a:ext cx="4937760" cy="320040"/>
          </a:xfrm>
          <a:prstGeom prst="rect">
            <a:avLst/>
          </a:prstGeom>
          <a:noFill/>
          <a:ln/>
        </p:spPr>
        <p:txBody>
          <a:bodyPr wrap="square" rtlCol="0" anchor="ctr"/>
          <a:lstStyle/>
          <a:p>
            <a:pPr marL="0" indent="0">
              <a:buNone/>
            </a:pPr>
            <a:r>
              <a:rPr lang="en-US" sz="1200" b="1" dirty="0">
                <a:solidFill>
                  <a:srgbClr val="2E2B5F"/>
                </a:solidFill>
                <a:latin typeface="Calibri" pitchFamily="34" charset="0"/>
                <a:ea typeface="Calibri" pitchFamily="34" charset="-122"/>
                <a:cs typeface="Calibri" pitchFamily="34" charset="-120"/>
              </a:rPr>
              <a:t>Target Users</a:t>
            </a:r>
            <a:endParaRPr lang="en-US" sz="1200" dirty="0"/>
          </a:p>
        </p:txBody>
      </p:sp>
      <p:sp>
        <p:nvSpPr>
          <p:cNvPr id="14" name="Text 12"/>
          <p:cNvSpPr/>
          <p:nvPr/>
        </p:nvSpPr>
        <p:spPr>
          <a:xfrm>
            <a:off x="5989320" y="1472184"/>
            <a:ext cx="4937760" cy="566928"/>
          </a:xfrm>
          <a:prstGeom prst="rect">
            <a:avLst/>
          </a:prstGeom>
          <a:noFill/>
          <a:ln/>
        </p:spPr>
        <p:txBody>
          <a:bodyPr wrap="square" rtlCol="0" anchor="ctr"/>
          <a:lstStyle/>
          <a:p>
            <a:pPr marL="0" indent="0">
              <a:buNone/>
            </a:pPr>
            <a:r>
              <a:rPr lang="en-US" sz="1100" dirty="0">
                <a:solidFill>
                  <a:srgbClr val="6B6B8A"/>
                </a:solidFill>
                <a:latin typeface="Calibri" pitchFamily="34" charset="0"/>
                <a:ea typeface="Calibri" pitchFamily="34" charset="-122"/>
                <a:cs typeface="Calibri" pitchFamily="34" charset="-120"/>
              </a:rPr>
              <a:t>Parents, paediatricians, school counsellors, and public health workers seeking early risk signals.</a:t>
            </a:r>
            <a:endParaRPr lang="en-US" sz="1100" dirty="0"/>
          </a:p>
        </p:txBody>
      </p:sp>
      <p:sp>
        <p:nvSpPr>
          <p:cNvPr id="15" name="Shape 13"/>
          <p:cNvSpPr/>
          <p:nvPr/>
        </p:nvSpPr>
        <p:spPr>
          <a:xfrm>
            <a:off x="5806440" y="2267712"/>
            <a:ext cx="5303520" cy="1078992"/>
          </a:xfrm>
          <a:prstGeom prst="rect">
            <a:avLst/>
          </a:prstGeom>
          <a:solidFill>
            <a:srgbClr val="FFFFFF"/>
          </a:solidFill>
          <a:ln w="12700">
            <a:solidFill>
              <a:srgbClr val="E0DEEF"/>
            </a:solidFill>
            <a:prstDash val="solid"/>
          </a:ln>
        </p:spPr>
      </p:sp>
      <p:sp>
        <p:nvSpPr>
          <p:cNvPr id="16" name="Shape 14"/>
          <p:cNvSpPr/>
          <p:nvPr/>
        </p:nvSpPr>
        <p:spPr>
          <a:xfrm>
            <a:off x="5806440" y="2267712"/>
            <a:ext cx="64008" cy="1078992"/>
          </a:xfrm>
          <a:prstGeom prst="rect">
            <a:avLst/>
          </a:prstGeom>
          <a:solidFill>
            <a:srgbClr val="F96167"/>
          </a:solidFill>
          <a:ln w="12700">
            <a:solidFill>
              <a:srgbClr val="333333"/>
            </a:solidFill>
            <a:prstDash val="solid"/>
          </a:ln>
        </p:spPr>
      </p:sp>
      <p:sp>
        <p:nvSpPr>
          <p:cNvPr id="17" name="Text 15"/>
          <p:cNvSpPr/>
          <p:nvPr/>
        </p:nvSpPr>
        <p:spPr>
          <a:xfrm>
            <a:off x="5989320" y="2359152"/>
            <a:ext cx="4937760" cy="320040"/>
          </a:xfrm>
          <a:prstGeom prst="rect">
            <a:avLst/>
          </a:prstGeom>
          <a:noFill/>
          <a:ln/>
        </p:spPr>
        <p:txBody>
          <a:bodyPr wrap="square" rtlCol="0" anchor="ctr"/>
          <a:lstStyle/>
          <a:p>
            <a:pPr marL="0" indent="0">
              <a:buNone/>
            </a:pPr>
            <a:r>
              <a:rPr lang="en-US" sz="1200" b="1" dirty="0">
                <a:solidFill>
                  <a:srgbClr val="2E2B5F"/>
                </a:solidFill>
                <a:latin typeface="Calibri" pitchFamily="34" charset="0"/>
                <a:ea typeface="Calibri" pitchFamily="34" charset="-122"/>
                <a:cs typeface="Calibri" pitchFamily="34" charset="-120"/>
              </a:rPr>
              <a:t>Technology Stack</a:t>
            </a:r>
            <a:endParaRPr lang="en-US" sz="1200" dirty="0"/>
          </a:p>
        </p:txBody>
      </p:sp>
      <p:sp>
        <p:nvSpPr>
          <p:cNvPr id="18" name="Text 16"/>
          <p:cNvSpPr/>
          <p:nvPr/>
        </p:nvSpPr>
        <p:spPr>
          <a:xfrm>
            <a:off x="5989320" y="2688336"/>
            <a:ext cx="4937760" cy="566928"/>
          </a:xfrm>
          <a:prstGeom prst="rect">
            <a:avLst/>
          </a:prstGeom>
          <a:noFill/>
          <a:ln/>
        </p:spPr>
        <p:txBody>
          <a:bodyPr wrap="square" rtlCol="0" anchor="ctr"/>
          <a:lstStyle/>
          <a:p>
            <a:pPr marL="0" indent="0">
              <a:buNone/>
            </a:pPr>
            <a:r>
              <a:rPr lang="en-US" sz="1100" dirty="0">
                <a:solidFill>
                  <a:srgbClr val="6B6B8A"/>
                </a:solidFill>
                <a:latin typeface="Calibri" pitchFamily="34" charset="0"/>
                <a:ea typeface="Calibri" pitchFamily="34" charset="-122"/>
                <a:cs typeface="Calibri" pitchFamily="34" charset="-120"/>
              </a:rPr>
              <a:t>Python · scikit-learn · GradientBoosting · Random Forest · ChromaDB RAG · Flask / React frontend.</a:t>
            </a:r>
            <a:endParaRPr lang="en-US" sz="1100" dirty="0"/>
          </a:p>
        </p:txBody>
      </p:sp>
      <p:sp>
        <p:nvSpPr>
          <p:cNvPr id="19" name="Shape 17"/>
          <p:cNvSpPr/>
          <p:nvPr/>
        </p:nvSpPr>
        <p:spPr>
          <a:xfrm>
            <a:off x="5806440" y="3483864"/>
            <a:ext cx="5303520" cy="1078992"/>
          </a:xfrm>
          <a:prstGeom prst="rect">
            <a:avLst/>
          </a:prstGeom>
          <a:solidFill>
            <a:srgbClr val="FFFFFF"/>
          </a:solidFill>
          <a:ln w="12700">
            <a:solidFill>
              <a:srgbClr val="E0DEEF"/>
            </a:solidFill>
            <a:prstDash val="solid"/>
          </a:ln>
        </p:spPr>
      </p:sp>
      <p:sp>
        <p:nvSpPr>
          <p:cNvPr id="20" name="Shape 18"/>
          <p:cNvSpPr/>
          <p:nvPr/>
        </p:nvSpPr>
        <p:spPr>
          <a:xfrm>
            <a:off x="5806440" y="3483864"/>
            <a:ext cx="64008" cy="1078992"/>
          </a:xfrm>
          <a:prstGeom prst="rect">
            <a:avLst/>
          </a:prstGeom>
          <a:solidFill>
            <a:srgbClr val="F96167"/>
          </a:solidFill>
          <a:ln w="12700">
            <a:solidFill>
              <a:srgbClr val="333333"/>
            </a:solidFill>
            <a:prstDash val="solid"/>
          </a:ln>
        </p:spPr>
      </p:sp>
      <p:sp>
        <p:nvSpPr>
          <p:cNvPr id="21" name="Text 19"/>
          <p:cNvSpPr/>
          <p:nvPr/>
        </p:nvSpPr>
        <p:spPr>
          <a:xfrm>
            <a:off x="5989320" y="3575304"/>
            <a:ext cx="4937760" cy="320040"/>
          </a:xfrm>
          <a:prstGeom prst="rect">
            <a:avLst/>
          </a:prstGeom>
          <a:noFill/>
          <a:ln/>
        </p:spPr>
        <p:txBody>
          <a:bodyPr wrap="square" rtlCol="0" anchor="ctr"/>
          <a:lstStyle/>
          <a:p>
            <a:pPr marL="0" indent="0">
              <a:buNone/>
            </a:pPr>
            <a:r>
              <a:rPr lang="en-US" sz="1200" b="1" dirty="0">
                <a:solidFill>
                  <a:srgbClr val="2E2B5F"/>
                </a:solidFill>
                <a:latin typeface="Calibri" pitchFamily="34" charset="0"/>
                <a:ea typeface="Calibri" pitchFamily="34" charset="-122"/>
                <a:cs typeface="Calibri" pitchFamily="34" charset="-120"/>
              </a:rPr>
              <a:t>Dataset</a:t>
            </a:r>
            <a:endParaRPr lang="en-US" sz="1200" dirty="0"/>
          </a:p>
        </p:txBody>
      </p:sp>
      <p:sp>
        <p:nvSpPr>
          <p:cNvPr id="22" name="Text 20"/>
          <p:cNvSpPr/>
          <p:nvPr/>
        </p:nvSpPr>
        <p:spPr>
          <a:xfrm>
            <a:off x="5989320" y="3904488"/>
            <a:ext cx="4937760" cy="566928"/>
          </a:xfrm>
          <a:prstGeom prst="rect">
            <a:avLst/>
          </a:prstGeom>
          <a:noFill/>
          <a:ln/>
        </p:spPr>
        <p:txBody>
          <a:bodyPr wrap="square" rtlCol="0" anchor="ctr"/>
          <a:lstStyle/>
          <a:p>
            <a:pPr marL="0" indent="0">
              <a:buNone/>
            </a:pPr>
            <a:r>
              <a:rPr lang="en-US" sz="1100" dirty="0">
                <a:solidFill>
                  <a:srgbClr val="6B6B8A"/>
                </a:solidFill>
                <a:latin typeface="Calibri" pitchFamily="34" charset="0"/>
                <a:ea typeface="Calibri" pitchFamily="34" charset="-122"/>
                <a:cs typeface="Calibri" pitchFamily="34" charset="-120"/>
              </a:rPr>
              <a:t>CMI-PIU (3,000 rows, 18 features) · NFHS child health survey · Celiac clinical dataset · Open-source NLP corpus.</a:t>
            </a:r>
            <a:endParaRPr lang="en-US" sz="1100" dirty="0"/>
          </a:p>
        </p:txBody>
      </p:sp>
      <p:sp>
        <p:nvSpPr>
          <p:cNvPr id="23" name="Shape 21"/>
          <p:cNvSpPr/>
          <p:nvPr/>
        </p:nvSpPr>
        <p:spPr>
          <a:xfrm>
            <a:off x="5806440" y="4700016"/>
            <a:ext cx="5303520" cy="1078992"/>
          </a:xfrm>
          <a:prstGeom prst="rect">
            <a:avLst/>
          </a:prstGeom>
          <a:solidFill>
            <a:srgbClr val="FFFFFF"/>
          </a:solidFill>
          <a:ln w="12700">
            <a:solidFill>
              <a:srgbClr val="E0DEEF"/>
            </a:solidFill>
            <a:prstDash val="solid"/>
          </a:ln>
        </p:spPr>
      </p:sp>
      <p:sp>
        <p:nvSpPr>
          <p:cNvPr id="24" name="Shape 22"/>
          <p:cNvSpPr/>
          <p:nvPr/>
        </p:nvSpPr>
        <p:spPr>
          <a:xfrm>
            <a:off x="5806440" y="4700016"/>
            <a:ext cx="64008" cy="1078992"/>
          </a:xfrm>
          <a:prstGeom prst="rect">
            <a:avLst/>
          </a:prstGeom>
          <a:solidFill>
            <a:srgbClr val="F96167"/>
          </a:solidFill>
          <a:ln w="12700">
            <a:solidFill>
              <a:srgbClr val="333333"/>
            </a:solidFill>
            <a:prstDash val="solid"/>
          </a:ln>
        </p:spPr>
      </p:sp>
      <p:sp>
        <p:nvSpPr>
          <p:cNvPr id="25" name="Text 23"/>
          <p:cNvSpPr/>
          <p:nvPr/>
        </p:nvSpPr>
        <p:spPr>
          <a:xfrm>
            <a:off x="5989320" y="4791456"/>
            <a:ext cx="4937760" cy="320040"/>
          </a:xfrm>
          <a:prstGeom prst="rect">
            <a:avLst/>
          </a:prstGeom>
          <a:noFill/>
          <a:ln/>
        </p:spPr>
        <p:txBody>
          <a:bodyPr wrap="square" rtlCol="0" anchor="ctr"/>
          <a:lstStyle/>
          <a:p>
            <a:pPr marL="0" indent="0">
              <a:buNone/>
            </a:pPr>
            <a:r>
              <a:rPr lang="en-US" sz="1200" b="1" dirty="0">
                <a:solidFill>
                  <a:srgbClr val="2E2B5F"/>
                </a:solidFill>
                <a:latin typeface="Calibri" pitchFamily="34" charset="0"/>
                <a:ea typeface="Calibri" pitchFamily="34" charset="-122"/>
                <a:cs typeface="Calibri" pitchFamily="34" charset="-120"/>
              </a:rPr>
              <a:t>Approach</a:t>
            </a:r>
            <a:endParaRPr lang="en-US" sz="1200" dirty="0"/>
          </a:p>
        </p:txBody>
      </p:sp>
      <p:sp>
        <p:nvSpPr>
          <p:cNvPr id="26" name="Text 24"/>
          <p:cNvSpPr/>
          <p:nvPr/>
        </p:nvSpPr>
        <p:spPr>
          <a:xfrm>
            <a:off x="5989320" y="5120640"/>
            <a:ext cx="4937760" cy="566928"/>
          </a:xfrm>
          <a:prstGeom prst="rect">
            <a:avLst/>
          </a:prstGeom>
          <a:noFill/>
          <a:ln/>
        </p:spPr>
        <p:txBody>
          <a:bodyPr wrap="square" rtlCol="0" anchor="ctr"/>
          <a:lstStyle/>
          <a:p>
            <a:pPr marL="0" indent="0">
              <a:buNone/>
            </a:pPr>
            <a:r>
              <a:rPr lang="en-US" sz="1100" dirty="0">
                <a:solidFill>
                  <a:srgbClr val="6B6B8A"/>
                </a:solidFill>
                <a:latin typeface="Calibri" pitchFamily="34" charset="0"/>
                <a:ea typeface="Calibri" pitchFamily="34" charset="-122"/>
                <a:cs typeface="Calibri" pitchFamily="34" charset="-120"/>
              </a:rPr>
              <a:t>End-to-end ML pipeline: EDA → preprocessing → feature engineering → model training → ordinal optimisation → deployment.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0F8"/>
        </a:solidFill>
        <a:effectLst/>
      </p:bgPr>
    </p:bg>
    <p:spTree>
      <p:nvGrpSpPr>
        <p:cNvPr id="1" name="">
          <a:extLst>
            <a:ext uri="{FF2B5EF4-FFF2-40B4-BE49-F238E27FC236}">
              <a16:creationId xmlns:a16="http://schemas.microsoft.com/office/drawing/2014/main" id="{13839217-83C4-0E34-79EE-208668B2C1C9}"/>
            </a:ext>
          </a:extLst>
        </p:cNvPr>
        <p:cNvGrpSpPr/>
        <p:nvPr/>
      </p:nvGrpSpPr>
      <p:grpSpPr>
        <a:xfrm>
          <a:off x="0" y="0"/>
          <a:ext cx="0" cy="0"/>
          <a:chOff x="0" y="0"/>
          <a:chExt cx="0" cy="0"/>
        </a:xfrm>
      </p:grpSpPr>
      <p:sp>
        <p:nvSpPr>
          <p:cNvPr id="21" name="Shape 19">
            <a:extLst>
              <a:ext uri="{FF2B5EF4-FFF2-40B4-BE49-F238E27FC236}">
                <a16:creationId xmlns:a16="http://schemas.microsoft.com/office/drawing/2014/main" id="{2A2F1C42-C468-11CB-DE47-DA91FE37D867}"/>
              </a:ext>
            </a:extLst>
          </p:cNvPr>
          <p:cNvSpPr/>
          <p:nvPr/>
        </p:nvSpPr>
        <p:spPr>
          <a:xfrm>
            <a:off x="2670421" y="1600200"/>
            <a:ext cx="2124767" cy="4251960"/>
          </a:xfrm>
          <a:prstGeom prst="rect">
            <a:avLst/>
          </a:prstGeom>
          <a:solidFill>
            <a:srgbClr val="FFFFFF"/>
          </a:solidFill>
          <a:ln w="12700">
            <a:solidFill>
              <a:srgbClr val="E0DEEF"/>
            </a:solidFill>
            <a:prstDash val="solid"/>
          </a:ln>
        </p:spPr>
      </p:sp>
      <p:sp>
        <p:nvSpPr>
          <p:cNvPr id="33" name="Shape 31">
            <a:extLst>
              <a:ext uri="{FF2B5EF4-FFF2-40B4-BE49-F238E27FC236}">
                <a16:creationId xmlns:a16="http://schemas.microsoft.com/office/drawing/2014/main" id="{82DC6411-8894-B0E1-41B2-9A8CCF4883DB}"/>
              </a:ext>
            </a:extLst>
          </p:cNvPr>
          <p:cNvSpPr/>
          <p:nvPr/>
        </p:nvSpPr>
        <p:spPr>
          <a:xfrm>
            <a:off x="4947465" y="1600200"/>
            <a:ext cx="2124767" cy="4251960"/>
          </a:xfrm>
          <a:prstGeom prst="rect">
            <a:avLst/>
          </a:prstGeom>
          <a:solidFill>
            <a:srgbClr val="FFFFFF"/>
          </a:solidFill>
          <a:ln w="12700">
            <a:solidFill>
              <a:srgbClr val="E0DEEF"/>
            </a:solidFill>
            <a:prstDash val="solid"/>
          </a:ln>
        </p:spPr>
      </p:sp>
      <p:sp>
        <p:nvSpPr>
          <p:cNvPr id="45" name="Shape 43">
            <a:extLst>
              <a:ext uri="{FF2B5EF4-FFF2-40B4-BE49-F238E27FC236}">
                <a16:creationId xmlns:a16="http://schemas.microsoft.com/office/drawing/2014/main" id="{B5BC960D-8FEB-DAE1-18E5-FB34AEA1BCDA}"/>
              </a:ext>
            </a:extLst>
          </p:cNvPr>
          <p:cNvSpPr/>
          <p:nvPr/>
        </p:nvSpPr>
        <p:spPr>
          <a:xfrm>
            <a:off x="9597659" y="1600200"/>
            <a:ext cx="2124767" cy="4251960"/>
          </a:xfrm>
          <a:prstGeom prst="rect">
            <a:avLst/>
          </a:prstGeom>
          <a:solidFill>
            <a:srgbClr val="FFFFFF"/>
          </a:solidFill>
          <a:ln w="12700">
            <a:solidFill>
              <a:srgbClr val="E0DEEF"/>
            </a:solidFill>
            <a:prstDash val="solid"/>
          </a:ln>
        </p:spPr>
      </p:sp>
      <p:sp>
        <p:nvSpPr>
          <p:cNvPr id="70" name="Shape 43">
            <a:extLst>
              <a:ext uri="{FF2B5EF4-FFF2-40B4-BE49-F238E27FC236}">
                <a16:creationId xmlns:a16="http://schemas.microsoft.com/office/drawing/2014/main" id="{F7D14CB4-84D4-A3C3-BD28-2E9391DE201A}"/>
              </a:ext>
            </a:extLst>
          </p:cNvPr>
          <p:cNvSpPr/>
          <p:nvPr/>
        </p:nvSpPr>
        <p:spPr>
          <a:xfrm>
            <a:off x="7255998" y="1612637"/>
            <a:ext cx="2124767" cy="4251960"/>
          </a:xfrm>
          <a:prstGeom prst="rect">
            <a:avLst/>
          </a:prstGeom>
          <a:solidFill>
            <a:srgbClr val="FFFFFF"/>
          </a:solidFill>
          <a:ln w="12700">
            <a:solidFill>
              <a:srgbClr val="E0DEEF"/>
            </a:solidFill>
            <a:prstDash val="solid"/>
          </a:ln>
        </p:spPr>
      </p:sp>
      <p:sp>
        <p:nvSpPr>
          <p:cNvPr id="22" name="Shape 20">
            <a:extLst>
              <a:ext uri="{FF2B5EF4-FFF2-40B4-BE49-F238E27FC236}">
                <a16:creationId xmlns:a16="http://schemas.microsoft.com/office/drawing/2014/main" id="{84C040B8-032A-5CC3-B5B9-70272F201701}"/>
              </a:ext>
            </a:extLst>
          </p:cNvPr>
          <p:cNvSpPr/>
          <p:nvPr/>
        </p:nvSpPr>
        <p:spPr>
          <a:xfrm>
            <a:off x="2670421" y="1600200"/>
            <a:ext cx="2124767" cy="502920"/>
          </a:xfrm>
          <a:prstGeom prst="rect">
            <a:avLst/>
          </a:prstGeom>
          <a:solidFill>
            <a:srgbClr val="3BBFAD"/>
          </a:solidFill>
          <a:ln w="12700">
            <a:solidFill>
              <a:srgbClr val="333333"/>
            </a:solidFill>
            <a:prstDash val="solid"/>
          </a:ln>
        </p:spPr>
      </p:sp>
      <p:sp>
        <p:nvSpPr>
          <p:cNvPr id="23" name="Text 21">
            <a:extLst>
              <a:ext uri="{FF2B5EF4-FFF2-40B4-BE49-F238E27FC236}">
                <a16:creationId xmlns:a16="http://schemas.microsoft.com/office/drawing/2014/main" id="{F3FDD7BB-F0F0-1D0C-D552-5E4993FADDB0}"/>
              </a:ext>
            </a:extLst>
          </p:cNvPr>
          <p:cNvSpPr/>
          <p:nvPr/>
        </p:nvSpPr>
        <p:spPr>
          <a:xfrm>
            <a:off x="2780149"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7" name="Shape 19">
            <a:extLst>
              <a:ext uri="{FF2B5EF4-FFF2-40B4-BE49-F238E27FC236}">
                <a16:creationId xmlns:a16="http://schemas.microsoft.com/office/drawing/2014/main" id="{91DB112D-63C5-E89C-0FC6-6DDE1F8BAC4F}"/>
              </a:ext>
            </a:extLst>
          </p:cNvPr>
          <p:cNvSpPr/>
          <p:nvPr/>
        </p:nvSpPr>
        <p:spPr>
          <a:xfrm>
            <a:off x="370443" y="1600200"/>
            <a:ext cx="2124767" cy="4251960"/>
          </a:xfrm>
          <a:prstGeom prst="rect">
            <a:avLst/>
          </a:prstGeom>
          <a:solidFill>
            <a:srgbClr val="FFFFFF"/>
          </a:solidFill>
          <a:ln w="12700">
            <a:solidFill>
              <a:srgbClr val="E0DEEF"/>
            </a:solidFill>
            <a:prstDash val="solid"/>
          </a:ln>
        </p:spPr>
      </p:sp>
      <p:sp>
        <p:nvSpPr>
          <p:cNvPr id="24" name="Text 22">
            <a:extLst>
              <a:ext uri="{FF2B5EF4-FFF2-40B4-BE49-F238E27FC236}">
                <a16:creationId xmlns:a16="http://schemas.microsoft.com/office/drawing/2014/main" id="{340225F6-E64A-5119-FC21-E5071C48FB95}"/>
              </a:ext>
            </a:extLst>
          </p:cNvPr>
          <p:cNvSpPr/>
          <p:nvPr/>
        </p:nvSpPr>
        <p:spPr>
          <a:xfrm>
            <a:off x="2780149"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Celiac Disease Detection</a:t>
            </a:r>
            <a:endParaRPr lang="en-US" sz="1250" dirty="0"/>
          </a:p>
        </p:txBody>
      </p:sp>
      <p:sp>
        <p:nvSpPr>
          <p:cNvPr id="25" name="Text 23">
            <a:extLst>
              <a:ext uri="{FF2B5EF4-FFF2-40B4-BE49-F238E27FC236}">
                <a16:creationId xmlns:a16="http://schemas.microsoft.com/office/drawing/2014/main" id="{137049BB-895C-254B-D38D-27438CE0A20B}"/>
              </a:ext>
            </a:extLst>
          </p:cNvPr>
          <p:cNvSpPr/>
          <p:nvPr/>
        </p:nvSpPr>
        <p:spPr>
          <a:xfrm>
            <a:off x="2780149"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Detects celiac risk from immunological markers (IgA, IgG, IgM) and clinical symptoms (diarrhoea, abdominal pain, short stature, sticky stool, weight loss).</a:t>
            </a:r>
            <a:endParaRPr lang="en-US" sz="1050" dirty="0"/>
          </a:p>
        </p:txBody>
      </p:sp>
      <p:sp>
        <p:nvSpPr>
          <p:cNvPr id="26" name="Shape 24">
            <a:extLst>
              <a:ext uri="{FF2B5EF4-FFF2-40B4-BE49-F238E27FC236}">
                <a16:creationId xmlns:a16="http://schemas.microsoft.com/office/drawing/2014/main" id="{D5796607-EECE-CE76-9B30-83DC6E0CAFBE}"/>
              </a:ext>
            </a:extLst>
          </p:cNvPr>
          <p:cNvSpPr/>
          <p:nvPr/>
        </p:nvSpPr>
        <p:spPr>
          <a:xfrm>
            <a:off x="2780149" y="3892357"/>
            <a:ext cx="1947703" cy="36576"/>
          </a:xfrm>
          <a:prstGeom prst="rect">
            <a:avLst/>
          </a:prstGeom>
          <a:solidFill>
            <a:srgbClr val="E0DEEF"/>
          </a:solidFill>
          <a:ln w="12700">
            <a:solidFill>
              <a:srgbClr val="333333"/>
            </a:solidFill>
            <a:prstDash val="solid"/>
          </a:ln>
        </p:spPr>
      </p:sp>
      <p:sp>
        <p:nvSpPr>
          <p:cNvPr id="27" name="Text 25">
            <a:extLst>
              <a:ext uri="{FF2B5EF4-FFF2-40B4-BE49-F238E27FC236}">
                <a16:creationId xmlns:a16="http://schemas.microsoft.com/office/drawing/2014/main" id="{A9F72EF1-B422-F7DC-3AEB-C913E662A72F}"/>
              </a:ext>
            </a:extLst>
          </p:cNvPr>
          <p:cNvSpPr/>
          <p:nvPr/>
        </p:nvSpPr>
        <p:spPr>
          <a:xfrm>
            <a:off x="2780149"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28" name="Text 26">
            <a:extLst>
              <a:ext uri="{FF2B5EF4-FFF2-40B4-BE49-F238E27FC236}">
                <a16:creationId xmlns:a16="http://schemas.microsoft.com/office/drawing/2014/main" id="{4CE1BBCD-5794-4DF1-B40B-F5537C14DE4D}"/>
              </a:ext>
            </a:extLst>
          </p:cNvPr>
          <p:cNvSpPr/>
          <p:nvPr/>
        </p:nvSpPr>
        <p:spPr>
          <a:xfrm>
            <a:off x="3356221"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Random Forest Classifier</a:t>
            </a:r>
            <a:endParaRPr lang="en-US" sz="900" dirty="0"/>
          </a:p>
        </p:txBody>
      </p:sp>
      <p:sp>
        <p:nvSpPr>
          <p:cNvPr id="29" name="Text 27">
            <a:extLst>
              <a:ext uri="{FF2B5EF4-FFF2-40B4-BE49-F238E27FC236}">
                <a16:creationId xmlns:a16="http://schemas.microsoft.com/office/drawing/2014/main" id="{8C96B461-ABF8-BA2C-9755-ADEC0F41841E}"/>
              </a:ext>
            </a:extLst>
          </p:cNvPr>
          <p:cNvSpPr/>
          <p:nvPr/>
        </p:nvSpPr>
        <p:spPr>
          <a:xfrm>
            <a:off x="2780149"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30" name="Text 28">
            <a:extLst>
              <a:ext uri="{FF2B5EF4-FFF2-40B4-BE49-F238E27FC236}">
                <a16:creationId xmlns:a16="http://schemas.microsoft.com/office/drawing/2014/main" id="{D8D80B5E-F548-02B0-EEF2-DECAD02F5776}"/>
              </a:ext>
            </a:extLst>
          </p:cNvPr>
          <p:cNvSpPr/>
          <p:nvPr/>
        </p:nvSpPr>
        <p:spPr>
          <a:xfrm>
            <a:off x="3356221"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Clinical dataset · IgA / IgG / IgM markers</a:t>
            </a:r>
            <a:endParaRPr lang="en-US" sz="900" dirty="0"/>
          </a:p>
        </p:txBody>
      </p:sp>
      <p:sp>
        <p:nvSpPr>
          <p:cNvPr id="34" name="Shape 32">
            <a:extLst>
              <a:ext uri="{FF2B5EF4-FFF2-40B4-BE49-F238E27FC236}">
                <a16:creationId xmlns:a16="http://schemas.microsoft.com/office/drawing/2014/main" id="{1F202CAB-ED6A-5D09-B2D5-1489025850C5}"/>
              </a:ext>
            </a:extLst>
          </p:cNvPr>
          <p:cNvSpPr/>
          <p:nvPr/>
        </p:nvSpPr>
        <p:spPr>
          <a:xfrm>
            <a:off x="4947465" y="1600200"/>
            <a:ext cx="2124767" cy="502920"/>
          </a:xfrm>
          <a:prstGeom prst="rect">
            <a:avLst/>
          </a:prstGeom>
          <a:solidFill>
            <a:srgbClr val="F5A05A"/>
          </a:solidFill>
          <a:ln w="12700">
            <a:solidFill>
              <a:srgbClr val="333333"/>
            </a:solidFill>
            <a:prstDash val="solid"/>
          </a:ln>
        </p:spPr>
      </p:sp>
      <p:sp>
        <p:nvSpPr>
          <p:cNvPr id="35" name="Text 33">
            <a:extLst>
              <a:ext uri="{FF2B5EF4-FFF2-40B4-BE49-F238E27FC236}">
                <a16:creationId xmlns:a16="http://schemas.microsoft.com/office/drawing/2014/main" id="{BE240A26-B82C-B40B-6578-4FA0BBB19AE4}"/>
              </a:ext>
            </a:extLst>
          </p:cNvPr>
          <p:cNvSpPr/>
          <p:nvPr/>
        </p:nvSpPr>
        <p:spPr>
          <a:xfrm>
            <a:off x="5057193"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31" name="Text 29">
            <a:extLst>
              <a:ext uri="{FF2B5EF4-FFF2-40B4-BE49-F238E27FC236}">
                <a16:creationId xmlns:a16="http://schemas.microsoft.com/office/drawing/2014/main" id="{3467A345-F5AD-81B9-1095-C9C21950C331}"/>
              </a:ext>
            </a:extLst>
          </p:cNvPr>
          <p:cNvSpPr/>
          <p:nvPr/>
        </p:nvSpPr>
        <p:spPr>
          <a:xfrm>
            <a:off x="2780149" y="4681728"/>
            <a:ext cx="516436"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Result:</a:t>
            </a:r>
            <a:endParaRPr lang="en-US" sz="900" dirty="0"/>
          </a:p>
        </p:txBody>
      </p:sp>
      <p:sp>
        <p:nvSpPr>
          <p:cNvPr id="32" name="Text 30">
            <a:extLst>
              <a:ext uri="{FF2B5EF4-FFF2-40B4-BE49-F238E27FC236}">
                <a16:creationId xmlns:a16="http://schemas.microsoft.com/office/drawing/2014/main" id="{DEA68DBD-3ABD-E2D7-C464-D0192C784F8A}"/>
              </a:ext>
            </a:extLst>
          </p:cNvPr>
          <p:cNvSpPr/>
          <p:nvPr/>
        </p:nvSpPr>
        <p:spPr>
          <a:xfrm>
            <a:off x="3356221" y="4681728"/>
            <a:ext cx="1482910"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High precision on symptom clusters</a:t>
            </a:r>
            <a:endParaRPr lang="en-US" sz="900" dirty="0"/>
          </a:p>
        </p:txBody>
      </p:sp>
      <p:sp>
        <p:nvSpPr>
          <p:cNvPr id="36" name="Text 34">
            <a:extLst>
              <a:ext uri="{FF2B5EF4-FFF2-40B4-BE49-F238E27FC236}">
                <a16:creationId xmlns:a16="http://schemas.microsoft.com/office/drawing/2014/main" id="{2F43A9E9-0795-5F75-7011-F3B583E3DA96}"/>
              </a:ext>
            </a:extLst>
          </p:cNvPr>
          <p:cNvSpPr/>
          <p:nvPr/>
        </p:nvSpPr>
        <p:spPr>
          <a:xfrm>
            <a:off x="5057193"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Child Mortality Predictor</a:t>
            </a:r>
            <a:endParaRPr lang="en-US" sz="1250" dirty="0"/>
          </a:p>
        </p:txBody>
      </p:sp>
      <p:sp>
        <p:nvSpPr>
          <p:cNvPr id="37" name="Text 35">
            <a:extLst>
              <a:ext uri="{FF2B5EF4-FFF2-40B4-BE49-F238E27FC236}">
                <a16:creationId xmlns:a16="http://schemas.microsoft.com/office/drawing/2014/main" id="{28DF24EA-C637-8C54-CDB4-6A2E0C568A26}"/>
              </a:ext>
            </a:extLst>
          </p:cNvPr>
          <p:cNvSpPr/>
          <p:nvPr/>
        </p:nvSpPr>
        <p:spPr>
          <a:xfrm>
            <a:off x="5057193"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Estimates child mortality probability from 30 socioeconomic, immunisation, maternal health and sanitation indicators collected from India's NFHS health survey.</a:t>
            </a:r>
            <a:endParaRPr lang="en-US" sz="1050" dirty="0"/>
          </a:p>
        </p:txBody>
      </p:sp>
      <p:sp>
        <p:nvSpPr>
          <p:cNvPr id="38" name="Shape 36">
            <a:extLst>
              <a:ext uri="{FF2B5EF4-FFF2-40B4-BE49-F238E27FC236}">
                <a16:creationId xmlns:a16="http://schemas.microsoft.com/office/drawing/2014/main" id="{D4C398F7-5CC0-DA27-530F-CFDC9B003730}"/>
              </a:ext>
            </a:extLst>
          </p:cNvPr>
          <p:cNvSpPr/>
          <p:nvPr/>
        </p:nvSpPr>
        <p:spPr>
          <a:xfrm>
            <a:off x="5057193" y="3892357"/>
            <a:ext cx="1947703" cy="36576"/>
          </a:xfrm>
          <a:prstGeom prst="rect">
            <a:avLst/>
          </a:prstGeom>
          <a:solidFill>
            <a:srgbClr val="E0DEEF"/>
          </a:solidFill>
          <a:ln w="12700">
            <a:solidFill>
              <a:srgbClr val="333333"/>
            </a:solidFill>
            <a:prstDash val="solid"/>
          </a:ln>
        </p:spPr>
      </p:sp>
      <p:sp>
        <p:nvSpPr>
          <p:cNvPr id="39" name="Text 37">
            <a:extLst>
              <a:ext uri="{FF2B5EF4-FFF2-40B4-BE49-F238E27FC236}">
                <a16:creationId xmlns:a16="http://schemas.microsoft.com/office/drawing/2014/main" id="{FB5706FF-5437-5AB9-3A91-E1284DC4FC65}"/>
              </a:ext>
            </a:extLst>
          </p:cNvPr>
          <p:cNvSpPr/>
          <p:nvPr/>
        </p:nvSpPr>
        <p:spPr>
          <a:xfrm>
            <a:off x="5057193"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40" name="Text 38">
            <a:extLst>
              <a:ext uri="{FF2B5EF4-FFF2-40B4-BE49-F238E27FC236}">
                <a16:creationId xmlns:a16="http://schemas.microsoft.com/office/drawing/2014/main" id="{4E32DB88-AA61-87B7-EA4F-6DB8700DC8FF}"/>
              </a:ext>
            </a:extLst>
          </p:cNvPr>
          <p:cNvSpPr/>
          <p:nvPr/>
        </p:nvSpPr>
        <p:spPr>
          <a:xfrm>
            <a:off x="5633265"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Gradient Boosting Classifier</a:t>
            </a:r>
            <a:endParaRPr lang="en-US" sz="900" dirty="0"/>
          </a:p>
        </p:txBody>
      </p:sp>
      <p:sp>
        <p:nvSpPr>
          <p:cNvPr id="41" name="Text 39">
            <a:extLst>
              <a:ext uri="{FF2B5EF4-FFF2-40B4-BE49-F238E27FC236}">
                <a16:creationId xmlns:a16="http://schemas.microsoft.com/office/drawing/2014/main" id="{705AB5C7-A588-57CC-07EA-F3C69897FF29}"/>
              </a:ext>
            </a:extLst>
          </p:cNvPr>
          <p:cNvSpPr/>
          <p:nvPr/>
        </p:nvSpPr>
        <p:spPr>
          <a:xfrm>
            <a:off x="5057193"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42" name="Text 40">
            <a:extLst>
              <a:ext uri="{FF2B5EF4-FFF2-40B4-BE49-F238E27FC236}">
                <a16:creationId xmlns:a16="http://schemas.microsoft.com/office/drawing/2014/main" id="{F3008D1B-2C0A-5987-A380-0A886FBD5C1A}"/>
              </a:ext>
            </a:extLst>
          </p:cNvPr>
          <p:cNvSpPr/>
          <p:nvPr/>
        </p:nvSpPr>
        <p:spPr>
          <a:xfrm>
            <a:off x="5633265"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NFHS survey · 30 features · Indian states</a:t>
            </a:r>
            <a:endParaRPr lang="en-US" sz="900" dirty="0"/>
          </a:p>
        </p:txBody>
      </p:sp>
      <p:sp>
        <p:nvSpPr>
          <p:cNvPr id="46" name="Shape 44">
            <a:extLst>
              <a:ext uri="{FF2B5EF4-FFF2-40B4-BE49-F238E27FC236}">
                <a16:creationId xmlns:a16="http://schemas.microsoft.com/office/drawing/2014/main" id="{EDCFEBD5-F678-228B-874F-FC90E59574BE}"/>
              </a:ext>
            </a:extLst>
          </p:cNvPr>
          <p:cNvSpPr/>
          <p:nvPr/>
        </p:nvSpPr>
        <p:spPr>
          <a:xfrm>
            <a:off x="9597659" y="1600200"/>
            <a:ext cx="2124767" cy="502920"/>
          </a:xfrm>
          <a:prstGeom prst="rect">
            <a:avLst/>
          </a:prstGeom>
          <a:solidFill>
            <a:srgbClr val="8B7EC8"/>
          </a:solidFill>
          <a:ln w="12700">
            <a:solidFill>
              <a:srgbClr val="333333"/>
            </a:solidFill>
            <a:prstDash val="solid"/>
          </a:ln>
        </p:spPr>
      </p:sp>
      <p:sp>
        <p:nvSpPr>
          <p:cNvPr id="47" name="Text 45">
            <a:extLst>
              <a:ext uri="{FF2B5EF4-FFF2-40B4-BE49-F238E27FC236}">
                <a16:creationId xmlns:a16="http://schemas.microsoft.com/office/drawing/2014/main" id="{AE38A0B6-28D6-790A-B6B1-CB444D16739D}"/>
              </a:ext>
            </a:extLst>
          </p:cNvPr>
          <p:cNvSpPr/>
          <p:nvPr/>
        </p:nvSpPr>
        <p:spPr>
          <a:xfrm>
            <a:off x="9707387"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3" name="Text 41">
            <a:extLst>
              <a:ext uri="{FF2B5EF4-FFF2-40B4-BE49-F238E27FC236}">
                <a16:creationId xmlns:a16="http://schemas.microsoft.com/office/drawing/2014/main" id="{83F9C91A-2990-57DA-D894-F333BFCC77B3}"/>
              </a:ext>
            </a:extLst>
          </p:cNvPr>
          <p:cNvSpPr/>
          <p:nvPr/>
        </p:nvSpPr>
        <p:spPr>
          <a:xfrm>
            <a:off x="5057193" y="4681728"/>
            <a:ext cx="516436"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Result:</a:t>
            </a:r>
            <a:endParaRPr lang="en-US" sz="900" dirty="0"/>
          </a:p>
        </p:txBody>
      </p:sp>
      <p:sp>
        <p:nvSpPr>
          <p:cNvPr id="44" name="Text 42">
            <a:extLst>
              <a:ext uri="{FF2B5EF4-FFF2-40B4-BE49-F238E27FC236}">
                <a16:creationId xmlns:a16="http://schemas.microsoft.com/office/drawing/2014/main" id="{344FF240-84A8-BC1E-DE9E-12A3996E6B92}"/>
              </a:ext>
            </a:extLst>
          </p:cNvPr>
          <p:cNvSpPr/>
          <p:nvPr/>
        </p:nvSpPr>
        <p:spPr>
          <a:xfrm>
            <a:off x="5633265" y="4681728"/>
            <a:ext cx="1482910"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Calibrated probability output</a:t>
            </a:r>
            <a:endParaRPr lang="en-US" sz="900" dirty="0"/>
          </a:p>
        </p:txBody>
      </p:sp>
      <p:sp>
        <p:nvSpPr>
          <p:cNvPr id="48" name="Text 46">
            <a:extLst>
              <a:ext uri="{FF2B5EF4-FFF2-40B4-BE49-F238E27FC236}">
                <a16:creationId xmlns:a16="http://schemas.microsoft.com/office/drawing/2014/main" id="{CE3C786F-43B9-C61D-55EA-BDC9C24BF1F1}"/>
              </a:ext>
            </a:extLst>
          </p:cNvPr>
          <p:cNvSpPr/>
          <p:nvPr/>
        </p:nvSpPr>
        <p:spPr>
          <a:xfrm>
            <a:off x="9707387"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NurtureAI Chatbot</a:t>
            </a:r>
            <a:endParaRPr lang="en-US" sz="1250" dirty="0"/>
          </a:p>
        </p:txBody>
      </p:sp>
      <p:sp>
        <p:nvSpPr>
          <p:cNvPr id="49" name="Text 47">
            <a:extLst>
              <a:ext uri="{FF2B5EF4-FFF2-40B4-BE49-F238E27FC236}">
                <a16:creationId xmlns:a16="http://schemas.microsoft.com/office/drawing/2014/main" id="{5D564B7E-F843-49EF-AE03-5F00D9D0B60D}"/>
              </a:ext>
            </a:extLst>
          </p:cNvPr>
          <p:cNvSpPr/>
          <p:nvPr/>
        </p:nvSpPr>
        <p:spPr>
          <a:xfrm>
            <a:off x="9707387"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A Retrieval-Augmented Generation chatbot that answers parenting questions, explains model predictions in plain language, and provides evidence-based guidance.</a:t>
            </a:r>
            <a:endParaRPr lang="en-US" sz="1050" dirty="0"/>
          </a:p>
        </p:txBody>
      </p:sp>
      <p:sp>
        <p:nvSpPr>
          <p:cNvPr id="50" name="Shape 48">
            <a:extLst>
              <a:ext uri="{FF2B5EF4-FFF2-40B4-BE49-F238E27FC236}">
                <a16:creationId xmlns:a16="http://schemas.microsoft.com/office/drawing/2014/main" id="{DD808259-7179-011C-C8D9-20873469F65A}"/>
              </a:ext>
            </a:extLst>
          </p:cNvPr>
          <p:cNvSpPr/>
          <p:nvPr/>
        </p:nvSpPr>
        <p:spPr>
          <a:xfrm>
            <a:off x="9707387" y="3892357"/>
            <a:ext cx="1947703" cy="36576"/>
          </a:xfrm>
          <a:prstGeom prst="rect">
            <a:avLst/>
          </a:prstGeom>
          <a:solidFill>
            <a:srgbClr val="E0DEEF"/>
          </a:solidFill>
          <a:ln w="12700">
            <a:solidFill>
              <a:srgbClr val="333333"/>
            </a:solidFill>
            <a:prstDash val="solid"/>
          </a:ln>
        </p:spPr>
      </p:sp>
      <p:sp>
        <p:nvSpPr>
          <p:cNvPr id="51" name="Text 49">
            <a:extLst>
              <a:ext uri="{FF2B5EF4-FFF2-40B4-BE49-F238E27FC236}">
                <a16:creationId xmlns:a16="http://schemas.microsoft.com/office/drawing/2014/main" id="{EEFAA9F6-8B61-D865-CCEB-42C3266E9E4F}"/>
              </a:ext>
            </a:extLst>
          </p:cNvPr>
          <p:cNvSpPr/>
          <p:nvPr/>
        </p:nvSpPr>
        <p:spPr>
          <a:xfrm>
            <a:off x="9707387"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52" name="Text 50">
            <a:extLst>
              <a:ext uri="{FF2B5EF4-FFF2-40B4-BE49-F238E27FC236}">
                <a16:creationId xmlns:a16="http://schemas.microsoft.com/office/drawing/2014/main" id="{A4779D49-7D19-366D-B5D9-84A52A534545}"/>
              </a:ext>
            </a:extLst>
          </p:cNvPr>
          <p:cNvSpPr/>
          <p:nvPr/>
        </p:nvSpPr>
        <p:spPr>
          <a:xfrm>
            <a:off x="10283459"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RAG · ChromaDB · LLM backbone</a:t>
            </a:r>
            <a:endParaRPr lang="en-US" sz="900" dirty="0"/>
          </a:p>
        </p:txBody>
      </p:sp>
      <p:sp>
        <p:nvSpPr>
          <p:cNvPr id="53" name="Text 51">
            <a:extLst>
              <a:ext uri="{FF2B5EF4-FFF2-40B4-BE49-F238E27FC236}">
                <a16:creationId xmlns:a16="http://schemas.microsoft.com/office/drawing/2014/main" id="{0C932755-E6BA-5A25-45C5-E2C7E60EE0A7}"/>
              </a:ext>
            </a:extLst>
          </p:cNvPr>
          <p:cNvSpPr/>
          <p:nvPr/>
        </p:nvSpPr>
        <p:spPr>
          <a:xfrm>
            <a:off x="9707387"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0" name="Shape 8">
            <a:extLst>
              <a:ext uri="{FF2B5EF4-FFF2-40B4-BE49-F238E27FC236}">
                <a16:creationId xmlns:a16="http://schemas.microsoft.com/office/drawing/2014/main" id="{BF4B744B-FE0F-9703-D368-91DE63FC465F}"/>
              </a:ext>
            </a:extLst>
          </p:cNvPr>
          <p:cNvSpPr/>
          <p:nvPr/>
        </p:nvSpPr>
        <p:spPr>
          <a:xfrm>
            <a:off x="384048" y="1600200"/>
            <a:ext cx="2124767" cy="502920"/>
          </a:xfrm>
          <a:prstGeom prst="rect">
            <a:avLst/>
          </a:prstGeom>
          <a:solidFill>
            <a:srgbClr val="F96167"/>
          </a:solidFill>
          <a:ln w="12700">
            <a:solidFill>
              <a:srgbClr val="333333"/>
            </a:solidFill>
            <a:prstDash val="solid"/>
          </a:ln>
        </p:spPr>
      </p:sp>
      <p:sp>
        <p:nvSpPr>
          <p:cNvPr id="54" name="Text 52">
            <a:extLst>
              <a:ext uri="{FF2B5EF4-FFF2-40B4-BE49-F238E27FC236}">
                <a16:creationId xmlns:a16="http://schemas.microsoft.com/office/drawing/2014/main" id="{D97A9301-713B-5DA1-11DA-0BC726B9D649}"/>
              </a:ext>
            </a:extLst>
          </p:cNvPr>
          <p:cNvSpPr/>
          <p:nvPr/>
        </p:nvSpPr>
        <p:spPr>
          <a:xfrm>
            <a:off x="10283459"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Open-source parenting &amp; paediatric corpus</a:t>
            </a:r>
            <a:endParaRPr lang="en-US" sz="900" dirty="0"/>
          </a:p>
        </p:txBody>
      </p:sp>
      <p:sp>
        <p:nvSpPr>
          <p:cNvPr id="55" name="Text 53">
            <a:extLst>
              <a:ext uri="{FF2B5EF4-FFF2-40B4-BE49-F238E27FC236}">
                <a16:creationId xmlns:a16="http://schemas.microsoft.com/office/drawing/2014/main" id="{DDA615C9-5023-2754-AAC8-18F30CC8D681}"/>
              </a:ext>
            </a:extLst>
          </p:cNvPr>
          <p:cNvSpPr/>
          <p:nvPr/>
        </p:nvSpPr>
        <p:spPr>
          <a:xfrm>
            <a:off x="9707387" y="4681728"/>
            <a:ext cx="516436"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Result:</a:t>
            </a:r>
            <a:endParaRPr lang="en-US" sz="900" dirty="0"/>
          </a:p>
        </p:txBody>
      </p:sp>
      <p:sp>
        <p:nvSpPr>
          <p:cNvPr id="56" name="Text 54">
            <a:extLst>
              <a:ext uri="{FF2B5EF4-FFF2-40B4-BE49-F238E27FC236}">
                <a16:creationId xmlns:a16="http://schemas.microsoft.com/office/drawing/2014/main" id="{CFEA0A3D-AC55-053B-340E-9543AC1789F7}"/>
              </a:ext>
            </a:extLst>
          </p:cNvPr>
          <p:cNvSpPr/>
          <p:nvPr/>
        </p:nvSpPr>
        <p:spPr>
          <a:xfrm>
            <a:off x="10283459" y="4681728"/>
            <a:ext cx="1482910"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Context-aware Q&amp;A</a:t>
            </a:r>
            <a:endParaRPr lang="en-US" sz="900" dirty="0"/>
          </a:p>
        </p:txBody>
      </p:sp>
      <p:sp>
        <p:nvSpPr>
          <p:cNvPr id="2" name="Shape 0">
            <a:extLst>
              <a:ext uri="{FF2B5EF4-FFF2-40B4-BE49-F238E27FC236}">
                <a16:creationId xmlns:a16="http://schemas.microsoft.com/office/drawing/2014/main" id="{A798055B-84D4-09A7-1AF7-E84E951CFFB8}"/>
              </a:ext>
            </a:extLst>
          </p:cNvPr>
          <p:cNvSpPr/>
          <p:nvPr/>
        </p:nvSpPr>
        <p:spPr>
          <a:xfrm>
            <a:off x="10241280" y="-548640"/>
            <a:ext cx="2011680" cy="2011680"/>
          </a:xfrm>
          <a:prstGeom prst="ellipse">
            <a:avLst/>
          </a:prstGeom>
          <a:solidFill>
            <a:srgbClr val="3BBFAD">
              <a:alpha val="60000"/>
            </a:srgbClr>
          </a:solidFill>
          <a:ln w="12700">
            <a:solidFill>
              <a:srgbClr val="333333"/>
            </a:solidFill>
            <a:prstDash val="solid"/>
          </a:ln>
        </p:spPr>
      </p:sp>
      <p:sp>
        <p:nvSpPr>
          <p:cNvPr id="3" name="Shape 1">
            <a:extLst>
              <a:ext uri="{FF2B5EF4-FFF2-40B4-BE49-F238E27FC236}">
                <a16:creationId xmlns:a16="http://schemas.microsoft.com/office/drawing/2014/main" id="{DF28034E-AC47-C2BD-A83E-045544CBF6DB}"/>
              </a:ext>
            </a:extLst>
          </p:cNvPr>
          <p:cNvSpPr/>
          <p:nvPr/>
        </p:nvSpPr>
        <p:spPr>
          <a:xfrm>
            <a:off x="10789920" y="5303520"/>
            <a:ext cx="1463040" cy="1463040"/>
          </a:xfrm>
          <a:prstGeom prst="ellipse">
            <a:avLst/>
          </a:prstGeom>
          <a:solidFill>
            <a:srgbClr val="F96167">
              <a:alpha val="50000"/>
            </a:srgbClr>
          </a:solidFill>
          <a:ln w="12700">
            <a:solidFill>
              <a:srgbClr val="333333"/>
            </a:solidFill>
            <a:prstDash val="solid"/>
          </a:ln>
        </p:spPr>
      </p:sp>
      <p:sp>
        <p:nvSpPr>
          <p:cNvPr id="4" name="Shape 2">
            <a:extLst>
              <a:ext uri="{FF2B5EF4-FFF2-40B4-BE49-F238E27FC236}">
                <a16:creationId xmlns:a16="http://schemas.microsoft.com/office/drawing/2014/main" id="{3C9644C5-FE2F-DC4B-F47A-4199004B074A}"/>
              </a:ext>
            </a:extLst>
          </p:cNvPr>
          <p:cNvSpPr/>
          <p:nvPr/>
        </p:nvSpPr>
        <p:spPr>
          <a:xfrm>
            <a:off x="-457200" y="5486400"/>
            <a:ext cx="1463040" cy="1463040"/>
          </a:xfrm>
          <a:prstGeom prst="ellipse">
            <a:avLst/>
          </a:prstGeom>
          <a:solidFill>
            <a:srgbClr val="F5A05A">
              <a:alpha val="55000"/>
            </a:srgbClr>
          </a:solidFill>
          <a:ln w="12700">
            <a:solidFill>
              <a:srgbClr val="333333"/>
            </a:solidFill>
            <a:prstDash val="solid"/>
          </a:ln>
        </p:spPr>
      </p:sp>
      <p:sp>
        <p:nvSpPr>
          <p:cNvPr id="5" name="Shape 3">
            <a:extLst>
              <a:ext uri="{FF2B5EF4-FFF2-40B4-BE49-F238E27FC236}">
                <a16:creationId xmlns:a16="http://schemas.microsoft.com/office/drawing/2014/main" id="{E5C574CF-21D0-3861-4DAF-5EB6B982743C}"/>
              </a:ext>
            </a:extLst>
          </p:cNvPr>
          <p:cNvSpPr/>
          <p:nvPr/>
        </p:nvSpPr>
        <p:spPr>
          <a:xfrm>
            <a:off x="91440" y="2743200"/>
            <a:ext cx="457200" cy="457200"/>
          </a:xfrm>
          <a:prstGeom prst="ellipse">
            <a:avLst/>
          </a:prstGeom>
          <a:solidFill>
            <a:srgbClr val="8B7EC8">
              <a:alpha val="70000"/>
            </a:srgbClr>
          </a:solidFill>
          <a:ln w="12700">
            <a:solidFill>
              <a:srgbClr val="333333"/>
            </a:solidFill>
            <a:prstDash val="solid"/>
          </a:ln>
        </p:spPr>
      </p:sp>
      <p:sp>
        <p:nvSpPr>
          <p:cNvPr id="11" name="Text 9">
            <a:extLst>
              <a:ext uri="{FF2B5EF4-FFF2-40B4-BE49-F238E27FC236}">
                <a16:creationId xmlns:a16="http://schemas.microsoft.com/office/drawing/2014/main" id="{F44B6533-08C2-8A43-EF0D-2FD601CD6B6C}"/>
              </a:ext>
            </a:extLst>
          </p:cNvPr>
          <p:cNvSpPr/>
          <p:nvPr/>
        </p:nvSpPr>
        <p:spPr>
          <a:xfrm>
            <a:off x="493776"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a:extLst>
              <a:ext uri="{FF2B5EF4-FFF2-40B4-BE49-F238E27FC236}">
                <a16:creationId xmlns:a16="http://schemas.microsoft.com/office/drawing/2014/main" id="{B1B97AAC-F550-F4C8-8603-B8653469D776}"/>
              </a:ext>
            </a:extLst>
          </p:cNvPr>
          <p:cNvSpPr/>
          <p:nvPr/>
        </p:nvSpPr>
        <p:spPr>
          <a:xfrm>
            <a:off x="502920" y="274320"/>
            <a:ext cx="9144000" cy="594360"/>
          </a:xfrm>
          <a:prstGeom prst="rect">
            <a:avLst/>
          </a:prstGeom>
          <a:noFill/>
          <a:ln/>
        </p:spPr>
        <p:txBody>
          <a:bodyPr wrap="square" rtlCol="0" anchor="ctr"/>
          <a:lstStyle/>
          <a:p>
            <a:pPr marL="0" indent="0">
              <a:buNone/>
            </a:pPr>
            <a:r>
              <a:rPr lang="en-US" sz="3200" b="1" dirty="0">
                <a:solidFill>
                  <a:srgbClr val="2E2B5F"/>
                </a:solidFill>
                <a:latin typeface="Calibri" pitchFamily="34" charset="0"/>
                <a:ea typeface="Calibri" pitchFamily="34" charset="-122"/>
                <a:cs typeface="Calibri" pitchFamily="34" charset="-120"/>
              </a:rPr>
              <a:t>Platform Overview</a:t>
            </a:r>
            <a:endParaRPr lang="en-US" sz="3200" dirty="0"/>
          </a:p>
        </p:txBody>
      </p:sp>
      <p:sp>
        <p:nvSpPr>
          <p:cNvPr id="7" name="Shape 5">
            <a:extLst>
              <a:ext uri="{FF2B5EF4-FFF2-40B4-BE49-F238E27FC236}">
                <a16:creationId xmlns:a16="http://schemas.microsoft.com/office/drawing/2014/main" id="{8CA4B460-CE4D-9ACB-64E6-DF1AF022B9F4}"/>
              </a:ext>
            </a:extLst>
          </p:cNvPr>
          <p:cNvSpPr/>
          <p:nvPr/>
        </p:nvSpPr>
        <p:spPr>
          <a:xfrm>
            <a:off x="502920" y="896112"/>
            <a:ext cx="1645920" cy="54864"/>
          </a:xfrm>
          <a:prstGeom prst="rect">
            <a:avLst/>
          </a:prstGeom>
          <a:solidFill>
            <a:srgbClr val="F96167"/>
          </a:solidFill>
          <a:ln w="12700">
            <a:solidFill>
              <a:srgbClr val="333333"/>
            </a:solidFill>
            <a:prstDash val="solid"/>
          </a:ln>
        </p:spPr>
      </p:sp>
      <p:sp>
        <p:nvSpPr>
          <p:cNvPr id="8" name="Text 6">
            <a:extLst>
              <a:ext uri="{FF2B5EF4-FFF2-40B4-BE49-F238E27FC236}">
                <a16:creationId xmlns:a16="http://schemas.microsoft.com/office/drawing/2014/main" id="{B8431DDB-0BC6-C19D-FBD5-8AF74AB067E2}"/>
              </a:ext>
            </a:extLst>
          </p:cNvPr>
          <p:cNvSpPr/>
          <p:nvPr/>
        </p:nvSpPr>
        <p:spPr>
          <a:xfrm>
            <a:off x="502920" y="1005840"/>
            <a:ext cx="10789920" cy="457200"/>
          </a:xfrm>
          <a:prstGeom prst="rect">
            <a:avLst/>
          </a:prstGeom>
          <a:noFill/>
          <a:ln/>
        </p:spPr>
        <p:txBody>
          <a:bodyPr wrap="square" rtlCol="0" anchor="ctr"/>
          <a:lstStyle/>
          <a:p>
            <a:pPr marL="0" indent="0">
              <a:buNone/>
            </a:pPr>
            <a:r>
              <a:rPr lang="en-US" sz="1300" dirty="0">
                <a:solidFill>
                  <a:srgbClr val="6B6B8A"/>
                </a:solidFill>
                <a:latin typeface="Calibri" pitchFamily="34" charset="0"/>
                <a:ea typeface="Calibri" pitchFamily="34" charset="-122"/>
                <a:cs typeface="Calibri" pitchFamily="34" charset="-120"/>
              </a:rPr>
              <a:t>NurtureAI integrates four ML modules into a unified Flask API with a React frontend, enabling real-time predictions across multiple child health domains.</a:t>
            </a:r>
            <a:endParaRPr lang="en-US" sz="1300" dirty="0"/>
          </a:p>
        </p:txBody>
      </p:sp>
      <p:sp>
        <p:nvSpPr>
          <p:cNvPr id="12" name="Text 10">
            <a:extLst>
              <a:ext uri="{FF2B5EF4-FFF2-40B4-BE49-F238E27FC236}">
                <a16:creationId xmlns:a16="http://schemas.microsoft.com/office/drawing/2014/main" id="{ED49C650-37F4-77D9-0FC9-C02BB3424E06}"/>
              </a:ext>
            </a:extLst>
          </p:cNvPr>
          <p:cNvSpPr/>
          <p:nvPr/>
        </p:nvSpPr>
        <p:spPr>
          <a:xfrm>
            <a:off x="493776"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Behaviour &amp; Mental Health</a:t>
            </a:r>
            <a:endParaRPr lang="en-US" sz="1250" dirty="0"/>
          </a:p>
        </p:txBody>
      </p:sp>
      <p:sp>
        <p:nvSpPr>
          <p:cNvPr id="13" name="Text 11">
            <a:extLst>
              <a:ext uri="{FF2B5EF4-FFF2-40B4-BE49-F238E27FC236}">
                <a16:creationId xmlns:a16="http://schemas.microsoft.com/office/drawing/2014/main" id="{9C95C24D-1FC6-79F5-7121-EFE30E1ABE8B}"/>
              </a:ext>
            </a:extLst>
          </p:cNvPr>
          <p:cNvSpPr/>
          <p:nvPr/>
        </p:nvSpPr>
        <p:spPr>
          <a:xfrm>
            <a:off x="493776"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Severity Impairment Index (sii 0–3) from physical health, sleep, activity &amp; fitness data. 8× better than all 9 standard classifiers.</a:t>
            </a:r>
            <a:endParaRPr lang="en-US" sz="1050" dirty="0"/>
          </a:p>
        </p:txBody>
      </p:sp>
      <p:sp>
        <p:nvSpPr>
          <p:cNvPr id="14" name="Shape 12">
            <a:extLst>
              <a:ext uri="{FF2B5EF4-FFF2-40B4-BE49-F238E27FC236}">
                <a16:creationId xmlns:a16="http://schemas.microsoft.com/office/drawing/2014/main" id="{0C0FC9EC-C2EC-1780-FA99-A53227C9E7D7}"/>
              </a:ext>
            </a:extLst>
          </p:cNvPr>
          <p:cNvSpPr/>
          <p:nvPr/>
        </p:nvSpPr>
        <p:spPr>
          <a:xfrm>
            <a:off x="493776" y="3892357"/>
            <a:ext cx="1947703" cy="36576"/>
          </a:xfrm>
          <a:prstGeom prst="rect">
            <a:avLst/>
          </a:prstGeom>
          <a:solidFill>
            <a:srgbClr val="E0DEEF"/>
          </a:solidFill>
          <a:ln w="12700">
            <a:solidFill>
              <a:srgbClr val="333333"/>
            </a:solidFill>
            <a:prstDash val="solid"/>
          </a:ln>
        </p:spPr>
      </p:sp>
      <p:sp>
        <p:nvSpPr>
          <p:cNvPr id="15" name="Text 13">
            <a:extLst>
              <a:ext uri="{FF2B5EF4-FFF2-40B4-BE49-F238E27FC236}">
                <a16:creationId xmlns:a16="http://schemas.microsoft.com/office/drawing/2014/main" id="{0F49353E-2007-23A4-9EEA-B305F92A4A26}"/>
              </a:ext>
            </a:extLst>
          </p:cNvPr>
          <p:cNvSpPr/>
          <p:nvPr/>
        </p:nvSpPr>
        <p:spPr>
          <a:xfrm>
            <a:off x="493776"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16" name="Text 14">
            <a:extLst>
              <a:ext uri="{FF2B5EF4-FFF2-40B4-BE49-F238E27FC236}">
                <a16:creationId xmlns:a16="http://schemas.microsoft.com/office/drawing/2014/main" id="{191254B1-FA5C-CA60-10C8-165CE9068523}"/>
              </a:ext>
            </a:extLst>
          </p:cNvPr>
          <p:cNvSpPr/>
          <p:nvPr/>
        </p:nvSpPr>
        <p:spPr>
          <a:xfrm>
            <a:off x="1069848"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OrdinalGB (GradientBoosting Regressor)</a:t>
            </a:r>
            <a:endParaRPr lang="en-US" sz="900" dirty="0"/>
          </a:p>
        </p:txBody>
      </p:sp>
      <p:sp>
        <p:nvSpPr>
          <p:cNvPr id="17" name="Text 15">
            <a:extLst>
              <a:ext uri="{FF2B5EF4-FFF2-40B4-BE49-F238E27FC236}">
                <a16:creationId xmlns:a16="http://schemas.microsoft.com/office/drawing/2014/main" id="{99BE6CF5-86F2-C696-70A4-DA7D84F22E78}"/>
              </a:ext>
            </a:extLst>
          </p:cNvPr>
          <p:cNvSpPr/>
          <p:nvPr/>
        </p:nvSpPr>
        <p:spPr>
          <a:xfrm>
            <a:off x="493776"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8" name="Text 16">
            <a:extLst>
              <a:ext uri="{FF2B5EF4-FFF2-40B4-BE49-F238E27FC236}">
                <a16:creationId xmlns:a16="http://schemas.microsoft.com/office/drawing/2014/main" id="{524A7295-9994-61F9-E6B0-AB7ED71C87BB}"/>
              </a:ext>
            </a:extLst>
          </p:cNvPr>
          <p:cNvSpPr/>
          <p:nvPr/>
        </p:nvSpPr>
        <p:spPr>
          <a:xfrm>
            <a:off x="1069848" y="450071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CMI-PIU · 3,900 rows · 22 features</a:t>
            </a:r>
            <a:endParaRPr lang="en-US" sz="900" dirty="0"/>
          </a:p>
        </p:txBody>
      </p:sp>
      <p:sp>
        <p:nvSpPr>
          <p:cNvPr id="71" name="Shape 44">
            <a:extLst>
              <a:ext uri="{FF2B5EF4-FFF2-40B4-BE49-F238E27FC236}">
                <a16:creationId xmlns:a16="http://schemas.microsoft.com/office/drawing/2014/main" id="{100950E0-3F39-CE16-F9ED-2E0485779358}"/>
              </a:ext>
            </a:extLst>
          </p:cNvPr>
          <p:cNvSpPr/>
          <p:nvPr/>
        </p:nvSpPr>
        <p:spPr>
          <a:xfrm>
            <a:off x="7255998" y="1612637"/>
            <a:ext cx="2124767" cy="502920"/>
          </a:xfrm>
          <a:prstGeom prst="rect">
            <a:avLst/>
          </a:prstGeom>
          <a:solidFill>
            <a:srgbClr val="002060"/>
          </a:solidFill>
          <a:ln w="12700">
            <a:solidFill>
              <a:srgbClr val="333333"/>
            </a:solidFill>
            <a:prstDash val="solid"/>
          </a:ln>
        </p:spPr>
      </p:sp>
      <p:sp>
        <p:nvSpPr>
          <p:cNvPr id="72" name="Text 45">
            <a:extLst>
              <a:ext uri="{FF2B5EF4-FFF2-40B4-BE49-F238E27FC236}">
                <a16:creationId xmlns:a16="http://schemas.microsoft.com/office/drawing/2014/main" id="{79C41D1D-72C2-E21D-EAF1-67A7A9F7C982}"/>
              </a:ext>
            </a:extLst>
          </p:cNvPr>
          <p:cNvSpPr/>
          <p:nvPr/>
        </p:nvSpPr>
        <p:spPr>
          <a:xfrm>
            <a:off x="7365726" y="1649213"/>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9" name="Text 17">
            <a:extLst>
              <a:ext uri="{FF2B5EF4-FFF2-40B4-BE49-F238E27FC236}">
                <a16:creationId xmlns:a16="http://schemas.microsoft.com/office/drawing/2014/main" id="{4C8DA7EC-300E-6259-0698-229978067AAB}"/>
              </a:ext>
            </a:extLst>
          </p:cNvPr>
          <p:cNvSpPr/>
          <p:nvPr/>
        </p:nvSpPr>
        <p:spPr>
          <a:xfrm>
            <a:off x="493776" y="4681728"/>
            <a:ext cx="516436"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Result:</a:t>
            </a:r>
            <a:endParaRPr lang="en-US" sz="900" dirty="0"/>
          </a:p>
        </p:txBody>
      </p:sp>
      <p:sp>
        <p:nvSpPr>
          <p:cNvPr id="20" name="Text 18">
            <a:extLst>
              <a:ext uri="{FF2B5EF4-FFF2-40B4-BE49-F238E27FC236}">
                <a16:creationId xmlns:a16="http://schemas.microsoft.com/office/drawing/2014/main" id="{2D2DFB38-57B3-ADFD-ED80-1AE38B435294}"/>
              </a:ext>
            </a:extLst>
          </p:cNvPr>
          <p:cNvSpPr/>
          <p:nvPr/>
        </p:nvSpPr>
        <p:spPr>
          <a:xfrm>
            <a:off x="1069848" y="4681728"/>
            <a:ext cx="1482910"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QWK = 0.6259 (Substantial)</a:t>
            </a:r>
            <a:endParaRPr lang="en-US" sz="900" dirty="0"/>
          </a:p>
        </p:txBody>
      </p:sp>
      <p:sp>
        <p:nvSpPr>
          <p:cNvPr id="73" name="Text 46">
            <a:extLst>
              <a:ext uri="{FF2B5EF4-FFF2-40B4-BE49-F238E27FC236}">
                <a16:creationId xmlns:a16="http://schemas.microsoft.com/office/drawing/2014/main" id="{A41DB48A-8CDC-79B2-8E0C-3E1E93634751}"/>
              </a:ext>
            </a:extLst>
          </p:cNvPr>
          <p:cNvSpPr/>
          <p:nvPr/>
        </p:nvSpPr>
        <p:spPr>
          <a:xfrm>
            <a:off x="7365726" y="2188709"/>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Adult </a:t>
            </a:r>
            <a:r>
              <a:rPr lang="en-US" sz="1250" b="1" dirty="0" err="1">
                <a:solidFill>
                  <a:srgbClr val="2E2B5F"/>
                </a:solidFill>
                <a:latin typeface="Calibri" pitchFamily="34" charset="0"/>
                <a:ea typeface="Calibri" pitchFamily="34" charset="-122"/>
                <a:cs typeface="Calibri" pitchFamily="34" charset="-120"/>
              </a:rPr>
              <a:t>Behaviour</a:t>
            </a:r>
            <a:r>
              <a:rPr lang="en-US" sz="1250" b="1" dirty="0">
                <a:solidFill>
                  <a:srgbClr val="2E2B5F"/>
                </a:solidFill>
                <a:latin typeface="Calibri" pitchFamily="34" charset="0"/>
                <a:ea typeface="Calibri" pitchFamily="34" charset="-122"/>
                <a:cs typeface="Calibri" pitchFamily="34" charset="-120"/>
              </a:rPr>
              <a:t> Analysis</a:t>
            </a:r>
            <a:endParaRPr lang="en-US" sz="1250" dirty="0"/>
          </a:p>
        </p:txBody>
      </p:sp>
      <p:sp>
        <p:nvSpPr>
          <p:cNvPr id="74" name="Text 47">
            <a:extLst>
              <a:ext uri="{FF2B5EF4-FFF2-40B4-BE49-F238E27FC236}">
                <a16:creationId xmlns:a16="http://schemas.microsoft.com/office/drawing/2014/main" id="{EEB315F0-0A4C-A142-06BC-A0DC9C6E4329}"/>
              </a:ext>
            </a:extLst>
          </p:cNvPr>
          <p:cNvSpPr/>
          <p:nvPr/>
        </p:nvSpPr>
        <p:spPr>
          <a:xfrm>
            <a:off x="7365726" y="2645909"/>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the </a:t>
            </a:r>
            <a:r>
              <a:rPr lang="en-US" sz="1050" dirty="0" err="1">
                <a:solidFill>
                  <a:srgbClr val="6B6B8A"/>
                </a:solidFill>
                <a:latin typeface="Calibri" pitchFamily="34" charset="0"/>
                <a:ea typeface="Calibri" pitchFamily="34" charset="-122"/>
                <a:cs typeface="Calibri" pitchFamily="34" charset="-120"/>
              </a:rPr>
              <a:t>behaviour</a:t>
            </a:r>
            <a:r>
              <a:rPr lang="en-US" sz="1050" dirty="0">
                <a:solidFill>
                  <a:srgbClr val="6B6B8A"/>
                </a:solidFill>
                <a:latin typeface="Calibri" pitchFamily="34" charset="0"/>
                <a:ea typeface="Calibri" pitchFamily="34" charset="-122"/>
                <a:cs typeface="Calibri" pitchFamily="34" charset="-120"/>
              </a:rPr>
              <a:t> of the parenting ability to classify as 3 classes of parenting risk prediction – Healthy, Moderate, and High risk</a:t>
            </a:r>
            <a:endParaRPr lang="en-US" sz="1050" dirty="0"/>
          </a:p>
        </p:txBody>
      </p:sp>
      <p:sp>
        <p:nvSpPr>
          <p:cNvPr id="75" name="Shape 48">
            <a:extLst>
              <a:ext uri="{FF2B5EF4-FFF2-40B4-BE49-F238E27FC236}">
                <a16:creationId xmlns:a16="http://schemas.microsoft.com/office/drawing/2014/main" id="{8590BD7C-2489-4849-5805-31984D1E027B}"/>
              </a:ext>
            </a:extLst>
          </p:cNvPr>
          <p:cNvSpPr/>
          <p:nvPr/>
        </p:nvSpPr>
        <p:spPr>
          <a:xfrm>
            <a:off x="7365726" y="3904794"/>
            <a:ext cx="1947703" cy="36576"/>
          </a:xfrm>
          <a:prstGeom prst="rect">
            <a:avLst/>
          </a:prstGeom>
          <a:solidFill>
            <a:srgbClr val="E0DEEF"/>
          </a:solidFill>
          <a:ln w="12700">
            <a:solidFill>
              <a:srgbClr val="333333"/>
            </a:solidFill>
            <a:prstDash val="solid"/>
          </a:ln>
        </p:spPr>
      </p:sp>
      <p:sp>
        <p:nvSpPr>
          <p:cNvPr id="76" name="Text 49">
            <a:extLst>
              <a:ext uri="{FF2B5EF4-FFF2-40B4-BE49-F238E27FC236}">
                <a16:creationId xmlns:a16="http://schemas.microsoft.com/office/drawing/2014/main" id="{317810AF-3843-00EA-565B-CC64B55083B8}"/>
              </a:ext>
            </a:extLst>
          </p:cNvPr>
          <p:cNvSpPr/>
          <p:nvPr/>
        </p:nvSpPr>
        <p:spPr>
          <a:xfrm>
            <a:off x="7365726" y="414552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77" name="Text 50">
            <a:extLst>
              <a:ext uri="{FF2B5EF4-FFF2-40B4-BE49-F238E27FC236}">
                <a16:creationId xmlns:a16="http://schemas.microsoft.com/office/drawing/2014/main" id="{AB429A70-20A5-7EF4-EEBC-731196B0E853}"/>
              </a:ext>
            </a:extLst>
          </p:cNvPr>
          <p:cNvSpPr/>
          <p:nvPr/>
        </p:nvSpPr>
        <p:spPr>
          <a:xfrm>
            <a:off x="7941798" y="4145525"/>
            <a:ext cx="1482910" cy="256032"/>
          </a:xfrm>
          <a:prstGeom prst="rect">
            <a:avLst/>
          </a:prstGeom>
          <a:noFill/>
          <a:ln/>
        </p:spPr>
        <p:txBody>
          <a:bodyPr wrap="square" rtlCol="0" anchor="ctr"/>
          <a:lstStyle/>
          <a:p>
            <a:pPr marL="0" indent="0">
              <a:buNone/>
            </a:pPr>
            <a:r>
              <a:rPr lang="en-US" sz="900" dirty="0" err="1">
                <a:solidFill>
                  <a:srgbClr val="6B6B8A"/>
                </a:solidFill>
                <a:latin typeface="Calibri" pitchFamily="34" charset="0"/>
                <a:ea typeface="Calibri" pitchFamily="34" charset="-122"/>
                <a:cs typeface="Calibri" pitchFamily="34" charset="-120"/>
              </a:rPr>
              <a:t>RandomForestClassifier</a:t>
            </a:r>
            <a:endParaRPr lang="en-US" sz="900" dirty="0"/>
          </a:p>
        </p:txBody>
      </p:sp>
      <p:sp>
        <p:nvSpPr>
          <p:cNvPr id="78" name="Text 51">
            <a:extLst>
              <a:ext uri="{FF2B5EF4-FFF2-40B4-BE49-F238E27FC236}">
                <a16:creationId xmlns:a16="http://schemas.microsoft.com/office/drawing/2014/main" id="{91F95559-9887-4F73-79B8-67B9BEC20084}"/>
              </a:ext>
            </a:extLst>
          </p:cNvPr>
          <p:cNvSpPr/>
          <p:nvPr/>
        </p:nvSpPr>
        <p:spPr>
          <a:xfrm>
            <a:off x="7365726" y="441984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79" name="Text 52">
            <a:extLst>
              <a:ext uri="{FF2B5EF4-FFF2-40B4-BE49-F238E27FC236}">
                <a16:creationId xmlns:a16="http://schemas.microsoft.com/office/drawing/2014/main" id="{0E9BC993-67C5-7BD9-74D8-9ECA1ABE509D}"/>
              </a:ext>
            </a:extLst>
          </p:cNvPr>
          <p:cNvSpPr/>
          <p:nvPr/>
        </p:nvSpPr>
        <p:spPr>
          <a:xfrm>
            <a:off x="7941798" y="441984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BRFSS</a:t>
            </a:r>
            <a:endParaRPr lang="en-US" sz="900" dirty="0"/>
          </a:p>
        </p:txBody>
      </p:sp>
      <p:sp>
        <p:nvSpPr>
          <p:cNvPr id="80" name="Text 53">
            <a:extLst>
              <a:ext uri="{FF2B5EF4-FFF2-40B4-BE49-F238E27FC236}">
                <a16:creationId xmlns:a16="http://schemas.microsoft.com/office/drawing/2014/main" id="{59D9524B-52C4-F5F1-8EAE-49124B2A48DD}"/>
              </a:ext>
            </a:extLst>
          </p:cNvPr>
          <p:cNvSpPr/>
          <p:nvPr/>
        </p:nvSpPr>
        <p:spPr>
          <a:xfrm>
            <a:off x="7365726" y="4694165"/>
            <a:ext cx="516436"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Result</a:t>
            </a:r>
            <a:r>
              <a:rPr lang="en-US" sz="900" b="1" dirty="0">
                <a:solidFill>
                  <a:srgbClr val="8B7EC8"/>
                </a:solidFill>
                <a:latin typeface="Calibri" pitchFamily="34" charset="0"/>
                <a:ea typeface="Calibri" pitchFamily="34" charset="-122"/>
                <a:cs typeface="Calibri" pitchFamily="34" charset="-120"/>
              </a:rPr>
              <a:t>:</a:t>
            </a:r>
            <a:endParaRPr lang="en-US" sz="900" dirty="0"/>
          </a:p>
        </p:txBody>
      </p:sp>
      <p:sp>
        <p:nvSpPr>
          <p:cNvPr id="81" name="Text 54">
            <a:extLst>
              <a:ext uri="{FF2B5EF4-FFF2-40B4-BE49-F238E27FC236}">
                <a16:creationId xmlns:a16="http://schemas.microsoft.com/office/drawing/2014/main" id="{38C23726-F8C0-D1D5-A880-29F0BF606B38}"/>
              </a:ext>
            </a:extLst>
          </p:cNvPr>
          <p:cNvSpPr/>
          <p:nvPr/>
        </p:nvSpPr>
        <p:spPr>
          <a:xfrm>
            <a:off x="7941798" y="4694165"/>
            <a:ext cx="1482910"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Parenting Environment Analysis</a:t>
            </a:r>
            <a:endParaRPr lang="en-US" sz="900" dirty="0">
              <a:solidFill>
                <a:srgbClr val="002060"/>
              </a:solidFill>
            </a:endParaRPr>
          </a:p>
        </p:txBody>
      </p:sp>
    </p:spTree>
    <p:extLst>
      <p:ext uri="{BB962C8B-B14F-4D97-AF65-F5344CB8AC3E}">
        <p14:creationId xmlns:p14="http://schemas.microsoft.com/office/powerpoint/2010/main" val="33296010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EEF0F8"/>
        </a:solidFill>
        <a:effectLst/>
      </p:bgPr>
    </p:bg>
    <p:spTree>
      <p:nvGrpSpPr>
        <p:cNvPr id="1" name=""/>
        <p:cNvGrpSpPr/>
        <p:nvPr/>
      </p:nvGrpSpPr>
      <p:grpSpPr>
        <a:xfrm>
          <a:off x="0" y="0"/>
          <a:ext cx="0" cy="0"/>
          <a:chOff x="0" y="0"/>
          <a:chExt cx="0" cy="0"/>
        </a:xfrm>
      </p:grpSpPr>
      <p:sp>
        <p:nvSpPr>
          <p:cNvPr id="21" name="Shape 19"/>
          <p:cNvSpPr/>
          <p:nvPr/>
        </p:nvSpPr>
        <p:spPr>
          <a:xfrm>
            <a:off x="2670421" y="1600200"/>
            <a:ext cx="2124767" cy="4251960"/>
          </a:xfrm>
          <a:prstGeom prst="rect">
            <a:avLst/>
          </a:prstGeom>
          <a:solidFill>
            <a:srgbClr val="FFFFFF"/>
          </a:solidFill>
          <a:ln w="12700">
            <a:solidFill>
              <a:srgbClr val="E0DEEF"/>
            </a:solidFill>
            <a:prstDash val="solid"/>
          </a:ln>
        </p:spPr>
      </p:sp>
      <p:sp>
        <p:nvSpPr>
          <p:cNvPr id="33" name="Shape 31"/>
          <p:cNvSpPr/>
          <p:nvPr/>
        </p:nvSpPr>
        <p:spPr>
          <a:xfrm>
            <a:off x="4947465" y="1600200"/>
            <a:ext cx="2124767" cy="4251960"/>
          </a:xfrm>
          <a:prstGeom prst="rect">
            <a:avLst/>
          </a:prstGeom>
          <a:solidFill>
            <a:srgbClr val="FFFFFF"/>
          </a:solidFill>
          <a:ln w="12700">
            <a:solidFill>
              <a:srgbClr val="E0DEEF"/>
            </a:solidFill>
            <a:prstDash val="solid"/>
          </a:ln>
        </p:spPr>
      </p:sp>
      <p:sp>
        <p:nvSpPr>
          <p:cNvPr id="45" name="Shape 43"/>
          <p:cNvSpPr/>
          <p:nvPr/>
        </p:nvSpPr>
        <p:spPr>
          <a:xfrm>
            <a:off x="9597659" y="1600200"/>
            <a:ext cx="2124767" cy="4251960"/>
          </a:xfrm>
          <a:prstGeom prst="rect">
            <a:avLst/>
          </a:prstGeom>
          <a:solidFill>
            <a:srgbClr val="FFFFFF"/>
          </a:solidFill>
          <a:ln w="12700">
            <a:solidFill>
              <a:srgbClr val="E0DEEF"/>
            </a:solidFill>
            <a:prstDash val="solid"/>
          </a:ln>
        </p:spPr>
      </p:sp>
      <p:sp>
        <p:nvSpPr>
          <p:cNvPr id="70" name="Shape 43">
            <a:extLst>
              <a:ext uri="{FF2B5EF4-FFF2-40B4-BE49-F238E27FC236}">
                <a16:creationId xmlns:a16="http://schemas.microsoft.com/office/drawing/2014/main" id="{F28042EB-1EC9-57C5-67BF-44E256027B37}"/>
              </a:ext>
            </a:extLst>
          </p:cNvPr>
          <p:cNvSpPr/>
          <p:nvPr/>
        </p:nvSpPr>
        <p:spPr>
          <a:xfrm>
            <a:off x="7255998" y="1612637"/>
            <a:ext cx="2124767" cy="4251960"/>
          </a:xfrm>
          <a:prstGeom prst="rect">
            <a:avLst/>
          </a:prstGeom>
          <a:solidFill>
            <a:srgbClr val="FFFFFF"/>
          </a:solidFill>
          <a:ln w="12700">
            <a:solidFill>
              <a:srgbClr val="E0DEEF"/>
            </a:solidFill>
            <a:prstDash val="solid"/>
          </a:ln>
        </p:spPr>
      </p:sp>
      <p:sp>
        <p:nvSpPr>
          <p:cNvPr id="22" name="Shape 20"/>
          <p:cNvSpPr/>
          <p:nvPr/>
        </p:nvSpPr>
        <p:spPr>
          <a:xfrm>
            <a:off x="2670421" y="1600200"/>
            <a:ext cx="2124767" cy="502920"/>
          </a:xfrm>
          <a:prstGeom prst="rect">
            <a:avLst/>
          </a:prstGeom>
          <a:solidFill>
            <a:srgbClr val="3BBFAD"/>
          </a:solidFill>
          <a:ln w="12700">
            <a:solidFill>
              <a:srgbClr val="333333"/>
            </a:solidFill>
            <a:prstDash val="solid"/>
          </a:ln>
        </p:spPr>
      </p:sp>
      <p:sp>
        <p:nvSpPr>
          <p:cNvPr id="23" name="Text 21"/>
          <p:cNvSpPr/>
          <p:nvPr/>
        </p:nvSpPr>
        <p:spPr>
          <a:xfrm>
            <a:off x="2780149"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7" name="Shape 19">
            <a:extLst>
              <a:ext uri="{FF2B5EF4-FFF2-40B4-BE49-F238E27FC236}">
                <a16:creationId xmlns:a16="http://schemas.microsoft.com/office/drawing/2014/main" id="{27087C71-D196-454D-F90A-D7B5C655AAD9}"/>
              </a:ext>
            </a:extLst>
          </p:cNvPr>
          <p:cNvSpPr/>
          <p:nvPr/>
        </p:nvSpPr>
        <p:spPr>
          <a:xfrm>
            <a:off x="370443" y="1600200"/>
            <a:ext cx="2124767" cy="4251960"/>
          </a:xfrm>
          <a:prstGeom prst="rect">
            <a:avLst/>
          </a:prstGeom>
          <a:solidFill>
            <a:srgbClr val="FFFFFF"/>
          </a:solidFill>
          <a:ln w="12700">
            <a:solidFill>
              <a:srgbClr val="E0DEEF"/>
            </a:solidFill>
            <a:prstDash val="solid"/>
          </a:ln>
        </p:spPr>
      </p:sp>
      <p:sp>
        <p:nvSpPr>
          <p:cNvPr id="86" name="Freeform: Shape 85">
            <a:extLst>
              <a:ext uri="{FF2B5EF4-FFF2-40B4-BE49-F238E27FC236}">
                <a16:creationId xmlns:a16="http://schemas.microsoft.com/office/drawing/2014/main" id="{E361C649-04BA-D1CF-ECD6-651B7E632C59}"/>
              </a:ext>
            </a:extLst>
          </p:cNvPr>
          <p:cNvSpPr/>
          <p:nvPr/>
        </p:nvSpPr>
        <p:spPr>
          <a:xfrm>
            <a:off x="-15097327" y="0"/>
            <a:ext cx="27694648" cy="6858000"/>
          </a:xfrm>
          <a:custGeom>
            <a:avLst/>
            <a:gdLst>
              <a:gd name="csX0" fmla="*/ 15461920 w 27694648"/>
              <a:gd name="csY0" fmla="*/ 1600200 h 6858000"/>
              <a:gd name="csX1" fmla="*/ 15461920 w 27694648"/>
              <a:gd name="csY1" fmla="*/ 5852160 h 6858000"/>
              <a:gd name="csX2" fmla="*/ 17586687 w 27694648"/>
              <a:gd name="csY2" fmla="*/ 5852160 h 6858000"/>
              <a:gd name="csX3" fmla="*/ 17586687 w 27694648"/>
              <a:gd name="csY3" fmla="*/ 1600200 h 6858000"/>
              <a:gd name="csX4" fmla="*/ 0 w 27694648"/>
              <a:gd name="csY4" fmla="*/ 0 h 6858000"/>
              <a:gd name="csX5" fmla="*/ 27694648 w 27694648"/>
              <a:gd name="csY5" fmla="*/ 0 h 6858000"/>
              <a:gd name="csX6" fmla="*/ 27694648 w 27694648"/>
              <a:gd name="csY6" fmla="*/ 6858000 h 6858000"/>
              <a:gd name="csX7" fmla="*/ 0 w 27694648"/>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7694648" h="6858000">
                <a:moveTo>
                  <a:pt x="15461920" y="1600200"/>
                </a:moveTo>
                <a:lnTo>
                  <a:pt x="15461920" y="5852160"/>
                </a:lnTo>
                <a:lnTo>
                  <a:pt x="17586687" y="5852160"/>
                </a:lnTo>
                <a:lnTo>
                  <a:pt x="17586687" y="1600200"/>
                </a:lnTo>
                <a:close/>
                <a:moveTo>
                  <a:pt x="0" y="0"/>
                </a:moveTo>
                <a:lnTo>
                  <a:pt x="27694648" y="0"/>
                </a:lnTo>
                <a:lnTo>
                  <a:pt x="27694648" y="6858000"/>
                </a:lnTo>
                <a:lnTo>
                  <a:pt x="0" y="6858000"/>
                </a:lnTo>
                <a:close/>
              </a:path>
            </a:pathLst>
          </a:custGeom>
          <a:solidFill>
            <a:srgbClr val="F96167">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4" name="Text 22"/>
          <p:cNvSpPr/>
          <p:nvPr/>
        </p:nvSpPr>
        <p:spPr>
          <a:xfrm>
            <a:off x="2780149"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Celiac Disease Detection</a:t>
            </a:r>
            <a:endParaRPr lang="en-US" sz="1250" dirty="0"/>
          </a:p>
        </p:txBody>
      </p:sp>
      <p:sp>
        <p:nvSpPr>
          <p:cNvPr id="25" name="Text 23"/>
          <p:cNvSpPr/>
          <p:nvPr/>
        </p:nvSpPr>
        <p:spPr>
          <a:xfrm>
            <a:off x="2780149"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Detects celiac risk from immunological markers (IgA, IgG, IgM) and clinical symptoms (diarrhoea, abdominal pain, short stature, sticky stool, weight loss).</a:t>
            </a:r>
            <a:endParaRPr lang="en-US" sz="1050" dirty="0"/>
          </a:p>
        </p:txBody>
      </p:sp>
      <p:sp>
        <p:nvSpPr>
          <p:cNvPr id="26" name="Shape 24"/>
          <p:cNvSpPr/>
          <p:nvPr/>
        </p:nvSpPr>
        <p:spPr>
          <a:xfrm>
            <a:off x="2780149" y="3892357"/>
            <a:ext cx="1947703" cy="36576"/>
          </a:xfrm>
          <a:prstGeom prst="rect">
            <a:avLst/>
          </a:prstGeom>
          <a:solidFill>
            <a:srgbClr val="E0DEEF"/>
          </a:solidFill>
          <a:ln w="12700">
            <a:solidFill>
              <a:srgbClr val="333333"/>
            </a:solidFill>
            <a:prstDash val="solid"/>
          </a:ln>
        </p:spPr>
      </p:sp>
      <p:sp>
        <p:nvSpPr>
          <p:cNvPr id="27" name="Text 25"/>
          <p:cNvSpPr/>
          <p:nvPr/>
        </p:nvSpPr>
        <p:spPr>
          <a:xfrm>
            <a:off x="2780149"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28" name="Text 26"/>
          <p:cNvSpPr/>
          <p:nvPr/>
        </p:nvSpPr>
        <p:spPr>
          <a:xfrm>
            <a:off x="3356221"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Random Forest Classifier</a:t>
            </a:r>
            <a:endParaRPr lang="en-US" sz="900" dirty="0"/>
          </a:p>
        </p:txBody>
      </p:sp>
      <p:sp>
        <p:nvSpPr>
          <p:cNvPr id="29" name="Text 27"/>
          <p:cNvSpPr/>
          <p:nvPr/>
        </p:nvSpPr>
        <p:spPr>
          <a:xfrm>
            <a:off x="2780149"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30" name="Text 28"/>
          <p:cNvSpPr/>
          <p:nvPr/>
        </p:nvSpPr>
        <p:spPr>
          <a:xfrm>
            <a:off x="3356221"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Clinical dataset · IgA / IgG / IgM markers</a:t>
            </a:r>
            <a:endParaRPr lang="en-US" sz="900" dirty="0"/>
          </a:p>
        </p:txBody>
      </p:sp>
      <p:sp>
        <p:nvSpPr>
          <p:cNvPr id="34" name="Shape 32"/>
          <p:cNvSpPr/>
          <p:nvPr/>
        </p:nvSpPr>
        <p:spPr>
          <a:xfrm>
            <a:off x="4947465" y="1600200"/>
            <a:ext cx="2124767" cy="502920"/>
          </a:xfrm>
          <a:prstGeom prst="rect">
            <a:avLst/>
          </a:prstGeom>
          <a:solidFill>
            <a:srgbClr val="F5A05A"/>
          </a:solidFill>
          <a:ln w="12700">
            <a:solidFill>
              <a:srgbClr val="333333"/>
            </a:solidFill>
            <a:prstDash val="solid"/>
          </a:ln>
        </p:spPr>
      </p:sp>
      <p:sp>
        <p:nvSpPr>
          <p:cNvPr id="35" name="Text 33"/>
          <p:cNvSpPr/>
          <p:nvPr/>
        </p:nvSpPr>
        <p:spPr>
          <a:xfrm>
            <a:off x="5057193"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31" name="Text 29"/>
          <p:cNvSpPr/>
          <p:nvPr/>
        </p:nvSpPr>
        <p:spPr>
          <a:xfrm>
            <a:off x="2780149" y="4681728"/>
            <a:ext cx="516436"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Result:</a:t>
            </a:r>
            <a:endParaRPr lang="en-US" sz="900" dirty="0"/>
          </a:p>
        </p:txBody>
      </p:sp>
      <p:sp>
        <p:nvSpPr>
          <p:cNvPr id="32" name="Text 30"/>
          <p:cNvSpPr/>
          <p:nvPr/>
        </p:nvSpPr>
        <p:spPr>
          <a:xfrm>
            <a:off x="3356221" y="4681728"/>
            <a:ext cx="1482910"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High precision on symptom clusters</a:t>
            </a:r>
            <a:endParaRPr lang="en-US" sz="900" dirty="0"/>
          </a:p>
        </p:txBody>
      </p:sp>
      <p:sp>
        <p:nvSpPr>
          <p:cNvPr id="36" name="Text 34"/>
          <p:cNvSpPr/>
          <p:nvPr/>
        </p:nvSpPr>
        <p:spPr>
          <a:xfrm>
            <a:off x="5057193"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Child Mortality Predictor</a:t>
            </a:r>
            <a:endParaRPr lang="en-US" sz="1250" dirty="0"/>
          </a:p>
        </p:txBody>
      </p:sp>
      <p:sp>
        <p:nvSpPr>
          <p:cNvPr id="37" name="Text 35"/>
          <p:cNvSpPr/>
          <p:nvPr/>
        </p:nvSpPr>
        <p:spPr>
          <a:xfrm>
            <a:off x="5057193"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Estimates child mortality probability from 30 socioeconomic, immunisation, maternal health and sanitation indicators collected from India's NFHS health survey.</a:t>
            </a:r>
            <a:endParaRPr lang="en-US" sz="1050" dirty="0"/>
          </a:p>
        </p:txBody>
      </p:sp>
      <p:sp>
        <p:nvSpPr>
          <p:cNvPr id="38" name="Shape 36"/>
          <p:cNvSpPr/>
          <p:nvPr/>
        </p:nvSpPr>
        <p:spPr>
          <a:xfrm>
            <a:off x="5057193" y="3892357"/>
            <a:ext cx="1947703" cy="36576"/>
          </a:xfrm>
          <a:prstGeom prst="rect">
            <a:avLst/>
          </a:prstGeom>
          <a:solidFill>
            <a:srgbClr val="E0DEEF"/>
          </a:solidFill>
          <a:ln w="12700">
            <a:solidFill>
              <a:srgbClr val="333333"/>
            </a:solidFill>
            <a:prstDash val="solid"/>
          </a:ln>
        </p:spPr>
      </p:sp>
      <p:sp>
        <p:nvSpPr>
          <p:cNvPr id="39" name="Text 37"/>
          <p:cNvSpPr/>
          <p:nvPr/>
        </p:nvSpPr>
        <p:spPr>
          <a:xfrm>
            <a:off x="5057193"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40" name="Text 38"/>
          <p:cNvSpPr/>
          <p:nvPr/>
        </p:nvSpPr>
        <p:spPr>
          <a:xfrm>
            <a:off x="5633265"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Gradient Boosting Classifier</a:t>
            </a:r>
            <a:endParaRPr lang="en-US" sz="900" dirty="0"/>
          </a:p>
        </p:txBody>
      </p:sp>
      <p:sp>
        <p:nvSpPr>
          <p:cNvPr id="41" name="Text 39"/>
          <p:cNvSpPr/>
          <p:nvPr/>
        </p:nvSpPr>
        <p:spPr>
          <a:xfrm>
            <a:off x="5057193"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42" name="Text 40"/>
          <p:cNvSpPr/>
          <p:nvPr/>
        </p:nvSpPr>
        <p:spPr>
          <a:xfrm>
            <a:off x="5633265"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NFHS survey · 30 features · Indian states</a:t>
            </a:r>
            <a:endParaRPr lang="en-US" sz="900" dirty="0"/>
          </a:p>
        </p:txBody>
      </p:sp>
      <p:sp>
        <p:nvSpPr>
          <p:cNvPr id="46" name="Shape 44"/>
          <p:cNvSpPr/>
          <p:nvPr/>
        </p:nvSpPr>
        <p:spPr>
          <a:xfrm>
            <a:off x="9597659" y="1600200"/>
            <a:ext cx="2124767" cy="502920"/>
          </a:xfrm>
          <a:prstGeom prst="rect">
            <a:avLst/>
          </a:prstGeom>
          <a:solidFill>
            <a:srgbClr val="8B7EC8"/>
          </a:solidFill>
          <a:ln w="12700">
            <a:solidFill>
              <a:srgbClr val="333333"/>
            </a:solidFill>
            <a:prstDash val="solid"/>
          </a:ln>
        </p:spPr>
      </p:sp>
      <p:sp>
        <p:nvSpPr>
          <p:cNvPr id="47" name="Text 45"/>
          <p:cNvSpPr/>
          <p:nvPr/>
        </p:nvSpPr>
        <p:spPr>
          <a:xfrm>
            <a:off x="9707387"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3" name="Text 41"/>
          <p:cNvSpPr/>
          <p:nvPr/>
        </p:nvSpPr>
        <p:spPr>
          <a:xfrm>
            <a:off x="5057193" y="4681728"/>
            <a:ext cx="516436"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Result:</a:t>
            </a:r>
            <a:endParaRPr lang="en-US" sz="900" dirty="0"/>
          </a:p>
        </p:txBody>
      </p:sp>
      <p:sp>
        <p:nvSpPr>
          <p:cNvPr id="44" name="Text 42"/>
          <p:cNvSpPr/>
          <p:nvPr/>
        </p:nvSpPr>
        <p:spPr>
          <a:xfrm>
            <a:off x="5633265" y="4681728"/>
            <a:ext cx="1482910"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Calibrated probability output</a:t>
            </a:r>
            <a:endParaRPr lang="en-US" sz="900" dirty="0"/>
          </a:p>
        </p:txBody>
      </p:sp>
      <p:sp>
        <p:nvSpPr>
          <p:cNvPr id="48" name="Text 46"/>
          <p:cNvSpPr/>
          <p:nvPr/>
        </p:nvSpPr>
        <p:spPr>
          <a:xfrm>
            <a:off x="9707387"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NurtureAI Chatbot</a:t>
            </a:r>
            <a:endParaRPr lang="en-US" sz="1250" dirty="0"/>
          </a:p>
        </p:txBody>
      </p:sp>
      <p:sp>
        <p:nvSpPr>
          <p:cNvPr id="49" name="Text 47"/>
          <p:cNvSpPr/>
          <p:nvPr/>
        </p:nvSpPr>
        <p:spPr>
          <a:xfrm>
            <a:off x="9707387"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A Retrieval-Augmented Generation chatbot that answers parenting questions, explains model predictions in plain language, and provides evidence-based guidance.</a:t>
            </a:r>
            <a:endParaRPr lang="en-US" sz="1050" dirty="0"/>
          </a:p>
        </p:txBody>
      </p:sp>
      <p:sp>
        <p:nvSpPr>
          <p:cNvPr id="50" name="Shape 48"/>
          <p:cNvSpPr/>
          <p:nvPr/>
        </p:nvSpPr>
        <p:spPr>
          <a:xfrm>
            <a:off x="9707387" y="3892357"/>
            <a:ext cx="1947703" cy="36576"/>
          </a:xfrm>
          <a:prstGeom prst="rect">
            <a:avLst/>
          </a:prstGeom>
          <a:solidFill>
            <a:srgbClr val="E0DEEF"/>
          </a:solidFill>
          <a:ln w="12700">
            <a:solidFill>
              <a:srgbClr val="333333"/>
            </a:solidFill>
            <a:prstDash val="solid"/>
          </a:ln>
        </p:spPr>
      </p:sp>
      <p:sp>
        <p:nvSpPr>
          <p:cNvPr id="51" name="Text 49"/>
          <p:cNvSpPr/>
          <p:nvPr/>
        </p:nvSpPr>
        <p:spPr>
          <a:xfrm>
            <a:off x="9707387"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52" name="Text 50"/>
          <p:cNvSpPr/>
          <p:nvPr/>
        </p:nvSpPr>
        <p:spPr>
          <a:xfrm>
            <a:off x="10283459"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RAG · ChromaDB · LLM backbone</a:t>
            </a:r>
            <a:endParaRPr lang="en-US" sz="900" dirty="0"/>
          </a:p>
        </p:txBody>
      </p:sp>
      <p:sp>
        <p:nvSpPr>
          <p:cNvPr id="53" name="Text 51"/>
          <p:cNvSpPr/>
          <p:nvPr/>
        </p:nvSpPr>
        <p:spPr>
          <a:xfrm>
            <a:off x="9707387"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0" name="Shape 8"/>
          <p:cNvSpPr/>
          <p:nvPr/>
        </p:nvSpPr>
        <p:spPr>
          <a:xfrm>
            <a:off x="384048" y="1600200"/>
            <a:ext cx="2124767" cy="502920"/>
          </a:xfrm>
          <a:prstGeom prst="rect">
            <a:avLst/>
          </a:prstGeom>
          <a:solidFill>
            <a:srgbClr val="F96167"/>
          </a:solidFill>
          <a:ln w="12700">
            <a:solidFill>
              <a:srgbClr val="333333"/>
            </a:solidFill>
            <a:prstDash val="solid"/>
          </a:ln>
        </p:spPr>
      </p:sp>
      <p:sp>
        <p:nvSpPr>
          <p:cNvPr id="54" name="Text 52"/>
          <p:cNvSpPr/>
          <p:nvPr/>
        </p:nvSpPr>
        <p:spPr>
          <a:xfrm>
            <a:off x="10283459"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Open-source parenting &amp; paediatric corpus</a:t>
            </a:r>
            <a:endParaRPr lang="en-US" sz="900" dirty="0"/>
          </a:p>
        </p:txBody>
      </p:sp>
      <p:sp>
        <p:nvSpPr>
          <p:cNvPr id="55" name="Text 53"/>
          <p:cNvSpPr/>
          <p:nvPr/>
        </p:nvSpPr>
        <p:spPr>
          <a:xfrm>
            <a:off x="9707387" y="4681728"/>
            <a:ext cx="516436"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Result:</a:t>
            </a:r>
            <a:endParaRPr lang="en-US" sz="900" dirty="0"/>
          </a:p>
        </p:txBody>
      </p:sp>
      <p:sp>
        <p:nvSpPr>
          <p:cNvPr id="56" name="Text 54"/>
          <p:cNvSpPr/>
          <p:nvPr/>
        </p:nvSpPr>
        <p:spPr>
          <a:xfrm>
            <a:off x="10283459" y="4681728"/>
            <a:ext cx="1482910"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Context-aware Q&amp;A</a:t>
            </a:r>
            <a:endParaRPr lang="en-US" sz="900" dirty="0"/>
          </a:p>
        </p:txBody>
      </p:sp>
      <p:sp>
        <p:nvSpPr>
          <p:cNvPr id="2" name="Shape 0"/>
          <p:cNvSpPr/>
          <p:nvPr/>
        </p:nvSpPr>
        <p:spPr>
          <a:xfrm>
            <a:off x="10241280" y="-548640"/>
            <a:ext cx="2011680" cy="2011680"/>
          </a:xfrm>
          <a:prstGeom prst="ellipse">
            <a:avLst/>
          </a:prstGeom>
          <a:solidFill>
            <a:srgbClr val="3BBFAD">
              <a:alpha val="60000"/>
            </a:srgbClr>
          </a:solidFill>
          <a:ln w="12700">
            <a:solidFill>
              <a:srgbClr val="333333"/>
            </a:solidFill>
            <a:prstDash val="solid"/>
          </a:ln>
        </p:spPr>
      </p:sp>
      <p:sp>
        <p:nvSpPr>
          <p:cNvPr id="3" name="Shape 1"/>
          <p:cNvSpPr/>
          <p:nvPr/>
        </p:nvSpPr>
        <p:spPr>
          <a:xfrm>
            <a:off x="10789920" y="5303520"/>
            <a:ext cx="1463040" cy="1463040"/>
          </a:xfrm>
          <a:prstGeom prst="ellipse">
            <a:avLst/>
          </a:prstGeom>
          <a:solidFill>
            <a:srgbClr val="F96167">
              <a:alpha val="50000"/>
            </a:srgbClr>
          </a:solidFill>
          <a:ln w="12700">
            <a:solidFill>
              <a:srgbClr val="333333"/>
            </a:solidFill>
            <a:prstDash val="solid"/>
          </a:ln>
        </p:spPr>
      </p:sp>
      <p:sp>
        <p:nvSpPr>
          <p:cNvPr id="4" name="Shape 2"/>
          <p:cNvSpPr/>
          <p:nvPr/>
        </p:nvSpPr>
        <p:spPr>
          <a:xfrm>
            <a:off x="-457200" y="5486400"/>
            <a:ext cx="1463040" cy="1463040"/>
          </a:xfrm>
          <a:prstGeom prst="ellipse">
            <a:avLst/>
          </a:prstGeom>
          <a:solidFill>
            <a:srgbClr val="F5A05A">
              <a:alpha val="55000"/>
            </a:srgbClr>
          </a:solidFill>
          <a:ln w="12700">
            <a:solidFill>
              <a:srgbClr val="333333"/>
            </a:solidFill>
            <a:prstDash val="solid"/>
          </a:ln>
        </p:spPr>
      </p:sp>
      <p:sp>
        <p:nvSpPr>
          <p:cNvPr id="5" name="Shape 3"/>
          <p:cNvSpPr/>
          <p:nvPr/>
        </p:nvSpPr>
        <p:spPr>
          <a:xfrm>
            <a:off x="91440" y="2743200"/>
            <a:ext cx="457200" cy="457200"/>
          </a:xfrm>
          <a:prstGeom prst="ellipse">
            <a:avLst/>
          </a:prstGeom>
          <a:solidFill>
            <a:srgbClr val="8B7EC8">
              <a:alpha val="70000"/>
            </a:srgbClr>
          </a:solidFill>
          <a:ln w="12700">
            <a:solidFill>
              <a:srgbClr val="333333"/>
            </a:solidFill>
            <a:prstDash val="solid"/>
          </a:ln>
        </p:spPr>
      </p:sp>
      <p:sp>
        <p:nvSpPr>
          <p:cNvPr id="11" name="Text 9"/>
          <p:cNvSpPr/>
          <p:nvPr/>
        </p:nvSpPr>
        <p:spPr>
          <a:xfrm>
            <a:off x="493776"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502920" y="274320"/>
            <a:ext cx="9144000" cy="594360"/>
          </a:xfrm>
          <a:prstGeom prst="rect">
            <a:avLst/>
          </a:prstGeom>
          <a:noFill/>
          <a:ln/>
        </p:spPr>
        <p:txBody>
          <a:bodyPr wrap="square" rtlCol="0" anchor="ctr"/>
          <a:lstStyle/>
          <a:p>
            <a:pPr marL="0" indent="0">
              <a:buNone/>
            </a:pPr>
            <a:r>
              <a:rPr lang="en-US" sz="3200" b="1" dirty="0">
                <a:solidFill>
                  <a:srgbClr val="2E2B5F"/>
                </a:solidFill>
                <a:latin typeface="Calibri" pitchFamily="34" charset="0"/>
                <a:ea typeface="Calibri" pitchFamily="34" charset="-122"/>
                <a:cs typeface="Calibri" pitchFamily="34" charset="-120"/>
              </a:rPr>
              <a:t>Platform Overview</a:t>
            </a:r>
            <a:endParaRPr lang="en-US" sz="3200" dirty="0"/>
          </a:p>
        </p:txBody>
      </p:sp>
      <p:sp>
        <p:nvSpPr>
          <p:cNvPr id="7" name="Shape 5"/>
          <p:cNvSpPr/>
          <p:nvPr/>
        </p:nvSpPr>
        <p:spPr>
          <a:xfrm>
            <a:off x="502920" y="896112"/>
            <a:ext cx="1645920" cy="54864"/>
          </a:xfrm>
          <a:prstGeom prst="rect">
            <a:avLst/>
          </a:prstGeom>
          <a:solidFill>
            <a:srgbClr val="F96167"/>
          </a:solidFill>
          <a:ln w="12700">
            <a:solidFill>
              <a:srgbClr val="333333"/>
            </a:solidFill>
            <a:prstDash val="solid"/>
          </a:ln>
        </p:spPr>
      </p:sp>
      <p:sp>
        <p:nvSpPr>
          <p:cNvPr id="8" name="Text 6"/>
          <p:cNvSpPr/>
          <p:nvPr/>
        </p:nvSpPr>
        <p:spPr>
          <a:xfrm>
            <a:off x="502920" y="1005840"/>
            <a:ext cx="10789920" cy="457200"/>
          </a:xfrm>
          <a:prstGeom prst="rect">
            <a:avLst/>
          </a:prstGeom>
          <a:noFill/>
          <a:ln/>
        </p:spPr>
        <p:txBody>
          <a:bodyPr wrap="square" rtlCol="0" anchor="ctr"/>
          <a:lstStyle/>
          <a:p>
            <a:pPr marL="0" indent="0">
              <a:buNone/>
            </a:pPr>
            <a:r>
              <a:rPr lang="en-US" sz="1300" dirty="0">
                <a:solidFill>
                  <a:srgbClr val="6B6B8A"/>
                </a:solidFill>
                <a:latin typeface="Calibri" pitchFamily="34" charset="0"/>
                <a:ea typeface="Calibri" pitchFamily="34" charset="-122"/>
                <a:cs typeface="Calibri" pitchFamily="34" charset="-120"/>
              </a:rPr>
              <a:t>NurtureAI integrates four ML modules into a unified Flask API with a React frontend, enabling real-time predictions across multiple child health domains.</a:t>
            </a:r>
            <a:endParaRPr lang="en-US" sz="1300" dirty="0"/>
          </a:p>
        </p:txBody>
      </p:sp>
      <p:sp>
        <p:nvSpPr>
          <p:cNvPr id="12" name="Text 10"/>
          <p:cNvSpPr/>
          <p:nvPr/>
        </p:nvSpPr>
        <p:spPr>
          <a:xfrm>
            <a:off x="493776"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Behaviour &amp; Mental Health</a:t>
            </a:r>
            <a:endParaRPr lang="en-US" sz="1250" dirty="0"/>
          </a:p>
        </p:txBody>
      </p:sp>
      <p:sp>
        <p:nvSpPr>
          <p:cNvPr id="13" name="Text 11"/>
          <p:cNvSpPr/>
          <p:nvPr/>
        </p:nvSpPr>
        <p:spPr>
          <a:xfrm>
            <a:off x="493776"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Severity Impairment Index (sii 0–3) from physical health, sleep, activity &amp; fitness data. 8× better than all 9 standard classifiers.</a:t>
            </a:r>
            <a:endParaRPr lang="en-US" sz="1050" dirty="0"/>
          </a:p>
        </p:txBody>
      </p:sp>
      <p:sp>
        <p:nvSpPr>
          <p:cNvPr id="14" name="Shape 12"/>
          <p:cNvSpPr/>
          <p:nvPr/>
        </p:nvSpPr>
        <p:spPr>
          <a:xfrm>
            <a:off x="493776" y="3892357"/>
            <a:ext cx="1947703" cy="36576"/>
          </a:xfrm>
          <a:prstGeom prst="rect">
            <a:avLst/>
          </a:prstGeom>
          <a:solidFill>
            <a:srgbClr val="E0DEEF"/>
          </a:solidFill>
          <a:ln w="12700">
            <a:solidFill>
              <a:srgbClr val="333333"/>
            </a:solidFill>
            <a:prstDash val="solid"/>
          </a:ln>
        </p:spPr>
      </p:sp>
      <p:sp>
        <p:nvSpPr>
          <p:cNvPr id="15" name="Text 13"/>
          <p:cNvSpPr/>
          <p:nvPr/>
        </p:nvSpPr>
        <p:spPr>
          <a:xfrm>
            <a:off x="493776"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16" name="Text 14"/>
          <p:cNvSpPr/>
          <p:nvPr/>
        </p:nvSpPr>
        <p:spPr>
          <a:xfrm>
            <a:off x="1069848"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OrdinalGB (GradientBoosting Regressor)</a:t>
            </a:r>
            <a:endParaRPr lang="en-US" sz="900" dirty="0"/>
          </a:p>
        </p:txBody>
      </p:sp>
      <p:sp>
        <p:nvSpPr>
          <p:cNvPr id="17" name="Text 15"/>
          <p:cNvSpPr/>
          <p:nvPr/>
        </p:nvSpPr>
        <p:spPr>
          <a:xfrm>
            <a:off x="493776"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8" name="Text 16"/>
          <p:cNvSpPr/>
          <p:nvPr/>
        </p:nvSpPr>
        <p:spPr>
          <a:xfrm>
            <a:off x="1069848" y="450071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CMI-PIU · 3,900 rows · 22 features</a:t>
            </a:r>
            <a:endParaRPr lang="en-US" sz="900" dirty="0"/>
          </a:p>
        </p:txBody>
      </p:sp>
      <p:sp>
        <p:nvSpPr>
          <p:cNvPr id="71" name="Shape 44">
            <a:extLst>
              <a:ext uri="{FF2B5EF4-FFF2-40B4-BE49-F238E27FC236}">
                <a16:creationId xmlns:a16="http://schemas.microsoft.com/office/drawing/2014/main" id="{0AF659E8-68B2-179E-474A-89038EEAA8DA}"/>
              </a:ext>
            </a:extLst>
          </p:cNvPr>
          <p:cNvSpPr/>
          <p:nvPr/>
        </p:nvSpPr>
        <p:spPr>
          <a:xfrm>
            <a:off x="7255998" y="1612637"/>
            <a:ext cx="2124767" cy="502920"/>
          </a:xfrm>
          <a:prstGeom prst="rect">
            <a:avLst/>
          </a:prstGeom>
          <a:solidFill>
            <a:srgbClr val="002060"/>
          </a:solidFill>
          <a:ln w="12700">
            <a:solidFill>
              <a:srgbClr val="333333"/>
            </a:solidFill>
            <a:prstDash val="solid"/>
          </a:ln>
        </p:spPr>
      </p:sp>
      <p:sp>
        <p:nvSpPr>
          <p:cNvPr id="72" name="Text 45">
            <a:extLst>
              <a:ext uri="{FF2B5EF4-FFF2-40B4-BE49-F238E27FC236}">
                <a16:creationId xmlns:a16="http://schemas.microsoft.com/office/drawing/2014/main" id="{CA2092B5-8242-A81F-E635-D2906B4BE8F3}"/>
              </a:ext>
            </a:extLst>
          </p:cNvPr>
          <p:cNvSpPr/>
          <p:nvPr/>
        </p:nvSpPr>
        <p:spPr>
          <a:xfrm>
            <a:off x="7365726" y="1649213"/>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9" name="Text 17"/>
          <p:cNvSpPr/>
          <p:nvPr/>
        </p:nvSpPr>
        <p:spPr>
          <a:xfrm>
            <a:off x="493776" y="4681728"/>
            <a:ext cx="516436"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Result:</a:t>
            </a:r>
            <a:endParaRPr lang="en-US" sz="900" dirty="0"/>
          </a:p>
        </p:txBody>
      </p:sp>
      <p:sp>
        <p:nvSpPr>
          <p:cNvPr id="20" name="Text 18"/>
          <p:cNvSpPr/>
          <p:nvPr/>
        </p:nvSpPr>
        <p:spPr>
          <a:xfrm>
            <a:off x="1069848" y="4681728"/>
            <a:ext cx="1482910"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QWK = 0.6259 (Substantial)</a:t>
            </a:r>
            <a:endParaRPr lang="en-US" sz="900" dirty="0"/>
          </a:p>
        </p:txBody>
      </p:sp>
      <p:sp>
        <p:nvSpPr>
          <p:cNvPr id="73" name="Text 46">
            <a:extLst>
              <a:ext uri="{FF2B5EF4-FFF2-40B4-BE49-F238E27FC236}">
                <a16:creationId xmlns:a16="http://schemas.microsoft.com/office/drawing/2014/main" id="{DEBBBB0F-EB86-5A13-EB07-71F8F15A0FD8}"/>
              </a:ext>
            </a:extLst>
          </p:cNvPr>
          <p:cNvSpPr/>
          <p:nvPr/>
        </p:nvSpPr>
        <p:spPr>
          <a:xfrm>
            <a:off x="7365726" y="2188709"/>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Adult </a:t>
            </a:r>
            <a:r>
              <a:rPr lang="en-US" sz="1250" b="1" dirty="0" err="1">
                <a:solidFill>
                  <a:srgbClr val="2E2B5F"/>
                </a:solidFill>
                <a:latin typeface="Calibri" pitchFamily="34" charset="0"/>
                <a:ea typeface="Calibri" pitchFamily="34" charset="-122"/>
                <a:cs typeface="Calibri" pitchFamily="34" charset="-120"/>
              </a:rPr>
              <a:t>Behaviour</a:t>
            </a:r>
            <a:r>
              <a:rPr lang="en-US" sz="1250" b="1" dirty="0">
                <a:solidFill>
                  <a:srgbClr val="2E2B5F"/>
                </a:solidFill>
                <a:latin typeface="Calibri" pitchFamily="34" charset="0"/>
                <a:ea typeface="Calibri" pitchFamily="34" charset="-122"/>
                <a:cs typeface="Calibri" pitchFamily="34" charset="-120"/>
              </a:rPr>
              <a:t> Analysis</a:t>
            </a:r>
            <a:endParaRPr lang="en-US" sz="1250" dirty="0"/>
          </a:p>
        </p:txBody>
      </p:sp>
      <p:sp>
        <p:nvSpPr>
          <p:cNvPr id="74" name="Text 47">
            <a:extLst>
              <a:ext uri="{FF2B5EF4-FFF2-40B4-BE49-F238E27FC236}">
                <a16:creationId xmlns:a16="http://schemas.microsoft.com/office/drawing/2014/main" id="{068E80EE-F5B4-F0E3-9FC4-B9D1FC145E86}"/>
              </a:ext>
            </a:extLst>
          </p:cNvPr>
          <p:cNvSpPr/>
          <p:nvPr/>
        </p:nvSpPr>
        <p:spPr>
          <a:xfrm>
            <a:off x="7365726" y="2645909"/>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the </a:t>
            </a:r>
            <a:r>
              <a:rPr lang="en-US" sz="1050" dirty="0" err="1">
                <a:solidFill>
                  <a:srgbClr val="6B6B8A"/>
                </a:solidFill>
                <a:latin typeface="Calibri" pitchFamily="34" charset="0"/>
                <a:ea typeface="Calibri" pitchFamily="34" charset="-122"/>
                <a:cs typeface="Calibri" pitchFamily="34" charset="-120"/>
              </a:rPr>
              <a:t>behaviour</a:t>
            </a:r>
            <a:r>
              <a:rPr lang="en-US" sz="1050" dirty="0">
                <a:solidFill>
                  <a:srgbClr val="6B6B8A"/>
                </a:solidFill>
                <a:latin typeface="Calibri" pitchFamily="34" charset="0"/>
                <a:ea typeface="Calibri" pitchFamily="34" charset="-122"/>
                <a:cs typeface="Calibri" pitchFamily="34" charset="-120"/>
              </a:rPr>
              <a:t> of the parenting ability to classify as 3 classes of parenting risk prediction – Healthy, Moderate, and High risk</a:t>
            </a:r>
            <a:endParaRPr lang="en-US" sz="1050" dirty="0"/>
          </a:p>
        </p:txBody>
      </p:sp>
      <p:sp>
        <p:nvSpPr>
          <p:cNvPr id="75" name="Shape 48">
            <a:extLst>
              <a:ext uri="{FF2B5EF4-FFF2-40B4-BE49-F238E27FC236}">
                <a16:creationId xmlns:a16="http://schemas.microsoft.com/office/drawing/2014/main" id="{3EA7C4D5-CD18-4A23-1898-42F2992AA3F3}"/>
              </a:ext>
            </a:extLst>
          </p:cNvPr>
          <p:cNvSpPr/>
          <p:nvPr/>
        </p:nvSpPr>
        <p:spPr>
          <a:xfrm>
            <a:off x="7365726" y="3904794"/>
            <a:ext cx="1947703" cy="36576"/>
          </a:xfrm>
          <a:prstGeom prst="rect">
            <a:avLst/>
          </a:prstGeom>
          <a:solidFill>
            <a:srgbClr val="E0DEEF"/>
          </a:solidFill>
          <a:ln w="12700">
            <a:solidFill>
              <a:srgbClr val="333333"/>
            </a:solidFill>
            <a:prstDash val="solid"/>
          </a:ln>
        </p:spPr>
      </p:sp>
      <p:sp>
        <p:nvSpPr>
          <p:cNvPr id="76" name="Text 49">
            <a:extLst>
              <a:ext uri="{FF2B5EF4-FFF2-40B4-BE49-F238E27FC236}">
                <a16:creationId xmlns:a16="http://schemas.microsoft.com/office/drawing/2014/main" id="{C6F783B2-8CCC-A84E-3651-EA08B8A2A45A}"/>
              </a:ext>
            </a:extLst>
          </p:cNvPr>
          <p:cNvSpPr/>
          <p:nvPr/>
        </p:nvSpPr>
        <p:spPr>
          <a:xfrm>
            <a:off x="7365726" y="414552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77" name="Text 50">
            <a:extLst>
              <a:ext uri="{FF2B5EF4-FFF2-40B4-BE49-F238E27FC236}">
                <a16:creationId xmlns:a16="http://schemas.microsoft.com/office/drawing/2014/main" id="{1DB7A613-C82A-2FAE-7B08-92F92A606661}"/>
              </a:ext>
            </a:extLst>
          </p:cNvPr>
          <p:cNvSpPr/>
          <p:nvPr/>
        </p:nvSpPr>
        <p:spPr>
          <a:xfrm>
            <a:off x="7941798" y="4145525"/>
            <a:ext cx="1482910" cy="256032"/>
          </a:xfrm>
          <a:prstGeom prst="rect">
            <a:avLst/>
          </a:prstGeom>
          <a:noFill/>
          <a:ln/>
        </p:spPr>
        <p:txBody>
          <a:bodyPr wrap="square" rtlCol="0" anchor="ctr"/>
          <a:lstStyle/>
          <a:p>
            <a:pPr marL="0" indent="0">
              <a:buNone/>
            </a:pPr>
            <a:r>
              <a:rPr lang="en-US" sz="900" dirty="0" err="1">
                <a:solidFill>
                  <a:srgbClr val="6B6B8A"/>
                </a:solidFill>
                <a:latin typeface="Calibri" pitchFamily="34" charset="0"/>
                <a:ea typeface="Calibri" pitchFamily="34" charset="-122"/>
                <a:cs typeface="Calibri" pitchFamily="34" charset="-120"/>
              </a:rPr>
              <a:t>RandomForestClassifier</a:t>
            </a:r>
            <a:endParaRPr lang="en-US" sz="900" dirty="0"/>
          </a:p>
        </p:txBody>
      </p:sp>
      <p:sp>
        <p:nvSpPr>
          <p:cNvPr id="78" name="Text 51">
            <a:extLst>
              <a:ext uri="{FF2B5EF4-FFF2-40B4-BE49-F238E27FC236}">
                <a16:creationId xmlns:a16="http://schemas.microsoft.com/office/drawing/2014/main" id="{AE3D9A5F-2801-F319-876F-59F5B5E1D9D4}"/>
              </a:ext>
            </a:extLst>
          </p:cNvPr>
          <p:cNvSpPr/>
          <p:nvPr/>
        </p:nvSpPr>
        <p:spPr>
          <a:xfrm>
            <a:off x="7365726" y="441984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79" name="Text 52">
            <a:extLst>
              <a:ext uri="{FF2B5EF4-FFF2-40B4-BE49-F238E27FC236}">
                <a16:creationId xmlns:a16="http://schemas.microsoft.com/office/drawing/2014/main" id="{ACB89C41-06AC-26D0-CFC2-04C50ECEDD88}"/>
              </a:ext>
            </a:extLst>
          </p:cNvPr>
          <p:cNvSpPr/>
          <p:nvPr/>
        </p:nvSpPr>
        <p:spPr>
          <a:xfrm>
            <a:off x="7941798" y="441984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BRFSS</a:t>
            </a:r>
            <a:endParaRPr lang="en-US" sz="900" dirty="0"/>
          </a:p>
        </p:txBody>
      </p:sp>
      <p:sp>
        <p:nvSpPr>
          <p:cNvPr id="80" name="Text 53">
            <a:extLst>
              <a:ext uri="{FF2B5EF4-FFF2-40B4-BE49-F238E27FC236}">
                <a16:creationId xmlns:a16="http://schemas.microsoft.com/office/drawing/2014/main" id="{DF230987-53AD-5E93-7E6F-9B90E38EDC10}"/>
              </a:ext>
            </a:extLst>
          </p:cNvPr>
          <p:cNvSpPr/>
          <p:nvPr/>
        </p:nvSpPr>
        <p:spPr>
          <a:xfrm>
            <a:off x="7365726" y="4694165"/>
            <a:ext cx="516436"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Result</a:t>
            </a:r>
            <a:r>
              <a:rPr lang="en-US" sz="900" b="1" dirty="0">
                <a:solidFill>
                  <a:srgbClr val="8B7EC8"/>
                </a:solidFill>
                <a:latin typeface="Calibri" pitchFamily="34" charset="0"/>
                <a:ea typeface="Calibri" pitchFamily="34" charset="-122"/>
                <a:cs typeface="Calibri" pitchFamily="34" charset="-120"/>
              </a:rPr>
              <a:t>:</a:t>
            </a:r>
            <a:endParaRPr lang="en-US" sz="900" dirty="0"/>
          </a:p>
        </p:txBody>
      </p:sp>
      <p:sp>
        <p:nvSpPr>
          <p:cNvPr id="81" name="Text 54">
            <a:extLst>
              <a:ext uri="{FF2B5EF4-FFF2-40B4-BE49-F238E27FC236}">
                <a16:creationId xmlns:a16="http://schemas.microsoft.com/office/drawing/2014/main" id="{A0E8D09B-C3FD-398C-24A3-B1AB2E4DF0FB}"/>
              </a:ext>
            </a:extLst>
          </p:cNvPr>
          <p:cNvSpPr/>
          <p:nvPr/>
        </p:nvSpPr>
        <p:spPr>
          <a:xfrm>
            <a:off x="7941798" y="4694165"/>
            <a:ext cx="1482910"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Parenting Environment Analysis</a:t>
            </a:r>
            <a:endParaRPr lang="en-US" sz="900" dirty="0">
              <a:solidFill>
                <a:srgbClr val="002060"/>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0F8"/>
        </a:solidFill>
        <a:effectLst/>
      </p:bgPr>
    </p:bg>
    <p:spTree>
      <p:nvGrpSpPr>
        <p:cNvPr id="1" name="">
          <a:extLst>
            <a:ext uri="{FF2B5EF4-FFF2-40B4-BE49-F238E27FC236}">
              <a16:creationId xmlns:a16="http://schemas.microsoft.com/office/drawing/2014/main" id="{9E8FAB85-C5C1-7CAF-3572-29BCAC2CBBB7}"/>
            </a:ext>
          </a:extLst>
        </p:cNvPr>
        <p:cNvGrpSpPr/>
        <p:nvPr/>
      </p:nvGrpSpPr>
      <p:grpSpPr>
        <a:xfrm>
          <a:off x="0" y="0"/>
          <a:ext cx="0" cy="0"/>
          <a:chOff x="0" y="0"/>
          <a:chExt cx="0" cy="0"/>
        </a:xfrm>
      </p:grpSpPr>
      <p:sp>
        <p:nvSpPr>
          <p:cNvPr id="21" name="Shape 19">
            <a:extLst>
              <a:ext uri="{FF2B5EF4-FFF2-40B4-BE49-F238E27FC236}">
                <a16:creationId xmlns:a16="http://schemas.microsoft.com/office/drawing/2014/main" id="{92ACA139-CFBF-F47B-B783-220937739C85}"/>
              </a:ext>
            </a:extLst>
          </p:cNvPr>
          <p:cNvSpPr/>
          <p:nvPr/>
        </p:nvSpPr>
        <p:spPr>
          <a:xfrm>
            <a:off x="2670421" y="1600200"/>
            <a:ext cx="2124767" cy="4251960"/>
          </a:xfrm>
          <a:prstGeom prst="rect">
            <a:avLst/>
          </a:prstGeom>
          <a:solidFill>
            <a:srgbClr val="FFFFFF"/>
          </a:solidFill>
          <a:ln w="12700">
            <a:solidFill>
              <a:srgbClr val="E0DEEF"/>
            </a:solidFill>
            <a:prstDash val="solid"/>
          </a:ln>
        </p:spPr>
      </p:sp>
      <p:sp>
        <p:nvSpPr>
          <p:cNvPr id="33" name="Shape 31">
            <a:extLst>
              <a:ext uri="{FF2B5EF4-FFF2-40B4-BE49-F238E27FC236}">
                <a16:creationId xmlns:a16="http://schemas.microsoft.com/office/drawing/2014/main" id="{FB0678D3-50DA-481F-8DA2-70E2B5337550}"/>
              </a:ext>
            </a:extLst>
          </p:cNvPr>
          <p:cNvSpPr/>
          <p:nvPr/>
        </p:nvSpPr>
        <p:spPr>
          <a:xfrm>
            <a:off x="4947465" y="1600200"/>
            <a:ext cx="2124767" cy="4251960"/>
          </a:xfrm>
          <a:prstGeom prst="rect">
            <a:avLst/>
          </a:prstGeom>
          <a:solidFill>
            <a:srgbClr val="FFFFFF"/>
          </a:solidFill>
          <a:ln w="12700">
            <a:solidFill>
              <a:srgbClr val="E0DEEF"/>
            </a:solidFill>
            <a:prstDash val="solid"/>
          </a:ln>
        </p:spPr>
      </p:sp>
      <p:sp>
        <p:nvSpPr>
          <p:cNvPr id="45" name="Shape 43">
            <a:extLst>
              <a:ext uri="{FF2B5EF4-FFF2-40B4-BE49-F238E27FC236}">
                <a16:creationId xmlns:a16="http://schemas.microsoft.com/office/drawing/2014/main" id="{81517905-C313-D724-57B6-7E182C44D25D}"/>
              </a:ext>
            </a:extLst>
          </p:cNvPr>
          <p:cNvSpPr/>
          <p:nvPr/>
        </p:nvSpPr>
        <p:spPr>
          <a:xfrm>
            <a:off x="9597659" y="1600200"/>
            <a:ext cx="2124767" cy="4251960"/>
          </a:xfrm>
          <a:prstGeom prst="rect">
            <a:avLst/>
          </a:prstGeom>
          <a:solidFill>
            <a:srgbClr val="FFFFFF"/>
          </a:solidFill>
          <a:ln w="12700">
            <a:solidFill>
              <a:srgbClr val="E0DEEF"/>
            </a:solidFill>
            <a:prstDash val="solid"/>
          </a:ln>
        </p:spPr>
      </p:sp>
      <p:sp>
        <p:nvSpPr>
          <p:cNvPr id="70" name="Shape 43">
            <a:extLst>
              <a:ext uri="{FF2B5EF4-FFF2-40B4-BE49-F238E27FC236}">
                <a16:creationId xmlns:a16="http://schemas.microsoft.com/office/drawing/2014/main" id="{223DFDEF-61EA-EC03-EA7E-E9219E5FF24C}"/>
              </a:ext>
            </a:extLst>
          </p:cNvPr>
          <p:cNvSpPr/>
          <p:nvPr/>
        </p:nvSpPr>
        <p:spPr>
          <a:xfrm>
            <a:off x="7255998" y="1612637"/>
            <a:ext cx="2124767" cy="4251960"/>
          </a:xfrm>
          <a:prstGeom prst="rect">
            <a:avLst/>
          </a:prstGeom>
          <a:solidFill>
            <a:srgbClr val="FFFFFF"/>
          </a:solidFill>
          <a:ln w="12700">
            <a:solidFill>
              <a:srgbClr val="E0DEEF"/>
            </a:solidFill>
            <a:prstDash val="solid"/>
          </a:ln>
        </p:spPr>
      </p:sp>
      <p:sp>
        <p:nvSpPr>
          <p:cNvPr id="22" name="Shape 20">
            <a:extLst>
              <a:ext uri="{FF2B5EF4-FFF2-40B4-BE49-F238E27FC236}">
                <a16:creationId xmlns:a16="http://schemas.microsoft.com/office/drawing/2014/main" id="{7451CD9A-D700-81A3-852E-9AD93CB088A9}"/>
              </a:ext>
            </a:extLst>
          </p:cNvPr>
          <p:cNvSpPr/>
          <p:nvPr/>
        </p:nvSpPr>
        <p:spPr>
          <a:xfrm>
            <a:off x="2670421" y="1600200"/>
            <a:ext cx="2124767" cy="502920"/>
          </a:xfrm>
          <a:prstGeom prst="rect">
            <a:avLst/>
          </a:prstGeom>
          <a:solidFill>
            <a:srgbClr val="3BBFAD"/>
          </a:solidFill>
          <a:ln w="12700">
            <a:solidFill>
              <a:srgbClr val="333333"/>
            </a:solidFill>
            <a:prstDash val="solid"/>
          </a:ln>
        </p:spPr>
      </p:sp>
      <p:sp>
        <p:nvSpPr>
          <p:cNvPr id="23" name="Text 21">
            <a:extLst>
              <a:ext uri="{FF2B5EF4-FFF2-40B4-BE49-F238E27FC236}">
                <a16:creationId xmlns:a16="http://schemas.microsoft.com/office/drawing/2014/main" id="{077FF04F-0C75-8517-E176-C5F05F6FE36A}"/>
              </a:ext>
            </a:extLst>
          </p:cNvPr>
          <p:cNvSpPr/>
          <p:nvPr/>
        </p:nvSpPr>
        <p:spPr>
          <a:xfrm>
            <a:off x="2780149"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7" name="Shape 19">
            <a:extLst>
              <a:ext uri="{FF2B5EF4-FFF2-40B4-BE49-F238E27FC236}">
                <a16:creationId xmlns:a16="http://schemas.microsoft.com/office/drawing/2014/main" id="{270111F3-5463-6007-7B49-8FCF7FF49CD0}"/>
              </a:ext>
            </a:extLst>
          </p:cNvPr>
          <p:cNvSpPr/>
          <p:nvPr/>
        </p:nvSpPr>
        <p:spPr>
          <a:xfrm>
            <a:off x="370443" y="1600200"/>
            <a:ext cx="2124767" cy="4251960"/>
          </a:xfrm>
          <a:prstGeom prst="rect">
            <a:avLst/>
          </a:prstGeom>
          <a:solidFill>
            <a:srgbClr val="FFFFFF"/>
          </a:solidFill>
          <a:ln w="12700">
            <a:solidFill>
              <a:srgbClr val="E0DEEF"/>
            </a:solidFill>
            <a:prstDash val="solid"/>
          </a:ln>
        </p:spPr>
      </p:sp>
      <p:sp>
        <p:nvSpPr>
          <p:cNvPr id="86" name="Freeform: Shape 85">
            <a:extLst>
              <a:ext uri="{FF2B5EF4-FFF2-40B4-BE49-F238E27FC236}">
                <a16:creationId xmlns:a16="http://schemas.microsoft.com/office/drawing/2014/main" id="{32AFA864-C44B-5DF9-374A-1E7024755EA8}"/>
              </a:ext>
            </a:extLst>
          </p:cNvPr>
          <p:cNvSpPr/>
          <p:nvPr/>
        </p:nvSpPr>
        <p:spPr>
          <a:xfrm>
            <a:off x="-12777476" y="0"/>
            <a:ext cx="27694648" cy="6858000"/>
          </a:xfrm>
          <a:custGeom>
            <a:avLst/>
            <a:gdLst>
              <a:gd name="csX0" fmla="*/ 15461920 w 27694648"/>
              <a:gd name="csY0" fmla="*/ 1600200 h 6858000"/>
              <a:gd name="csX1" fmla="*/ 15461920 w 27694648"/>
              <a:gd name="csY1" fmla="*/ 5852160 h 6858000"/>
              <a:gd name="csX2" fmla="*/ 17586687 w 27694648"/>
              <a:gd name="csY2" fmla="*/ 5852160 h 6858000"/>
              <a:gd name="csX3" fmla="*/ 17586687 w 27694648"/>
              <a:gd name="csY3" fmla="*/ 1600200 h 6858000"/>
              <a:gd name="csX4" fmla="*/ 0 w 27694648"/>
              <a:gd name="csY4" fmla="*/ 0 h 6858000"/>
              <a:gd name="csX5" fmla="*/ 27694648 w 27694648"/>
              <a:gd name="csY5" fmla="*/ 0 h 6858000"/>
              <a:gd name="csX6" fmla="*/ 27694648 w 27694648"/>
              <a:gd name="csY6" fmla="*/ 6858000 h 6858000"/>
              <a:gd name="csX7" fmla="*/ 0 w 27694648"/>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7694648" h="6858000">
                <a:moveTo>
                  <a:pt x="15461920" y="1600200"/>
                </a:moveTo>
                <a:lnTo>
                  <a:pt x="15461920" y="5852160"/>
                </a:lnTo>
                <a:lnTo>
                  <a:pt x="17586687" y="5852160"/>
                </a:lnTo>
                <a:lnTo>
                  <a:pt x="17586687" y="1600200"/>
                </a:lnTo>
                <a:close/>
                <a:moveTo>
                  <a:pt x="0" y="0"/>
                </a:moveTo>
                <a:lnTo>
                  <a:pt x="27694648" y="0"/>
                </a:lnTo>
                <a:lnTo>
                  <a:pt x="27694648" y="6858000"/>
                </a:lnTo>
                <a:lnTo>
                  <a:pt x="0" y="6858000"/>
                </a:lnTo>
                <a:close/>
              </a:path>
            </a:pathLst>
          </a:custGeom>
          <a:solidFill>
            <a:srgbClr val="3BBFAD">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4" name="Text 22">
            <a:extLst>
              <a:ext uri="{FF2B5EF4-FFF2-40B4-BE49-F238E27FC236}">
                <a16:creationId xmlns:a16="http://schemas.microsoft.com/office/drawing/2014/main" id="{3733A861-5C6D-EBEC-6C57-AD867057F835}"/>
              </a:ext>
            </a:extLst>
          </p:cNvPr>
          <p:cNvSpPr/>
          <p:nvPr/>
        </p:nvSpPr>
        <p:spPr>
          <a:xfrm>
            <a:off x="2780149"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Celiac Disease Detection</a:t>
            </a:r>
            <a:endParaRPr lang="en-US" sz="1250" dirty="0"/>
          </a:p>
        </p:txBody>
      </p:sp>
      <p:sp>
        <p:nvSpPr>
          <p:cNvPr id="25" name="Text 23">
            <a:extLst>
              <a:ext uri="{FF2B5EF4-FFF2-40B4-BE49-F238E27FC236}">
                <a16:creationId xmlns:a16="http://schemas.microsoft.com/office/drawing/2014/main" id="{358179AC-5499-5F4A-9398-EB4117DF2235}"/>
              </a:ext>
            </a:extLst>
          </p:cNvPr>
          <p:cNvSpPr/>
          <p:nvPr/>
        </p:nvSpPr>
        <p:spPr>
          <a:xfrm>
            <a:off x="2780149"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Detects celiac risk from immunological markers (IgA, IgG, IgM) and clinical symptoms (diarrhoea, abdominal pain, short stature, sticky stool, weight loss).</a:t>
            </a:r>
            <a:endParaRPr lang="en-US" sz="1050" dirty="0"/>
          </a:p>
        </p:txBody>
      </p:sp>
      <p:sp>
        <p:nvSpPr>
          <p:cNvPr id="26" name="Shape 24">
            <a:extLst>
              <a:ext uri="{FF2B5EF4-FFF2-40B4-BE49-F238E27FC236}">
                <a16:creationId xmlns:a16="http://schemas.microsoft.com/office/drawing/2014/main" id="{2A832735-7064-407C-94A0-86029F6E9EA4}"/>
              </a:ext>
            </a:extLst>
          </p:cNvPr>
          <p:cNvSpPr/>
          <p:nvPr/>
        </p:nvSpPr>
        <p:spPr>
          <a:xfrm>
            <a:off x="2780149" y="3892357"/>
            <a:ext cx="1947703" cy="36576"/>
          </a:xfrm>
          <a:prstGeom prst="rect">
            <a:avLst/>
          </a:prstGeom>
          <a:solidFill>
            <a:srgbClr val="E0DEEF"/>
          </a:solidFill>
          <a:ln w="12700">
            <a:solidFill>
              <a:srgbClr val="333333"/>
            </a:solidFill>
            <a:prstDash val="solid"/>
          </a:ln>
        </p:spPr>
      </p:sp>
      <p:sp>
        <p:nvSpPr>
          <p:cNvPr id="27" name="Text 25">
            <a:extLst>
              <a:ext uri="{FF2B5EF4-FFF2-40B4-BE49-F238E27FC236}">
                <a16:creationId xmlns:a16="http://schemas.microsoft.com/office/drawing/2014/main" id="{40C80970-36BF-721B-36F5-2173C658D3F8}"/>
              </a:ext>
            </a:extLst>
          </p:cNvPr>
          <p:cNvSpPr/>
          <p:nvPr/>
        </p:nvSpPr>
        <p:spPr>
          <a:xfrm>
            <a:off x="2780149"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28" name="Text 26">
            <a:extLst>
              <a:ext uri="{FF2B5EF4-FFF2-40B4-BE49-F238E27FC236}">
                <a16:creationId xmlns:a16="http://schemas.microsoft.com/office/drawing/2014/main" id="{3767B89B-7F0E-606E-E507-ABE3904FEA4F}"/>
              </a:ext>
            </a:extLst>
          </p:cNvPr>
          <p:cNvSpPr/>
          <p:nvPr/>
        </p:nvSpPr>
        <p:spPr>
          <a:xfrm>
            <a:off x="3356221"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Random Forest Classifier</a:t>
            </a:r>
            <a:endParaRPr lang="en-US" sz="900" dirty="0"/>
          </a:p>
        </p:txBody>
      </p:sp>
      <p:sp>
        <p:nvSpPr>
          <p:cNvPr id="29" name="Text 27">
            <a:extLst>
              <a:ext uri="{FF2B5EF4-FFF2-40B4-BE49-F238E27FC236}">
                <a16:creationId xmlns:a16="http://schemas.microsoft.com/office/drawing/2014/main" id="{1C9BBA18-D5B3-CA33-63E8-A4907ED48674}"/>
              </a:ext>
            </a:extLst>
          </p:cNvPr>
          <p:cNvSpPr/>
          <p:nvPr/>
        </p:nvSpPr>
        <p:spPr>
          <a:xfrm>
            <a:off x="2780149"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30" name="Text 28">
            <a:extLst>
              <a:ext uri="{FF2B5EF4-FFF2-40B4-BE49-F238E27FC236}">
                <a16:creationId xmlns:a16="http://schemas.microsoft.com/office/drawing/2014/main" id="{4A8A8A56-49CB-4BC3-FA96-17E843361719}"/>
              </a:ext>
            </a:extLst>
          </p:cNvPr>
          <p:cNvSpPr/>
          <p:nvPr/>
        </p:nvSpPr>
        <p:spPr>
          <a:xfrm>
            <a:off x="3356221"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Clinical dataset · IgA / IgG / IgM markers</a:t>
            </a:r>
            <a:endParaRPr lang="en-US" sz="900" dirty="0"/>
          </a:p>
        </p:txBody>
      </p:sp>
      <p:sp>
        <p:nvSpPr>
          <p:cNvPr id="34" name="Shape 32">
            <a:extLst>
              <a:ext uri="{FF2B5EF4-FFF2-40B4-BE49-F238E27FC236}">
                <a16:creationId xmlns:a16="http://schemas.microsoft.com/office/drawing/2014/main" id="{519C02C3-C7FA-C7A0-754A-D03F61CF00A7}"/>
              </a:ext>
            </a:extLst>
          </p:cNvPr>
          <p:cNvSpPr/>
          <p:nvPr/>
        </p:nvSpPr>
        <p:spPr>
          <a:xfrm>
            <a:off x="4947465" y="1600200"/>
            <a:ext cx="2124767" cy="502920"/>
          </a:xfrm>
          <a:prstGeom prst="rect">
            <a:avLst/>
          </a:prstGeom>
          <a:solidFill>
            <a:srgbClr val="F5A05A"/>
          </a:solidFill>
          <a:ln w="12700">
            <a:solidFill>
              <a:srgbClr val="333333"/>
            </a:solidFill>
            <a:prstDash val="solid"/>
          </a:ln>
        </p:spPr>
      </p:sp>
      <p:sp>
        <p:nvSpPr>
          <p:cNvPr id="35" name="Text 33">
            <a:extLst>
              <a:ext uri="{FF2B5EF4-FFF2-40B4-BE49-F238E27FC236}">
                <a16:creationId xmlns:a16="http://schemas.microsoft.com/office/drawing/2014/main" id="{61EEA820-F69A-923F-E075-1515AC87A719}"/>
              </a:ext>
            </a:extLst>
          </p:cNvPr>
          <p:cNvSpPr/>
          <p:nvPr/>
        </p:nvSpPr>
        <p:spPr>
          <a:xfrm>
            <a:off x="5057193"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31" name="Text 29">
            <a:extLst>
              <a:ext uri="{FF2B5EF4-FFF2-40B4-BE49-F238E27FC236}">
                <a16:creationId xmlns:a16="http://schemas.microsoft.com/office/drawing/2014/main" id="{C6EB75BC-7E1D-DE97-60FB-CD5E977F72BF}"/>
              </a:ext>
            </a:extLst>
          </p:cNvPr>
          <p:cNvSpPr/>
          <p:nvPr/>
        </p:nvSpPr>
        <p:spPr>
          <a:xfrm>
            <a:off x="2780149" y="4681728"/>
            <a:ext cx="516436"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Result:</a:t>
            </a:r>
            <a:endParaRPr lang="en-US" sz="900" dirty="0"/>
          </a:p>
        </p:txBody>
      </p:sp>
      <p:sp>
        <p:nvSpPr>
          <p:cNvPr id="32" name="Text 30">
            <a:extLst>
              <a:ext uri="{FF2B5EF4-FFF2-40B4-BE49-F238E27FC236}">
                <a16:creationId xmlns:a16="http://schemas.microsoft.com/office/drawing/2014/main" id="{1EBDBC0B-03CF-E25D-096E-B49BD5A26D90}"/>
              </a:ext>
            </a:extLst>
          </p:cNvPr>
          <p:cNvSpPr/>
          <p:nvPr/>
        </p:nvSpPr>
        <p:spPr>
          <a:xfrm>
            <a:off x="3356221" y="4681728"/>
            <a:ext cx="1482910"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High precision on symptom clusters</a:t>
            </a:r>
            <a:endParaRPr lang="en-US" sz="900" dirty="0"/>
          </a:p>
        </p:txBody>
      </p:sp>
      <p:sp>
        <p:nvSpPr>
          <p:cNvPr id="36" name="Text 34">
            <a:extLst>
              <a:ext uri="{FF2B5EF4-FFF2-40B4-BE49-F238E27FC236}">
                <a16:creationId xmlns:a16="http://schemas.microsoft.com/office/drawing/2014/main" id="{9D4520F5-0476-D8CA-8A05-0AB5319D84D7}"/>
              </a:ext>
            </a:extLst>
          </p:cNvPr>
          <p:cNvSpPr/>
          <p:nvPr/>
        </p:nvSpPr>
        <p:spPr>
          <a:xfrm>
            <a:off x="5057193"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Child Mortality Predictor</a:t>
            </a:r>
            <a:endParaRPr lang="en-US" sz="1250" dirty="0"/>
          </a:p>
        </p:txBody>
      </p:sp>
      <p:sp>
        <p:nvSpPr>
          <p:cNvPr id="37" name="Text 35">
            <a:extLst>
              <a:ext uri="{FF2B5EF4-FFF2-40B4-BE49-F238E27FC236}">
                <a16:creationId xmlns:a16="http://schemas.microsoft.com/office/drawing/2014/main" id="{F4007F78-A95D-6B8B-B403-E69EE0930451}"/>
              </a:ext>
            </a:extLst>
          </p:cNvPr>
          <p:cNvSpPr/>
          <p:nvPr/>
        </p:nvSpPr>
        <p:spPr>
          <a:xfrm>
            <a:off x="5057193"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Estimates child mortality probability from 30 socioeconomic, immunisation, maternal health and sanitation indicators collected from India's NFHS health survey.</a:t>
            </a:r>
            <a:endParaRPr lang="en-US" sz="1050" dirty="0"/>
          </a:p>
        </p:txBody>
      </p:sp>
      <p:sp>
        <p:nvSpPr>
          <p:cNvPr id="38" name="Shape 36">
            <a:extLst>
              <a:ext uri="{FF2B5EF4-FFF2-40B4-BE49-F238E27FC236}">
                <a16:creationId xmlns:a16="http://schemas.microsoft.com/office/drawing/2014/main" id="{0ED38EB6-807F-A745-1A08-B6041F057643}"/>
              </a:ext>
            </a:extLst>
          </p:cNvPr>
          <p:cNvSpPr/>
          <p:nvPr/>
        </p:nvSpPr>
        <p:spPr>
          <a:xfrm>
            <a:off x="5057193" y="3892357"/>
            <a:ext cx="1947703" cy="36576"/>
          </a:xfrm>
          <a:prstGeom prst="rect">
            <a:avLst/>
          </a:prstGeom>
          <a:solidFill>
            <a:srgbClr val="E0DEEF"/>
          </a:solidFill>
          <a:ln w="12700">
            <a:solidFill>
              <a:srgbClr val="333333"/>
            </a:solidFill>
            <a:prstDash val="solid"/>
          </a:ln>
        </p:spPr>
      </p:sp>
      <p:sp>
        <p:nvSpPr>
          <p:cNvPr id="39" name="Text 37">
            <a:extLst>
              <a:ext uri="{FF2B5EF4-FFF2-40B4-BE49-F238E27FC236}">
                <a16:creationId xmlns:a16="http://schemas.microsoft.com/office/drawing/2014/main" id="{C830795A-9C6B-0C3C-E17F-35043BF4DB42}"/>
              </a:ext>
            </a:extLst>
          </p:cNvPr>
          <p:cNvSpPr/>
          <p:nvPr/>
        </p:nvSpPr>
        <p:spPr>
          <a:xfrm>
            <a:off x="5057193"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40" name="Text 38">
            <a:extLst>
              <a:ext uri="{FF2B5EF4-FFF2-40B4-BE49-F238E27FC236}">
                <a16:creationId xmlns:a16="http://schemas.microsoft.com/office/drawing/2014/main" id="{8BD9D96F-4D75-6090-3DAD-549048C52063}"/>
              </a:ext>
            </a:extLst>
          </p:cNvPr>
          <p:cNvSpPr/>
          <p:nvPr/>
        </p:nvSpPr>
        <p:spPr>
          <a:xfrm>
            <a:off x="5633265"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Gradient Boosting Classifier</a:t>
            </a:r>
            <a:endParaRPr lang="en-US" sz="900" dirty="0"/>
          </a:p>
        </p:txBody>
      </p:sp>
      <p:sp>
        <p:nvSpPr>
          <p:cNvPr id="41" name="Text 39">
            <a:extLst>
              <a:ext uri="{FF2B5EF4-FFF2-40B4-BE49-F238E27FC236}">
                <a16:creationId xmlns:a16="http://schemas.microsoft.com/office/drawing/2014/main" id="{2FE26B85-E96A-F880-34FB-5E801D2249C7}"/>
              </a:ext>
            </a:extLst>
          </p:cNvPr>
          <p:cNvSpPr/>
          <p:nvPr/>
        </p:nvSpPr>
        <p:spPr>
          <a:xfrm>
            <a:off x="5057193"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42" name="Text 40">
            <a:extLst>
              <a:ext uri="{FF2B5EF4-FFF2-40B4-BE49-F238E27FC236}">
                <a16:creationId xmlns:a16="http://schemas.microsoft.com/office/drawing/2014/main" id="{C2AA2FD6-5B23-2D26-8A14-C6F18CC71702}"/>
              </a:ext>
            </a:extLst>
          </p:cNvPr>
          <p:cNvSpPr/>
          <p:nvPr/>
        </p:nvSpPr>
        <p:spPr>
          <a:xfrm>
            <a:off x="5633265"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NFHS survey · 30 features · Indian states</a:t>
            </a:r>
            <a:endParaRPr lang="en-US" sz="900" dirty="0"/>
          </a:p>
        </p:txBody>
      </p:sp>
      <p:sp>
        <p:nvSpPr>
          <p:cNvPr id="46" name="Shape 44">
            <a:extLst>
              <a:ext uri="{FF2B5EF4-FFF2-40B4-BE49-F238E27FC236}">
                <a16:creationId xmlns:a16="http://schemas.microsoft.com/office/drawing/2014/main" id="{E2D7FE05-02BA-4776-EE5D-0EEE451409FF}"/>
              </a:ext>
            </a:extLst>
          </p:cNvPr>
          <p:cNvSpPr/>
          <p:nvPr/>
        </p:nvSpPr>
        <p:spPr>
          <a:xfrm>
            <a:off x="9597659" y="1600200"/>
            <a:ext cx="2124767" cy="502920"/>
          </a:xfrm>
          <a:prstGeom prst="rect">
            <a:avLst/>
          </a:prstGeom>
          <a:solidFill>
            <a:srgbClr val="8B7EC8"/>
          </a:solidFill>
          <a:ln w="12700">
            <a:solidFill>
              <a:srgbClr val="333333"/>
            </a:solidFill>
            <a:prstDash val="solid"/>
          </a:ln>
        </p:spPr>
      </p:sp>
      <p:sp>
        <p:nvSpPr>
          <p:cNvPr id="47" name="Text 45">
            <a:extLst>
              <a:ext uri="{FF2B5EF4-FFF2-40B4-BE49-F238E27FC236}">
                <a16:creationId xmlns:a16="http://schemas.microsoft.com/office/drawing/2014/main" id="{DDDD0866-69EF-D481-161F-CB75BC105543}"/>
              </a:ext>
            </a:extLst>
          </p:cNvPr>
          <p:cNvSpPr/>
          <p:nvPr/>
        </p:nvSpPr>
        <p:spPr>
          <a:xfrm>
            <a:off x="9707387"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3" name="Text 41">
            <a:extLst>
              <a:ext uri="{FF2B5EF4-FFF2-40B4-BE49-F238E27FC236}">
                <a16:creationId xmlns:a16="http://schemas.microsoft.com/office/drawing/2014/main" id="{45BE1904-FAE6-62B7-FCFF-B3912D4A8D65}"/>
              </a:ext>
            </a:extLst>
          </p:cNvPr>
          <p:cNvSpPr/>
          <p:nvPr/>
        </p:nvSpPr>
        <p:spPr>
          <a:xfrm>
            <a:off x="5057193" y="4681728"/>
            <a:ext cx="516436"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Result:</a:t>
            </a:r>
            <a:endParaRPr lang="en-US" sz="900" dirty="0"/>
          </a:p>
        </p:txBody>
      </p:sp>
      <p:sp>
        <p:nvSpPr>
          <p:cNvPr id="44" name="Text 42">
            <a:extLst>
              <a:ext uri="{FF2B5EF4-FFF2-40B4-BE49-F238E27FC236}">
                <a16:creationId xmlns:a16="http://schemas.microsoft.com/office/drawing/2014/main" id="{3174D91F-D141-13DC-1E70-3A0D9D5A854A}"/>
              </a:ext>
            </a:extLst>
          </p:cNvPr>
          <p:cNvSpPr/>
          <p:nvPr/>
        </p:nvSpPr>
        <p:spPr>
          <a:xfrm>
            <a:off x="5633265" y="4681728"/>
            <a:ext cx="1482910"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Calibrated probability output</a:t>
            </a:r>
            <a:endParaRPr lang="en-US" sz="900" dirty="0"/>
          </a:p>
        </p:txBody>
      </p:sp>
      <p:sp>
        <p:nvSpPr>
          <p:cNvPr id="48" name="Text 46">
            <a:extLst>
              <a:ext uri="{FF2B5EF4-FFF2-40B4-BE49-F238E27FC236}">
                <a16:creationId xmlns:a16="http://schemas.microsoft.com/office/drawing/2014/main" id="{C5F95CCA-D985-191E-AB87-882F0F0439FB}"/>
              </a:ext>
            </a:extLst>
          </p:cNvPr>
          <p:cNvSpPr/>
          <p:nvPr/>
        </p:nvSpPr>
        <p:spPr>
          <a:xfrm>
            <a:off x="9707387"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NurtureAI Chatbot</a:t>
            </a:r>
            <a:endParaRPr lang="en-US" sz="1250" dirty="0"/>
          </a:p>
        </p:txBody>
      </p:sp>
      <p:sp>
        <p:nvSpPr>
          <p:cNvPr id="49" name="Text 47">
            <a:extLst>
              <a:ext uri="{FF2B5EF4-FFF2-40B4-BE49-F238E27FC236}">
                <a16:creationId xmlns:a16="http://schemas.microsoft.com/office/drawing/2014/main" id="{16E9552B-9ED2-9A12-170E-07535532082F}"/>
              </a:ext>
            </a:extLst>
          </p:cNvPr>
          <p:cNvSpPr/>
          <p:nvPr/>
        </p:nvSpPr>
        <p:spPr>
          <a:xfrm>
            <a:off x="9707387"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A Retrieval-Augmented Generation chatbot that answers parenting questions, explains model predictions in plain language, and provides evidence-based guidance.</a:t>
            </a:r>
            <a:endParaRPr lang="en-US" sz="1050" dirty="0"/>
          </a:p>
        </p:txBody>
      </p:sp>
      <p:sp>
        <p:nvSpPr>
          <p:cNvPr id="50" name="Shape 48">
            <a:extLst>
              <a:ext uri="{FF2B5EF4-FFF2-40B4-BE49-F238E27FC236}">
                <a16:creationId xmlns:a16="http://schemas.microsoft.com/office/drawing/2014/main" id="{62AA7D20-F143-AFB9-C837-4372B1C5E02C}"/>
              </a:ext>
            </a:extLst>
          </p:cNvPr>
          <p:cNvSpPr/>
          <p:nvPr/>
        </p:nvSpPr>
        <p:spPr>
          <a:xfrm>
            <a:off x="9707387" y="3892357"/>
            <a:ext cx="1947703" cy="36576"/>
          </a:xfrm>
          <a:prstGeom prst="rect">
            <a:avLst/>
          </a:prstGeom>
          <a:solidFill>
            <a:srgbClr val="E0DEEF"/>
          </a:solidFill>
          <a:ln w="12700">
            <a:solidFill>
              <a:srgbClr val="333333"/>
            </a:solidFill>
            <a:prstDash val="solid"/>
          </a:ln>
        </p:spPr>
      </p:sp>
      <p:sp>
        <p:nvSpPr>
          <p:cNvPr id="51" name="Text 49">
            <a:extLst>
              <a:ext uri="{FF2B5EF4-FFF2-40B4-BE49-F238E27FC236}">
                <a16:creationId xmlns:a16="http://schemas.microsoft.com/office/drawing/2014/main" id="{F62766F1-33DA-1EDB-3C51-02F2236C3E8C}"/>
              </a:ext>
            </a:extLst>
          </p:cNvPr>
          <p:cNvSpPr/>
          <p:nvPr/>
        </p:nvSpPr>
        <p:spPr>
          <a:xfrm>
            <a:off x="9707387"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52" name="Text 50">
            <a:extLst>
              <a:ext uri="{FF2B5EF4-FFF2-40B4-BE49-F238E27FC236}">
                <a16:creationId xmlns:a16="http://schemas.microsoft.com/office/drawing/2014/main" id="{9DD054D2-7CBA-68BD-EFCC-F442316B9D2E}"/>
              </a:ext>
            </a:extLst>
          </p:cNvPr>
          <p:cNvSpPr/>
          <p:nvPr/>
        </p:nvSpPr>
        <p:spPr>
          <a:xfrm>
            <a:off x="10283459"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RAG · ChromaDB · LLM backbone</a:t>
            </a:r>
            <a:endParaRPr lang="en-US" sz="900" dirty="0"/>
          </a:p>
        </p:txBody>
      </p:sp>
      <p:sp>
        <p:nvSpPr>
          <p:cNvPr id="53" name="Text 51">
            <a:extLst>
              <a:ext uri="{FF2B5EF4-FFF2-40B4-BE49-F238E27FC236}">
                <a16:creationId xmlns:a16="http://schemas.microsoft.com/office/drawing/2014/main" id="{5B55850E-F47B-7FAF-F1EB-A538F8B9120E}"/>
              </a:ext>
            </a:extLst>
          </p:cNvPr>
          <p:cNvSpPr/>
          <p:nvPr/>
        </p:nvSpPr>
        <p:spPr>
          <a:xfrm>
            <a:off x="9707387"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0" name="Shape 8">
            <a:extLst>
              <a:ext uri="{FF2B5EF4-FFF2-40B4-BE49-F238E27FC236}">
                <a16:creationId xmlns:a16="http://schemas.microsoft.com/office/drawing/2014/main" id="{09D39DFA-3846-1C41-8D40-B3400B23FBD4}"/>
              </a:ext>
            </a:extLst>
          </p:cNvPr>
          <p:cNvSpPr/>
          <p:nvPr/>
        </p:nvSpPr>
        <p:spPr>
          <a:xfrm>
            <a:off x="384048" y="1600200"/>
            <a:ext cx="2124767" cy="502920"/>
          </a:xfrm>
          <a:prstGeom prst="rect">
            <a:avLst/>
          </a:prstGeom>
          <a:solidFill>
            <a:srgbClr val="F96167"/>
          </a:solidFill>
          <a:ln w="12700">
            <a:solidFill>
              <a:srgbClr val="333333"/>
            </a:solidFill>
            <a:prstDash val="solid"/>
          </a:ln>
        </p:spPr>
      </p:sp>
      <p:sp>
        <p:nvSpPr>
          <p:cNvPr id="54" name="Text 52">
            <a:extLst>
              <a:ext uri="{FF2B5EF4-FFF2-40B4-BE49-F238E27FC236}">
                <a16:creationId xmlns:a16="http://schemas.microsoft.com/office/drawing/2014/main" id="{BF9DF4AB-9CC4-F495-AC09-DCC752AE372D}"/>
              </a:ext>
            </a:extLst>
          </p:cNvPr>
          <p:cNvSpPr/>
          <p:nvPr/>
        </p:nvSpPr>
        <p:spPr>
          <a:xfrm>
            <a:off x="10283459"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Open-source parenting &amp; paediatric corpus</a:t>
            </a:r>
            <a:endParaRPr lang="en-US" sz="900" dirty="0"/>
          </a:p>
        </p:txBody>
      </p:sp>
      <p:sp>
        <p:nvSpPr>
          <p:cNvPr id="55" name="Text 53">
            <a:extLst>
              <a:ext uri="{FF2B5EF4-FFF2-40B4-BE49-F238E27FC236}">
                <a16:creationId xmlns:a16="http://schemas.microsoft.com/office/drawing/2014/main" id="{B57D2865-ABDE-2049-6CE6-810952E95B8E}"/>
              </a:ext>
            </a:extLst>
          </p:cNvPr>
          <p:cNvSpPr/>
          <p:nvPr/>
        </p:nvSpPr>
        <p:spPr>
          <a:xfrm>
            <a:off x="9707387" y="4681728"/>
            <a:ext cx="516436"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Result:</a:t>
            </a:r>
            <a:endParaRPr lang="en-US" sz="900" dirty="0"/>
          </a:p>
        </p:txBody>
      </p:sp>
      <p:sp>
        <p:nvSpPr>
          <p:cNvPr id="56" name="Text 54">
            <a:extLst>
              <a:ext uri="{FF2B5EF4-FFF2-40B4-BE49-F238E27FC236}">
                <a16:creationId xmlns:a16="http://schemas.microsoft.com/office/drawing/2014/main" id="{C0C3CBAC-F4BB-64EA-4B53-6BEC0D33F03E}"/>
              </a:ext>
            </a:extLst>
          </p:cNvPr>
          <p:cNvSpPr/>
          <p:nvPr/>
        </p:nvSpPr>
        <p:spPr>
          <a:xfrm>
            <a:off x="10283459" y="4681728"/>
            <a:ext cx="1482910"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Context-aware Q&amp;A</a:t>
            </a:r>
            <a:endParaRPr lang="en-US" sz="900" dirty="0"/>
          </a:p>
        </p:txBody>
      </p:sp>
      <p:sp>
        <p:nvSpPr>
          <p:cNvPr id="2" name="Shape 0">
            <a:extLst>
              <a:ext uri="{FF2B5EF4-FFF2-40B4-BE49-F238E27FC236}">
                <a16:creationId xmlns:a16="http://schemas.microsoft.com/office/drawing/2014/main" id="{7347B527-0000-E6A3-5E58-83B32D255C9B}"/>
              </a:ext>
            </a:extLst>
          </p:cNvPr>
          <p:cNvSpPr/>
          <p:nvPr/>
        </p:nvSpPr>
        <p:spPr>
          <a:xfrm>
            <a:off x="10241280" y="-548640"/>
            <a:ext cx="2011680" cy="2011680"/>
          </a:xfrm>
          <a:prstGeom prst="ellipse">
            <a:avLst/>
          </a:prstGeom>
          <a:solidFill>
            <a:srgbClr val="3BBFAD">
              <a:alpha val="60000"/>
            </a:srgbClr>
          </a:solidFill>
          <a:ln w="12700">
            <a:solidFill>
              <a:srgbClr val="333333"/>
            </a:solidFill>
            <a:prstDash val="solid"/>
          </a:ln>
        </p:spPr>
      </p:sp>
      <p:sp>
        <p:nvSpPr>
          <p:cNvPr id="3" name="Shape 1">
            <a:extLst>
              <a:ext uri="{FF2B5EF4-FFF2-40B4-BE49-F238E27FC236}">
                <a16:creationId xmlns:a16="http://schemas.microsoft.com/office/drawing/2014/main" id="{7ECA7E00-3723-D71C-BE77-6A1D10F64A91}"/>
              </a:ext>
            </a:extLst>
          </p:cNvPr>
          <p:cNvSpPr/>
          <p:nvPr/>
        </p:nvSpPr>
        <p:spPr>
          <a:xfrm>
            <a:off x="10789920" y="5303520"/>
            <a:ext cx="1463040" cy="1463040"/>
          </a:xfrm>
          <a:prstGeom prst="ellipse">
            <a:avLst/>
          </a:prstGeom>
          <a:solidFill>
            <a:srgbClr val="F96167">
              <a:alpha val="50000"/>
            </a:srgbClr>
          </a:solidFill>
          <a:ln w="12700">
            <a:solidFill>
              <a:srgbClr val="333333"/>
            </a:solidFill>
            <a:prstDash val="solid"/>
          </a:ln>
        </p:spPr>
      </p:sp>
      <p:sp>
        <p:nvSpPr>
          <p:cNvPr id="4" name="Shape 2">
            <a:extLst>
              <a:ext uri="{FF2B5EF4-FFF2-40B4-BE49-F238E27FC236}">
                <a16:creationId xmlns:a16="http://schemas.microsoft.com/office/drawing/2014/main" id="{3FC763E3-158B-B588-33DD-8054C9E7A1C4}"/>
              </a:ext>
            </a:extLst>
          </p:cNvPr>
          <p:cNvSpPr/>
          <p:nvPr/>
        </p:nvSpPr>
        <p:spPr>
          <a:xfrm>
            <a:off x="-457200" y="5486400"/>
            <a:ext cx="1463040" cy="1463040"/>
          </a:xfrm>
          <a:prstGeom prst="ellipse">
            <a:avLst/>
          </a:prstGeom>
          <a:solidFill>
            <a:srgbClr val="F5A05A">
              <a:alpha val="55000"/>
            </a:srgbClr>
          </a:solidFill>
          <a:ln w="12700">
            <a:solidFill>
              <a:srgbClr val="333333"/>
            </a:solidFill>
            <a:prstDash val="solid"/>
          </a:ln>
        </p:spPr>
      </p:sp>
      <p:sp>
        <p:nvSpPr>
          <p:cNvPr id="5" name="Shape 3">
            <a:extLst>
              <a:ext uri="{FF2B5EF4-FFF2-40B4-BE49-F238E27FC236}">
                <a16:creationId xmlns:a16="http://schemas.microsoft.com/office/drawing/2014/main" id="{7D8CF4BD-3EAE-CF04-A3FF-3BCDB32B57F6}"/>
              </a:ext>
            </a:extLst>
          </p:cNvPr>
          <p:cNvSpPr/>
          <p:nvPr/>
        </p:nvSpPr>
        <p:spPr>
          <a:xfrm>
            <a:off x="91440" y="2743200"/>
            <a:ext cx="457200" cy="457200"/>
          </a:xfrm>
          <a:prstGeom prst="ellipse">
            <a:avLst/>
          </a:prstGeom>
          <a:solidFill>
            <a:srgbClr val="8B7EC8">
              <a:alpha val="70000"/>
            </a:srgbClr>
          </a:solidFill>
          <a:ln w="12700">
            <a:solidFill>
              <a:srgbClr val="333333"/>
            </a:solidFill>
            <a:prstDash val="solid"/>
          </a:ln>
        </p:spPr>
      </p:sp>
      <p:sp>
        <p:nvSpPr>
          <p:cNvPr id="11" name="Text 9">
            <a:extLst>
              <a:ext uri="{FF2B5EF4-FFF2-40B4-BE49-F238E27FC236}">
                <a16:creationId xmlns:a16="http://schemas.microsoft.com/office/drawing/2014/main" id="{31513DE4-7573-8AF2-C3A8-2FE244999CC0}"/>
              </a:ext>
            </a:extLst>
          </p:cNvPr>
          <p:cNvSpPr/>
          <p:nvPr/>
        </p:nvSpPr>
        <p:spPr>
          <a:xfrm>
            <a:off x="493776"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a:extLst>
              <a:ext uri="{FF2B5EF4-FFF2-40B4-BE49-F238E27FC236}">
                <a16:creationId xmlns:a16="http://schemas.microsoft.com/office/drawing/2014/main" id="{239D64E8-0989-1C4C-7BC2-B42F1DE2232F}"/>
              </a:ext>
            </a:extLst>
          </p:cNvPr>
          <p:cNvSpPr/>
          <p:nvPr/>
        </p:nvSpPr>
        <p:spPr>
          <a:xfrm>
            <a:off x="502920" y="274320"/>
            <a:ext cx="9144000" cy="594360"/>
          </a:xfrm>
          <a:prstGeom prst="rect">
            <a:avLst/>
          </a:prstGeom>
          <a:noFill/>
          <a:ln/>
        </p:spPr>
        <p:txBody>
          <a:bodyPr wrap="square" rtlCol="0" anchor="ctr"/>
          <a:lstStyle/>
          <a:p>
            <a:pPr marL="0" indent="0">
              <a:buNone/>
            </a:pPr>
            <a:r>
              <a:rPr lang="en-US" sz="3200" b="1" dirty="0">
                <a:solidFill>
                  <a:srgbClr val="2E2B5F"/>
                </a:solidFill>
                <a:latin typeface="Calibri" pitchFamily="34" charset="0"/>
                <a:ea typeface="Calibri" pitchFamily="34" charset="-122"/>
                <a:cs typeface="Calibri" pitchFamily="34" charset="-120"/>
              </a:rPr>
              <a:t>Platform Overview</a:t>
            </a:r>
            <a:endParaRPr lang="en-US" sz="3200" dirty="0"/>
          </a:p>
        </p:txBody>
      </p:sp>
      <p:sp>
        <p:nvSpPr>
          <p:cNvPr id="7" name="Shape 5">
            <a:extLst>
              <a:ext uri="{FF2B5EF4-FFF2-40B4-BE49-F238E27FC236}">
                <a16:creationId xmlns:a16="http://schemas.microsoft.com/office/drawing/2014/main" id="{092C81E3-6FD2-5E10-3F87-9AD8EE533E68}"/>
              </a:ext>
            </a:extLst>
          </p:cNvPr>
          <p:cNvSpPr/>
          <p:nvPr/>
        </p:nvSpPr>
        <p:spPr>
          <a:xfrm>
            <a:off x="502920" y="896112"/>
            <a:ext cx="1645920" cy="54864"/>
          </a:xfrm>
          <a:prstGeom prst="rect">
            <a:avLst/>
          </a:prstGeom>
          <a:solidFill>
            <a:srgbClr val="F96167"/>
          </a:solidFill>
          <a:ln w="12700">
            <a:solidFill>
              <a:srgbClr val="333333"/>
            </a:solidFill>
            <a:prstDash val="solid"/>
          </a:ln>
        </p:spPr>
      </p:sp>
      <p:sp>
        <p:nvSpPr>
          <p:cNvPr id="8" name="Text 6">
            <a:extLst>
              <a:ext uri="{FF2B5EF4-FFF2-40B4-BE49-F238E27FC236}">
                <a16:creationId xmlns:a16="http://schemas.microsoft.com/office/drawing/2014/main" id="{67B95EA5-7643-F9B6-17CC-5DCB32FCB700}"/>
              </a:ext>
            </a:extLst>
          </p:cNvPr>
          <p:cNvSpPr/>
          <p:nvPr/>
        </p:nvSpPr>
        <p:spPr>
          <a:xfrm>
            <a:off x="502920" y="1005840"/>
            <a:ext cx="10789920" cy="457200"/>
          </a:xfrm>
          <a:prstGeom prst="rect">
            <a:avLst/>
          </a:prstGeom>
          <a:noFill/>
          <a:ln/>
        </p:spPr>
        <p:txBody>
          <a:bodyPr wrap="square" rtlCol="0" anchor="ctr"/>
          <a:lstStyle/>
          <a:p>
            <a:pPr marL="0" indent="0">
              <a:buNone/>
            </a:pPr>
            <a:r>
              <a:rPr lang="en-US" sz="1300" dirty="0">
                <a:solidFill>
                  <a:srgbClr val="6B6B8A"/>
                </a:solidFill>
                <a:latin typeface="Calibri" pitchFamily="34" charset="0"/>
                <a:ea typeface="Calibri" pitchFamily="34" charset="-122"/>
                <a:cs typeface="Calibri" pitchFamily="34" charset="-120"/>
              </a:rPr>
              <a:t>NurtureAI integrates four ML modules into a unified Flask API with a React frontend, enabling real-time predictions across multiple child health domains.</a:t>
            </a:r>
            <a:endParaRPr lang="en-US" sz="1300" dirty="0"/>
          </a:p>
        </p:txBody>
      </p:sp>
      <p:sp>
        <p:nvSpPr>
          <p:cNvPr id="12" name="Text 10">
            <a:extLst>
              <a:ext uri="{FF2B5EF4-FFF2-40B4-BE49-F238E27FC236}">
                <a16:creationId xmlns:a16="http://schemas.microsoft.com/office/drawing/2014/main" id="{291AB9E6-9867-897E-EACC-26AFABD86DEF}"/>
              </a:ext>
            </a:extLst>
          </p:cNvPr>
          <p:cNvSpPr/>
          <p:nvPr/>
        </p:nvSpPr>
        <p:spPr>
          <a:xfrm>
            <a:off x="493776"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Behaviour &amp; Mental Health</a:t>
            </a:r>
            <a:endParaRPr lang="en-US" sz="1250" dirty="0"/>
          </a:p>
        </p:txBody>
      </p:sp>
      <p:sp>
        <p:nvSpPr>
          <p:cNvPr id="13" name="Text 11">
            <a:extLst>
              <a:ext uri="{FF2B5EF4-FFF2-40B4-BE49-F238E27FC236}">
                <a16:creationId xmlns:a16="http://schemas.microsoft.com/office/drawing/2014/main" id="{B99141D3-1AE6-566B-8FBD-EA033FE4731B}"/>
              </a:ext>
            </a:extLst>
          </p:cNvPr>
          <p:cNvSpPr/>
          <p:nvPr/>
        </p:nvSpPr>
        <p:spPr>
          <a:xfrm>
            <a:off x="493776"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Severity Impairment Index (sii 0–3) from physical health, sleep, activity &amp; fitness data. 8× better than all 9 standard classifiers.</a:t>
            </a:r>
            <a:endParaRPr lang="en-US" sz="1050" dirty="0"/>
          </a:p>
        </p:txBody>
      </p:sp>
      <p:sp>
        <p:nvSpPr>
          <p:cNvPr id="14" name="Shape 12">
            <a:extLst>
              <a:ext uri="{FF2B5EF4-FFF2-40B4-BE49-F238E27FC236}">
                <a16:creationId xmlns:a16="http://schemas.microsoft.com/office/drawing/2014/main" id="{4F43C7D6-531A-0C31-F942-E1EA751CCB44}"/>
              </a:ext>
            </a:extLst>
          </p:cNvPr>
          <p:cNvSpPr/>
          <p:nvPr/>
        </p:nvSpPr>
        <p:spPr>
          <a:xfrm>
            <a:off x="493776" y="3892357"/>
            <a:ext cx="1947703" cy="36576"/>
          </a:xfrm>
          <a:prstGeom prst="rect">
            <a:avLst/>
          </a:prstGeom>
          <a:solidFill>
            <a:srgbClr val="E0DEEF"/>
          </a:solidFill>
          <a:ln w="12700">
            <a:solidFill>
              <a:srgbClr val="333333"/>
            </a:solidFill>
            <a:prstDash val="solid"/>
          </a:ln>
        </p:spPr>
      </p:sp>
      <p:sp>
        <p:nvSpPr>
          <p:cNvPr id="15" name="Text 13">
            <a:extLst>
              <a:ext uri="{FF2B5EF4-FFF2-40B4-BE49-F238E27FC236}">
                <a16:creationId xmlns:a16="http://schemas.microsoft.com/office/drawing/2014/main" id="{D1E745F9-BF9E-5ACD-3A1F-DCC39E6BC1DD}"/>
              </a:ext>
            </a:extLst>
          </p:cNvPr>
          <p:cNvSpPr/>
          <p:nvPr/>
        </p:nvSpPr>
        <p:spPr>
          <a:xfrm>
            <a:off x="493776"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16" name="Text 14">
            <a:extLst>
              <a:ext uri="{FF2B5EF4-FFF2-40B4-BE49-F238E27FC236}">
                <a16:creationId xmlns:a16="http://schemas.microsoft.com/office/drawing/2014/main" id="{6E75CFF4-A9B0-8692-53F2-ED9E463399FB}"/>
              </a:ext>
            </a:extLst>
          </p:cNvPr>
          <p:cNvSpPr/>
          <p:nvPr/>
        </p:nvSpPr>
        <p:spPr>
          <a:xfrm>
            <a:off x="1069848"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OrdinalGB (GradientBoosting Regressor)</a:t>
            </a:r>
            <a:endParaRPr lang="en-US" sz="900" dirty="0"/>
          </a:p>
        </p:txBody>
      </p:sp>
      <p:sp>
        <p:nvSpPr>
          <p:cNvPr id="17" name="Text 15">
            <a:extLst>
              <a:ext uri="{FF2B5EF4-FFF2-40B4-BE49-F238E27FC236}">
                <a16:creationId xmlns:a16="http://schemas.microsoft.com/office/drawing/2014/main" id="{2C33B962-A330-507D-6838-686F63A4BBBC}"/>
              </a:ext>
            </a:extLst>
          </p:cNvPr>
          <p:cNvSpPr/>
          <p:nvPr/>
        </p:nvSpPr>
        <p:spPr>
          <a:xfrm>
            <a:off x="493776"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8" name="Text 16">
            <a:extLst>
              <a:ext uri="{FF2B5EF4-FFF2-40B4-BE49-F238E27FC236}">
                <a16:creationId xmlns:a16="http://schemas.microsoft.com/office/drawing/2014/main" id="{4235FD6E-2649-BE6B-6886-6FE8E41FD3F6}"/>
              </a:ext>
            </a:extLst>
          </p:cNvPr>
          <p:cNvSpPr/>
          <p:nvPr/>
        </p:nvSpPr>
        <p:spPr>
          <a:xfrm>
            <a:off x="1069848" y="450071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CMI-PIU · 3,900 rows · 22 features</a:t>
            </a:r>
            <a:endParaRPr lang="en-US" sz="900" dirty="0"/>
          </a:p>
        </p:txBody>
      </p:sp>
      <p:sp>
        <p:nvSpPr>
          <p:cNvPr id="71" name="Shape 44">
            <a:extLst>
              <a:ext uri="{FF2B5EF4-FFF2-40B4-BE49-F238E27FC236}">
                <a16:creationId xmlns:a16="http://schemas.microsoft.com/office/drawing/2014/main" id="{65418CBD-030C-05ED-777A-DC28264B24E0}"/>
              </a:ext>
            </a:extLst>
          </p:cNvPr>
          <p:cNvSpPr/>
          <p:nvPr/>
        </p:nvSpPr>
        <p:spPr>
          <a:xfrm>
            <a:off x="7255998" y="1612637"/>
            <a:ext cx="2124767" cy="502920"/>
          </a:xfrm>
          <a:prstGeom prst="rect">
            <a:avLst/>
          </a:prstGeom>
          <a:solidFill>
            <a:srgbClr val="002060"/>
          </a:solidFill>
          <a:ln w="12700">
            <a:solidFill>
              <a:srgbClr val="333333"/>
            </a:solidFill>
            <a:prstDash val="solid"/>
          </a:ln>
        </p:spPr>
      </p:sp>
      <p:sp>
        <p:nvSpPr>
          <p:cNvPr id="72" name="Text 45">
            <a:extLst>
              <a:ext uri="{FF2B5EF4-FFF2-40B4-BE49-F238E27FC236}">
                <a16:creationId xmlns:a16="http://schemas.microsoft.com/office/drawing/2014/main" id="{0683B20D-7114-3489-93D0-6D324BCF8331}"/>
              </a:ext>
            </a:extLst>
          </p:cNvPr>
          <p:cNvSpPr/>
          <p:nvPr/>
        </p:nvSpPr>
        <p:spPr>
          <a:xfrm>
            <a:off x="7365726" y="1649213"/>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9" name="Text 17">
            <a:extLst>
              <a:ext uri="{FF2B5EF4-FFF2-40B4-BE49-F238E27FC236}">
                <a16:creationId xmlns:a16="http://schemas.microsoft.com/office/drawing/2014/main" id="{EE1A7363-AB4D-01CD-D961-86103051849A}"/>
              </a:ext>
            </a:extLst>
          </p:cNvPr>
          <p:cNvSpPr/>
          <p:nvPr/>
        </p:nvSpPr>
        <p:spPr>
          <a:xfrm>
            <a:off x="493776" y="4681728"/>
            <a:ext cx="516436"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Result:</a:t>
            </a:r>
            <a:endParaRPr lang="en-US" sz="900" dirty="0"/>
          </a:p>
        </p:txBody>
      </p:sp>
      <p:sp>
        <p:nvSpPr>
          <p:cNvPr id="20" name="Text 18">
            <a:extLst>
              <a:ext uri="{FF2B5EF4-FFF2-40B4-BE49-F238E27FC236}">
                <a16:creationId xmlns:a16="http://schemas.microsoft.com/office/drawing/2014/main" id="{EBC11D56-97DE-9025-71EC-BD3102D02CCA}"/>
              </a:ext>
            </a:extLst>
          </p:cNvPr>
          <p:cNvSpPr/>
          <p:nvPr/>
        </p:nvSpPr>
        <p:spPr>
          <a:xfrm>
            <a:off x="1069848" y="4681728"/>
            <a:ext cx="1482910"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QWK = 0.6259 (Substantial)</a:t>
            </a:r>
            <a:endParaRPr lang="en-US" sz="900" dirty="0"/>
          </a:p>
        </p:txBody>
      </p:sp>
      <p:sp>
        <p:nvSpPr>
          <p:cNvPr id="73" name="Text 46">
            <a:extLst>
              <a:ext uri="{FF2B5EF4-FFF2-40B4-BE49-F238E27FC236}">
                <a16:creationId xmlns:a16="http://schemas.microsoft.com/office/drawing/2014/main" id="{0C7C3384-61FB-5CFB-51F7-2371FA6E6693}"/>
              </a:ext>
            </a:extLst>
          </p:cNvPr>
          <p:cNvSpPr/>
          <p:nvPr/>
        </p:nvSpPr>
        <p:spPr>
          <a:xfrm>
            <a:off x="7365726" y="2188709"/>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Adult </a:t>
            </a:r>
            <a:r>
              <a:rPr lang="en-US" sz="1250" b="1" dirty="0" err="1">
                <a:solidFill>
                  <a:srgbClr val="2E2B5F"/>
                </a:solidFill>
                <a:latin typeface="Calibri" pitchFamily="34" charset="0"/>
                <a:ea typeface="Calibri" pitchFamily="34" charset="-122"/>
                <a:cs typeface="Calibri" pitchFamily="34" charset="-120"/>
              </a:rPr>
              <a:t>Behaviour</a:t>
            </a:r>
            <a:r>
              <a:rPr lang="en-US" sz="1250" b="1" dirty="0">
                <a:solidFill>
                  <a:srgbClr val="2E2B5F"/>
                </a:solidFill>
                <a:latin typeface="Calibri" pitchFamily="34" charset="0"/>
                <a:ea typeface="Calibri" pitchFamily="34" charset="-122"/>
                <a:cs typeface="Calibri" pitchFamily="34" charset="-120"/>
              </a:rPr>
              <a:t> Analysis</a:t>
            </a:r>
            <a:endParaRPr lang="en-US" sz="1250" dirty="0"/>
          </a:p>
        </p:txBody>
      </p:sp>
      <p:sp>
        <p:nvSpPr>
          <p:cNvPr id="74" name="Text 47">
            <a:extLst>
              <a:ext uri="{FF2B5EF4-FFF2-40B4-BE49-F238E27FC236}">
                <a16:creationId xmlns:a16="http://schemas.microsoft.com/office/drawing/2014/main" id="{2A4ED197-AF7D-7ED7-91D5-4072EC9FE384}"/>
              </a:ext>
            </a:extLst>
          </p:cNvPr>
          <p:cNvSpPr/>
          <p:nvPr/>
        </p:nvSpPr>
        <p:spPr>
          <a:xfrm>
            <a:off x="7365726" y="2645909"/>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the </a:t>
            </a:r>
            <a:r>
              <a:rPr lang="en-US" sz="1050" dirty="0" err="1">
                <a:solidFill>
                  <a:srgbClr val="6B6B8A"/>
                </a:solidFill>
                <a:latin typeface="Calibri" pitchFamily="34" charset="0"/>
                <a:ea typeface="Calibri" pitchFamily="34" charset="-122"/>
                <a:cs typeface="Calibri" pitchFamily="34" charset="-120"/>
              </a:rPr>
              <a:t>behaviour</a:t>
            </a:r>
            <a:r>
              <a:rPr lang="en-US" sz="1050" dirty="0">
                <a:solidFill>
                  <a:srgbClr val="6B6B8A"/>
                </a:solidFill>
                <a:latin typeface="Calibri" pitchFamily="34" charset="0"/>
                <a:ea typeface="Calibri" pitchFamily="34" charset="-122"/>
                <a:cs typeface="Calibri" pitchFamily="34" charset="-120"/>
              </a:rPr>
              <a:t> of the parenting ability to classify as 3 classes of parenting risk prediction – Healthy, Moderate, and High risk</a:t>
            </a:r>
            <a:endParaRPr lang="en-US" sz="1050" dirty="0"/>
          </a:p>
        </p:txBody>
      </p:sp>
      <p:sp>
        <p:nvSpPr>
          <p:cNvPr id="75" name="Shape 48">
            <a:extLst>
              <a:ext uri="{FF2B5EF4-FFF2-40B4-BE49-F238E27FC236}">
                <a16:creationId xmlns:a16="http://schemas.microsoft.com/office/drawing/2014/main" id="{56590C5C-12E8-A000-0741-0D17B6E00DB9}"/>
              </a:ext>
            </a:extLst>
          </p:cNvPr>
          <p:cNvSpPr/>
          <p:nvPr/>
        </p:nvSpPr>
        <p:spPr>
          <a:xfrm>
            <a:off x="7365726" y="3904794"/>
            <a:ext cx="1947703" cy="36576"/>
          </a:xfrm>
          <a:prstGeom prst="rect">
            <a:avLst/>
          </a:prstGeom>
          <a:solidFill>
            <a:srgbClr val="E0DEEF"/>
          </a:solidFill>
          <a:ln w="12700">
            <a:solidFill>
              <a:srgbClr val="333333"/>
            </a:solidFill>
            <a:prstDash val="solid"/>
          </a:ln>
        </p:spPr>
      </p:sp>
      <p:sp>
        <p:nvSpPr>
          <p:cNvPr id="76" name="Text 49">
            <a:extLst>
              <a:ext uri="{FF2B5EF4-FFF2-40B4-BE49-F238E27FC236}">
                <a16:creationId xmlns:a16="http://schemas.microsoft.com/office/drawing/2014/main" id="{A07D7E95-F59E-8E8B-B0FA-4C71991EF2E1}"/>
              </a:ext>
            </a:extLst>
          </p:cNvPr>
          <p:cNvSpPr/>
          <p:nvPr/>
        </p:nvSpPr>
        <p:spPr>
          <a:xfrm>
            <a:off x="7365726" y="414552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77" name="Text 50">
            <a:extLst>
              <a:ext uri="{FF2B5EF4-FFF2-40B4-BE49-F238E27FC236}">
                <a16:creationId xmlns:a16="http://schemas.microsoft.com/office/drawing/2014/main" id="{32EC950D-E219-D2BC-D1C2-168EB3CD967B}"/>
              </a:ext>
            </a:extLst>
          </p:cNvPr>
          <p:cNvSpPr/>
          <p:nvPr/>
        </p:nvSpPr>
        <p:spPr>
          <a:xfrm>
            <a:off x="7941798" y="4145525"/>
            <a:ext cx="1482910" cy="256032"/>
          </a:xfrm>
          <a:prstGeom prst="rect">
            <a:avLst/>
          </a:prstGeom>
          <a:noFill/>
          <a:ln/>
        </p:spPr>
        <p:txBody>
          <a:bodyPr wrap="square" rtlCol="0" anchor="ctr"/>
          <a:lstStyle/>
          <a:p>
            <a:pPr marL="0" indent="0">
              <a:buNone/>
            </a:pPr>
            <a:r>
              <a:rPr lang="en-US" sz="900" dirty="0" err="1">
                <a:solidFill>
                  <a:srgbClr val="6B6B8A"/>
                </a:solidFill>
                <a:latin typeface="Calibri" pitchFamily="34" charset="0"/>
                <a:ea typeface="Calibri" pitchFamily="34" charset="-122"/>
                <a:cs typeface="Calibri" pitchFamily="34" charset="-120"/>
              </a:rPr>
              <a:t>RandomForestClassifier</a:t>
            </a:r>
            <a:endParaRPr lang="en-US" sz="900" dirty="0"/>
          </a:p>
        </p:txBody>
      </p:sp>
      <p:sp>
        <p:nvSpPr>
          <p:cNvPr id="78" name="Text 51">
            <a:extLst>
              <a:ext uri="{FF2B5EF4-FFF2-40B4-BE49-F238E27FC236}">
                <a16:creationId xmlns:a16="http://schemas.microsoft.com/office/drawing/2014/main" id="{7FE338C7-8BC6-5015-6D74-4CEC7C9969EB}"/>
              </a:ext>
            </a:extLst>
          </p:cNvPr>
          <p:cNvSpPr/>
          <p:nvPr/>
        </p:nvSpPr>
        <p:spPr>
          <a:xfrm>
            <a:off x="7365726" y="441984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79" name="Text 52">
            <a:extLst>
              <a:ext uri="{FF2B5EF4-FFF2-40B4-BE49-F238E27FC236}">
                <a16:creationId xmlns:a16="http://schemas.microsoft.com/office/drawing/2014/main" id="{ED5B9323-0600-2766-9AEC-6CB86568D6B4}"/>
              </a:ext>
            </a:extLst>
          </p:cNvPr>
          <p:cNvSpPr/>
          <p:nvPr/>
        </p:nvSpPr>
        <p:spPr>
          <a:xfrm>
            <a:off x="7941798" y="441984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BRFSS</a:t>
            </a:r>
            <a:endParaRPr lang="en-US" sz="900" dirty="0"/>
          </a:p>
        </p:txBody>
      </p:sp>
      <p:sp>
        <p:nvSpPr>
          <p:cNvPr id="80" name="Text 53">
            <a:extLst>
              <a:ext uri="{FF2B5EF4-FFF2-40B4-BE49-F238E27FC236}">
                <a16:creationId xmlns:a16="http://schemas.microsoft.com/office/drawing/2014/main" id="{18B1FFF6-3394-4329-37A9-1A9A24D51163}"/>
              </a:ext>
            </a:extLst>
          </p:cNvPr>
          <p:cNvSpPr/>
          <p:nvPr/>
        </p:nvSpPr>
        <p:spPr>
          <a:xfrm>
            <a:off x="7365726" y="4694165"/>
            <a:ext cx="516436"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Result</a:t>
            </a:r>
            <a:r>
              <a:rPr lang="en-US" sz="900" b="1" dirty="0">
                <a:solidFill>
                  <a:srgbClr val="8B7EC8"/>
                </a:solidFill>
                <a:latin typeface="Calibri" pitchFamily="34" charset="0"/>
                <a:ea typeface="Calibri" pitchFamily="34" charset="-122"/>
                <a:cs typeface="Calibri" pitchFamily="34" charset="-120"/>
              </a:rPr>
              <a:t>:</a:t>
            </a:r>
            <a:endParaRPr lang="en-US" sz="900" dirty="0"/>
          </a:p>
        </p:txBody>
      </p:sp>
      <p:sp>
        <p:nvSpPr>
          <p:cNvPr id="81" name="Text 54">
            <a:extLst>
              <a:ext uri="{FF2B5EF4-FFF2-40B4-BE49-F238E27FC236}">
                <a16:creationId xmlns:a16="http://schemas.microsoft.com/office/drawing/2014/main" id="{334D3178-5E7E-7A91-643E-CC7EEDAA5676}"/>
              </a:ext>
            </a:extLst>
          </p:cNvPr>
          <p:cNvSpPr/>
          <p:nvPr/>
        </p:nvSpPr>
        <p:spPr>
          <a:xfrm>
            <a:off x="7941798" y="4694165"/>
            <a:ext cx="1482910"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Parenting Environment Analysis</a:t>
            </a:r>
            <a:endParaRPr lang="en-US" sz="900" dirty="0">
              <a:solidFill>
                <a:srgbClr val="002060"/>
              </a:solidFill>
            </a:endParaRPr>
          </a:p>
        </p:txBody>
      </p:sp>
    </p:spTree>
    <p:extLst>
      <p:ext uri="{BB962C8B-B14F-4D97-AF65-F5344CB8AC3E}">
        <p14:creationId xmlns:p14="http://schemas.microsoft.com/office/powerpoint/2010/main" val="435166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0F8"/>
        </a:solidFill>
        <a:effectLst/>
      </p:bgPr>
    </p:bg>
    <p:spTree>
      <p:nvGrpSpPr>
        <p:cNvPr id="1" name="">
          <a:extLst>
            <a:ext uri="{FF2B5EF4-FFF2-40B4-BE49-F238E27FC236}">
              <a16:creationId xmlns:a16="http://schemas.microsoft.com/office/drawing/2014/main" id="{97D61956-0AE9-E4C5-93BF-171C79CE5203}"/>
            </a:ext>
          </a:extLst>
        </p:cNvPr>
        <p:cNvGrpSpPr/>
        <p:nvPr/>
      </p:nvGrpSpPr>
      <p:grpSpPr>
        <a:xfrm>
          <a:off x="0" y="0"/>
          <a:ext cx="0" cy="0"/>
          <a:chOff x="0" y="0"/>
          <a:chExt cx="0" cy="0"/>
        </a:xfrm>
      </p:grpSpPr>
      <p:sp>
        <p:nvSpPr>
          <p:cNvPr id="21" name="Shape 19">
            <a:extLst>
              <a:ext uri="{FF2B5EF4-FFF2-40B4-BE49-F238E27FC236}">
                <a16:creationId xmlns:a16="http://schemas.microsoft.com/office/drawing/2014/main" id="{273E7FF0-06B5-9E65-7564-8EE6A951462E}"/>
              </a:ext>
            </a:extLst>
          </p:cNvPr>
          <p:cNvSpPr/>
          <p:nvPr/>
        </p:nvSpPr>
        <p:spPr>
          <a:xfrm>
            <a:off x="2670421" y="1600200"/>
            <a:ext cx="2124767" cy="4251960"/>
          </a:xfrm>
          <a:prstGeom prst="rect">
            <a:avLst/>
          </a:prstGeom>
          <a:solidFill>
            <a:srgbClr val="FFFFFF"/>
          </a:solidFill>
          <a:ln w="12700">
            <a:solidFill>
              <a:srgbClr val="E0DEEF"/>
            </a:solidFill>
            <a:prstDash val="solid"/>
          </a:ln>
        </p:spPr>
      </p:sp>
      <p:sp>
        <p:nvSpPr>
          <p:cNvPr id="33" name="Shape 31">
            <a:extLst>
              <a:ext uri="{FF2B5EF4-FFF2-40B4-BE49-F238E27FC236}">
                <a16:creationId xmlns:a16="http://schemas.microsoft.com/office/drawing/2014/main" id="{D4CB7B66-9911-9D23-2EEE-8F3296F5B3A1}"/>
              </a:ext>
            </a:extLst>
          </p:cNvPr>
          <p:cNvSpPr/>
          <p:nvPr/>
        </p:nvSpPr>
        <p:spPr>
          <a:xfrm>
            <a:off x="4947465" y="1600200"/>
            <a:ext cx="2124767" cy="4251960"/>
          </a:xfrm>
          <a:prstGeom prst="rect">
            <a:avLst/>
          </a:prstGeom>
          <a:solidFill>
            <a:srgbClr val="FFFFFF"/>
          </a:solidFill>
          <a:ln w="12700">
            <a:solidFill>
              <a:srgbClr val="E0DEEF"/>
            </a:solidFill>
            <a:prstDash val="solid"/>
          </a:ln>
        </p:spPr>
      </p:sp>
      <p:sp>
        <p:nvSpPr>
          <p:cNvPr id="45" name="Shape 43">
            <a:extLst>
              <a:ext uri="{FF2B5EF4-FFF2-40B4-BE49-F238E27FC236}">
                <a16:creationId xmlns:a16="http://schemas.microsoft.com/office/drawing/2014/main" id="{9FB59B4F-FF7D-1D65-D92F-FEA83088C906}"/>
              </a:ext>
            </a:extLst>
          </p:cNvPr>
          <p:cNvSpPr/>
          <p:nvPr/>
        </p:nvSpPr>
        <p:spPr>
          <a:xfrm>
            <a:off x="9597659" y="1600200"/>
            <a:ext cx="2124767" cy="4251960"/>
          </a:xfrm>
          <a:prstGeom prst="rect">
            <a:avLst/>
          </a:prstGeom>
          <a:solidFill>
            <a:srgbClr val="FFFFFF"/>
          </a:solidFill>
          <a:ln w="12700">
            <a:solidFill>
              <a:srgbClr val="E0DEEF"/>
            </a:solidFill>
            <a:prstDash val="solid"/>
          </a:ln>
        </p:spPr>
      </p:sp>
      <p:sp>
        <p:nvSpPr>
          <p:cNvPr id="70" name="Shape 43">
            <a:extLst>
              <a:ext uri="{FF2B5EF4-FFF2-40B4-BE49-F238E27FC236}">
                <a16:creationId xmlns:a16="http://schemas.microsoft.com/office/drawing/2014/main" id="{8CC54FB1-CC86-3BD6-9D50-7AB6500510AE}"/>
              </a:ext>
            </a:extLst>
          </p:cNvPr>
          <p:cNvSpPr/>
          <p:nvPr/>
        </p:nvSpPr>
        <p:spPr>
          <a:xfrm>
            <a:off x="7255998" y="1612637"/>
            <a:ext cx="2124767" cy="4251960"/>
          </a:xfrm>
          <a:prstGeom prst="rect">
            <a:avLst/>
          </a:prstGeom>
          <a:solidFill>
            <a:srgbClr val="FFFFFF"/>
          </a:solidFill>
          <a:ln w="12700">
            <a:solidFill>
              <a:srgbClr val="E0DEEF"/>
            </a:solidFill>
            <a:prstDash val="solid"/>
          </a:ln>
        </p:spPr>
      </p:sp>
      <p:sp>
        <p:nvSpPr>
          <p:cNvPr id="22" name="Shape 20">
            <a:extLst>
              <a:ext uri="{FF2B5EF4-FFF2-40B4-BE49-F238E27FC236}">
                <a16:creationId xmlns:a16="http://schemas.microsoft.com/office/drawing/2014/main" id="{34C5147C-4F12-A907-039E-D4B25876129D}"/>
              </a:ext>
            </a:extLst>
          </p:cNvPr>
          <p:cNvSpPr/>
          <p:nvPr/>
        </p:nvSpPr>
        <p:spPr>
          <a:xfrm>
            <a:off x="2670421" y="1600200"/>
            <a:ext cx="2124767" cy="502920"/>
          </a:xfrm>
          <a:prstGeom prst="rect">
            <a:avLst/>
          </a:prstGeom>
          <a:solidFill>
            <a:srgbClr val="3BBFAD"/>
          </a:solidFill>
          <a:ln w="12700">
            <a:solidFill>
              <a:srgbClr val="333333"/>
            </a:solidFill>
            <a:prstDash val="solid"/>
          </a:ln>
        </p:spPr>
      </p:sp>
      <p:sp>
        <p:nvSpPr>
          <p:cNvPr id="23" name="Text 21">
            <a:extLst>
              <a:ext uri="{FF2B5EF4-FFF2-40B4-BE49-F238E27FC236}">
                <a16:creationId xmlns:a16="http://schemas.microsoft.com/office/drawing/2014/main" id="{AD9A9370-F904-6D89-BD76-8E2D0C23B84D}"/>
              </a:ext>
            </a:extLst>
          </p:cNvPr>
          <p:cNvSpPr/>
          <p:nvPr/>
        </p:nvSpPr>
        <p:spPr>
          <a:xfrm>
            <a:off x="2780149"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7" name="Shape 19">
            <a:extLst>
              <a:ext uri="{FF2B5EF4-FFF2-40B4-BE49-F238E27FC236}">
                <a16:creationId xmlns:a16="http://schemas.microsoft.com/office/drawing/2014/main" id="{B5FDC224-2C1A-EF94-0D0C-0F24F73C44F9}"/>
              </a:ext>
            </a:extLst>
          </p:cNvPr>
          <p:cNvSpPr/>
          <p:nvPr/>
        </p:nvSpPr>
        <p:spPr>
          <a:xfrm>
            <a:off x="370443" y="1600200"/>
            <a:ext cx="2124767" cy="4251960"/>
          </a:xfrm>
          <a:prstGeom prst="rect">
            <a:avLst/>
          </a:prstGeom>
          <a:solidFill>
            <a:srgbClr val="FFFFFF"/>
          </a:solidFill>
          <a:ln w="12700">
            <a:solidFill>
              <a:srgbClr val="E0DEEF"/>
            </a:solidFill>
            <a:prstDash val="solid"/>
          </a:ln>
        </p:spPr>
      </p:sp>
      <p:sp>
        <p:nvSpPr>
          <p:cNvPr id="86" name="Freeform: Shape 85">
            <a:extLst>
              <a:ext uri="{FF2B5EF4-FFF2-40B4-BE49-F238E27FC236}">
                <a16:creationId xmlns:a16="http://schemas.microsoft.com/office/drawing/2014/main" id="{2426D1FF-AADF-9C73-49CC-AD6348D88054}"/>
              </a:ext>
            </a:extLst>
          </p:cNvPr>
          <p:cNvSpPr/>
          <p:nvPr/>
        </p:nvSpPr>
        <p:spPr>
          <a:xfrm>
            <a:off x="-10491103" y="0"/>
            <a:ext cx="27694648" cy="6858000"/>
          </a:xfrm>
          <a:custGeom>
            <a:avLst/>
            <a:gdLst>
              <a:gd name="csX0" fmla="*/ 15461920 w 27694648"/>
              <a:gd name="csY0" fmla="*/ 1600200 h 6858000"/>
              <a:gd name="csX1" fmla="*/ 15461920 w 27694648"/>
              <a:gd name="csY1" fmla="*/ 5852160 h 6858000"/>
              <a:gd name="csX2" fmla="*/ 17586687 w 27694648"/>
              <a:gd name="csY2" fmla="*/ 5852160 h 6858000"/>
              <a:gd name="csX3" fmla="*/ 17586687 w 27694648"/>
              <a:gd name="csY3" fmla="*/ 1600200 h 6858000"/>
              <a:gd name="csX4" fmla="*/ 0 w 27694648"/>
              <a:gd name="csY4" fmla="*/ 0 h 6858000"/>
              <a:gd name="csX5" fmla="*/ 27694648 w 27694648"/>
              <a:gd name="csY5" fmla="*/ 0 h 6858000"/>
              <a:gd name="csX6" fmla="*/ 27694648 w 27694648"/>
              <a:gd name="csY6" fmla="*/ 6858000 h 6858000"/>
              <a:gd name="csX7" fmla="*/ 0 w 27694648"/>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7694648" h="6858000">
                <a:moveTo>
                  <a:pt x="15461920" y="1600200"/>
                </a:moveTo>
                <a:lnTo>
                  <a:pt x="15461920" y="5852160"/>
                </a:lnTo>
                <a:lnTo>
                  <a:pt x="17586687" y="5852160"/>
                </a:lnTo>
                <a:lnTo>
                  <a:pt x="17586687" y="1600200"/>
                </a:lnTo>
                <a:close/>
                <a:moveTo>
                  <a:pt x="0" y="0"/>
                </a:moveTo>
                <a:lnTo>
                  <a:pt x="27694648" y="0"/>
                </a:lnTo>
                <a:lnTo>
                  <a:pt x="27694648" y="6858000"/>
                </a:lnTo>
                <a:lnTo>
                  <a:pt x="0" y="6858000"/>
                </a:lnTo>
                <a:close/>
              </a:path>
            </a:pathLst>
          </a:custGeom>
          <a:solidFill>
            <a:srgbClr val="F5A05A">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4" name="Text 22">
            <a:extLst>
              <a:ext uri="{FF2B5EF4-FFF2-40B4-BE49-F238E27FC236}">
                <a16:creationId xmlns:a16="http://schemas.microsoft.com/office/drawing/2014/main" id="{5B747828-9A57-D0BB-1C84-44126CE531BA}"/>
              </a:ext>
            </a:extLst>
          </p:cNvPr>
          <p:cNvSpPr/>
          <p:nvPr/>
        </p:nvSpPr>
        <p:spPr>
          <a:xfrm>
            <a:off x="2780149"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Celiac Disease Detection</a:t>
            </a:r>
            <a:endParaRPr lang="en-US" sz="1250" dirty="0"/>
          </a:p>
        </p:txBody>
      </p:sp>
      <p:sp>
        <p:nvSpPr>
          <p:cNvPr id="25" name="Text 23">
            <a:extLst>
              <a:ext uri="{FF2B5EF4-FFF2-40B4-BE49-F238E27FC236}">
                <a16:creationId xmlns:a16="http://schemas.microsoft.com/office/drawing/2014/main" id="{1E688A9F-D524-D2D0-9177-20AA05EBD794}"/>
              </a:ext>
            </a:extLst>
          </p:cNvPr>
          <p:cNvSpPr/>
          <p:nvPr/>
        </p:nvSpPr>
        <p:spPr>
          <a:xfrm>
            <a:off x="2780149"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Detects celiac risk from immunological markers (IgA, IgG, IgM) and clinical symptoms (diarrhoea, abdominal pain, short stature, sticky stool, weight loss).</a:t>
            </a:r>
            <a:endParaRPr lang="en-US" sz="1050" dirty="0"/>
          </a:p>
        </p:txBody>
      </p:sp>
      <p:sp>
        <p:nvSpPr>
          <p:cNvPr id="26" name="Shape 24">
            <a:extLst>
              <a:ext uri="{FF2B5EF4-FFF2-40B4-BE49-F238E27FC236}">
                <a16:creationId xmlns:a16="http://schemas.microsoft.com/office/drawing/2014/main" id="{30B61335-79CE-494C-E851-EAAD6AF4837D}"/>
              </a:ext>
            </a:extLst>
          </p:cNvPr>
          <p:cNvSpPr/>
          <p:nvPr/>
        </p:nvSpPr>
        <p:spPr>
          <a:xfrm>
            <a:off x="2780149" y="3892357"/>
            <a:ext cx="1947703" cy="36576"/>
          </a:xfrm>
          <a:prstGeom prst="rect">
            <a:avLst/>
          </a:prstGeom>
          <a:solidFill>
            <a:srgbClr val="E0DEEF"/>
          </a:solidFill>
          <a:ln w="12700">
            <a:solidFill>
              <a:srgbClr val="333333"/>
            </a:solidFill>
            <a:prstDash val="solid"/>
          </a:ln>
        </p:spPr>
      </p:sp>
      <p:sp>
        <p:nvSpPr>
          <p:cNvPr id="27" name="Text 25">
            <a:extLst>
              <a:ext uri="{FF2B5EF4-FFF2-40B4-BE49-F238E27FC236}">
                <a16:creationId xmlns:a16="http://schemas.microsoft.com/office/drawing/2014/main" id="{37EBBAC9-3565-2ABA-746E-8336754316EF}"/>
              </a:ext>
            </a:extLst>
          </p:cNvPr>
          <p:cNvSpPr/>
          <p:nvPr/>
        </p:nvSpPr>
        <p:spPr>
          <a:xfrm>
            <a:off x="2780149"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28" name="Text 26">
            <a:extLst>
              <a:ext uri="{FF2B5EF4-FFF2-40B4-BE49-F238E27FC236}">
                <a16:creationId xmlns:a16="http://schemas.microsoft.com/office/drawing/2014/main" id="{8FD0B74B-778A-130B-8E58-D04AC8C59C1E}"/>
              </a:ext>
            </a:extLst>
          </p:cNvPr>
          <p:cNvSpPr/>
          <p:nvPr/>
        </p:nvSpPr>
        <p:spPr>
          <a:xfrm>
            <a:off x="3356221"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Random Forest Classifier</a:t>
            </a:r>
            <a:endParaRPr lang="en-US" sz="900" dirty="0"/>
          </a:p>
        </p:txBody>
      </p:sp>
      <p:sp>
        <p:nvSpPr>
          <p:cNvPr id="29" name="Text 27">
            <a:extLst>
              <a:ext uri="{FF2B5EF4-FFF2-40B4-BE49-F238E27FC236}">
                <a16:creationId xmlns:a16="http://schemas.microsoft.com/office/drawing/2014/main" id="{4F687130-6281-3B4D-10A1-0EB0FFD1B8CF}"/>
              </a:ext>
            </a:extLst>
          </p:cNvPr>
          <p:cNvSpPr/>
          <p:nvPr/>
        </p:nvSpPr>
        <p:spPr>
          <a:xfrm>
            <a:off x="2780149"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30" name="Text 28">
            <a:extLst>
              <a:ext uri="{FF2B5EF4-FFF2-40B4-BE49-F238E27FC236}">
                <a16:creationId xmlns:a16="http://schemas.microsoft.com/office/drawing/2014/main" id="{EE86DBBC-2F95-BA9B-C12B-3F7DC7A6BAF3}"/>
              </a:ext>
            </a:extLst>
          </p:cNvPr>
          <p:cNvSpPr/>
          <p:nvPr/>
        </p:nvSpPr>
        <p:spPr>
          <a:xfrm>
            <a:off x="3356221"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Clinical dataset · IgA / IgG / IgM markers</a:t>
            </a:r>
            <a:endParaRPr lang="en-US" sz="900" dirty="0"/>
          </a:p>
        </p:txBody>
      </p:sp>
      <p:sp>
        <p:nvSpPr>
          <p:cNvPr id="34" name="Shape 32">
            <a:extLst>
              <a:ext uri="{FF2B5EF4-FFF2-40B4-BE49-F238E27FC236}">
                <a16:creationId xmlns:a16="http://schemas.microsoft.com/office/drawing/2014/main" id="{840A72DF-8C56-1E28-0BF1-83C446B0114D}"/>
              </a:ext>
            </a:extLst>
          </p:cNvPr>
          <p:cNvSpPr/>
          <p:nvPr/>
        </p:nvSpPr>
        <p:spPr>
          <a:xfrm>
            <a:off x="4947465" y="1600200"/>
            <a:ext cx="2124767" cy="502920"/>
          </a:xfrm>
          <a:prstGeom prst="rect">
            <a:avLst/>
          </a:prstGeom>
          <a:solidFill>
            <a:srgbClr val="F5A05A"/>
          </a:solidFill>
          <a:ln w="12700">
            <a:solidFill>
              <a:srgbClr val="333333"/>
            </a:solidFill>
            <a:prstDash val="solid"/>
          </a:ln>
        </p:spPr>
      </p:sp>
      <p:sp>
        <p:nvSpPr>
          <p:cNvPr id="35" name="Text 33">
            <a:extLst>
              <a:ext uri="{FF2B5EF4-FFF2-40B4-BE49-F238E27FC236}">
                <a16:creationId xmlns:a16="http://schemas.microsoft.com/office/drawing/2014/main" id="{87E9B6F2-6803-EF19-DD80-DA9D389E5A2D}"/>
              </a:ext>
            </a:extLst>
          </p:cNvPr>
          <p:cNvSpPr/>
          <p:nvPr/>
        </p:nvSpPr>
        <p:spPr>
          <a:xfrm>
            <a:off x="5057193"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31" name="Text 29">
            <a:extLst>
              <a:ext uri="{FF2B5EF4-FFF2-40B4-BE49-F238E27FC236}">
                <a16:creationId xmlns:a16="http://schemas.microsoft.com/office/drawing/2014/main" id="{3C451E5D-F0A1-2F62-6647-342FE052DF6C}"/>
              </a:ext>
            </a:extLst>
          </p:cNvPr>
          <p:cNvSpPr/>
          <p:nvPr/>
        </p:nvSpPr>
        <p:spPr>
          <a:xfrm>
            <a:off x="2780149" y="4681728"/>
            <a:ext cx="516436"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Result:</a:t>
            </a:r>
            <a:endParaRPr lang="en-US" sz="900" dirty="0"/>
          </a:p>
        </p:txBody>
      </p:sp>
      <p:sp>
        <p:nvSpPr>
          <p:cNvPr id="32" name="Text 30">
            <a:extLst>
              <a:ext uri="{FF2B5EF4-FFF2-40B4-BE49-F238E27FC236}">
                <a16:creationId xmlns:a16="http://schemas.microsoft.com/office/drawing/2014/main" id="{4F565CE4-6385-1FE9-743F-77FE591ECD17}"/>
              </a:ext>
            </a:extLst>
          </p:cNvPr>
          <p:cNvSpPr/>
          <p:nvPr/>
        </p:nvSpPr>
        <p:spPr>
          <a:xfrm>
            <a:off x="3356221" y="4681728"/>
            <a:ext cx="1482910"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High precision on symptom clusters</a:t>
            </a:r>
            <a:endParaRPr lang="en-US" sz="900" dirty="0"/>
          </a:p>
        </p:txBody>
      </p:sp>
      <p:sp>
        <p:nvSpPr>
          <p:cNvPr id="36" name="Text 34">
            <a:extLst>
              <a:ext uri="{FF2B5EF4-FFF2-40B4-BE49-F238E27FC236}">
                <a16:creationId xmlns:a16="http://schemas.microsoft.com/office/drawing/2014/main" id="{EE58FB90-5B91-E7FC-D6A8-9BDD7F981CE9}"/>
              </a:ext>
            </a:extLst>
          </p:cNvPr>
          <p:cNvSpPr/>
          <p:nvPr/>
        </p:nvSpPr>
        <p:spPr>
          <a:xfrm>
            <a:off x="5057193"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Child Mortality Predictor</a:t>
            </a:r>
            <a:endParaRPr lang="en-US" sz="1250" dirty="0"/>
          </a:p>
        </p:txBody>
      </p:sp>
      <p:sp>
        <p:nvSpPr>
          <p:cNvPr id="37" name="Text 35">
            <a:extLst>
              <a:ext uri="{FF2B5EF4-FFF2-40B4-BE49-F238E27FC236}">
                <a16:creationId xmlns:a16="http://schemas.microsoft.com/office/drawing/2014/main" id="{ACE923F9-C203-8B99-6279-35C5F2545A25}"/>
              </a:ext>
            </a:extLst>
          </p:cNvPr>
          <p:cNvSpPr/>
          <p:nvPr/>
        </p:nvSpPr>
        <p:spPr>
          <a:xfrm>
            <a:off x="5057193"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Estimates child mortality probability from 30 socioeconomic, immunisation, maternal health and sanitation indicators collected from India's NFHS health survey.</a:t>
            </a:r>
            <a:endParaRPr lang="en-US" sz="1050" dirty="0"/>
          </a:p>
        </p:txBody>
      </p:sp>
      <p:sp>
        <p:nvSpPr>
          <p:cNvPr id="38" name="Shape 36">
            <a:extLst>
              <a:ext uri="{FF2B5EF4-FFF2-40B4-BE49-F238E27FC236}">
                <a16:creationId xmlns:a16="http://schemas.microsoft.com/office/drawing/2014/main" id="{599A93D8-2A5D-EEF8-C2C0-C18D31565916}"/>
              </a:ext>
            </a:extLst>
          </p:cNvPr>
          <p:cNvSpPr/>
          <p:nvPr/>
        </p:nvSpPr>
        <p:spPr>
          <a:xfrm>
            <a:off x="5057193" y="3892357"/>
            <a:ext cx="1947703" cy="36576"/>
          </a:xfrm>
          <a:prstGeom prst="rect">
            <a:avLst/>
          </a:prstGeom>
          <a:solidFill>
            <a:srgbClr val="E0DEEF"/>
          </a:solidFill>
          <a:ln w="12700">
            <a:solidFill>
              <a:srgbClr val="333333"/>
            </a:solidFill>
            <a:prstDash val="solid"/>
          </a:ln>
        </p:spPr>
      </p:sp>
      <p:sp>
        <p:nvSpPr>
          <p:cNvPr id="39" name="Text 37">
            <a:extLst>
              <a:ext uri="{FF2B5EF4-FFF2-40B4-BE49-F238E27FC236}">
                <a16:creationId xmlns:a16="http://schemas.microsoft.com/office/drawing/2014/main" id="{1544F510-E449-E063-8429-AC69899F31AE}"/>
              </a:ext>
            </a:extLst>
          </p:cNvPr>
          <p:cNvSpPr/>
          <p:nvPr/>
        </p:nvSpPr>
        <p:spPr>
          <a:xfrm>
            <a:off x="5057193"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40" name="Text 38">
            <a:extLst>
              <a:ext uri="{FF2B5EF4-FFF2-40B4-BE49-F238E27FC236}">
                <a16:creationId xmlns:a16="http://schemas.microsoft.com/office/drawing/2014/main" id="{88E7911D-9693-181B-E4A3-3F6988BF76B9}"/>
              </a:ext>
            </a:extLst>
          </p:cNvPr>
          <p:cNvSpPr/>
          <p:nvPr/>
        </p:nvSpPr>
        <p:spPr>
          <a:xfrm>
            <a:off x="5633265"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Gradient Boosting Classifier</a:t>
            </a:r>
            <a:endParaRPr lang="en-US" sz="900" dirty="0"/>
          </a:p>
        </p:txBody>
      </p:sp>
      <p:sp>
        <p:nvSpPr>
          <p:cNvPr id="41" name="Text 39">
            <a:extLst>
              <a:ext uri="{FF2B5EF4-FFF2-40B4-BE49-F238E27FC236}">
                <a16:creationId xmlns:a16="http://schemas.microsoft.com/office/drawing/2014/main" id="{A0771F48-FF2D-1D13-EF96-7BF27E9703C6}"/>
              </a:ext>
            </a:extLst>
          </p:cNvPr>
          <p:cNvSpPr/>
          <p:nvPr/>
        </p:nvSpPr>
        <p:spPr>
          <a:xfrm>
            <a:off x="5057193"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42" name="Text 40">
            <a:extLst>
              <a:ext uri="{FF2B5EF4-FFF2-40B4-BE49-F238E27FC236}">
                <a16:creationId xmlns:a16="http://schemas.microsoft.com/office/drawing/2014/main" id="{130CCFC9-ADF9-CF1E-3F1E-20A2BA9E2412}"/>
              </a:ext>
            </a:extLst>
          </p:cNvPr>
          <p:cNvSpPr/>
          <p:nvPr/>
        </p:nvSpPr>
        <p:spPr>
          <a:xfrm>
            <a:off x="5633265"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NFHS survey · 30 features · Indian states</a:t>
            </a:r>
            <a:endParaRPr lang="en-US" sz="900" dirty="0"/>
          </a:p>
        </p:txBody>
      </p:sp>
      <p:sp>
        <p:nvSpPr>
          <p:cNvPr id="46" name="Shape 44">
            <a:extLst>
              <a:ext uri="{FF2B5EF4-FFF2-40B4-BE49-F238E27FC236}">
                <a16:creationId xmlns:a16="http://schemas.microsoft.com/office/drawing/2014/main" id="{0F85ABD8-9FDA-9F2A-3162-B96C037D4B6A}"/>
              </a:ext>
            </a:extLst>
          </p:cNvPr>
          <p:cNvSpPr/>
          <p:nvPr/>
        </p:nvSpPr>
        <p:spPr>
          <a:xfrm>
            <a:off x="9597659" y="1600200"/>
            <a:ext cx="2124767" cy="502920"/>
          </a:xfrm>
          <a:prstGeom prst="rect">
            <a:avLst/>
          </a:prstGeom>
          <a:solidFill>
            <a:srgbClr val="8B7EC8"/>
          </a:solidFill>
          <a:ln w="12700">
            <a:solidFill>
              <a:srgbClr val="333333"/>
            </a:solidFill>
            <a:prstDash val="solid"/>
          </a:ln>
        </p:spPr>
      </p:sp>
      <p:sp>
        <p:nvSpPr>
          <p:cNvPr id="47" name="Text 45">
            <a:extLst>
              <a:ext uri="{FF2B5EF4-FFF2-40B4-BE49-F238E27FC236}">
                <a16:creationId xmlns:a16="http://schemas.microsoft.com/office/drawing/2014/main" id="{28EA57A4-485E-2CF7-EB46-82BB3D35829D}"/>
              </a:ext>
            </a:extLst>
          </p:cNvPr>
          <p:cNvSpPr/>
          <p:nvPr/>
        </p:nvSpPr>
        <p:spPr>
          <a:xfrm>
            <a:off x="9707387"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3" name="Text 41">
            <a:extLst>
              <a:ext uri="{FF2B5EF4-FFF2-40B4-BE49-F238E27FC236}">
                <a16:creationId xmlns:a16="http://schemas.microsoft.com/office/drawing/2014/main" id="{785FBF56-AE79-D814-B044-0BF1F431941A}"/>
              </a:ext>
            </a:extLst>
          </p:cNvPr>
          <p:cNvSpPr/>
          <p:nvPr/>
        </p:nvSpPr>
        <p:spPr>
          <a:xfrm>
            <a:off x="5057193" y="4681728"/>
            <a:ext cx="516436"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Result:</a:t>
            </a:r>
            <a:endParaRPr lang="en-US" sz="900" dirty="0"/>
          </a:p>
        </p:txBody>
      </p:sp>
      <p:sp>
        <p:nvSpPr>
          <p:cNvPr id="44" name="Text 42">
            <a:extLst>
              <a:ext uri="{FF2B5EF4-FFF2-40B4-BE49-F238E27FC236}">
                <a16:creationId xmlns:a16="http://schemas.microsoft.com/office/drawing/2014/main" id="{7DFCA7F1-5A6B-DE2A-26AC-6F288DD6DCE8}"/>
              </a:ext>
            </a:extLst>
          </p:cNvPr>
          <p:cNvSpPr/>
          <p:nvPr/>
        </p:nvSpPr>
        <p:spPr>
          <a:xfrm>
            <a:off x="5633265" y="4681728"/>
            <a:ext cx="1482910"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Calibrated probability output</a:t>
            </a:r>
            <a:endParaRPr lang="en-US" sz="900" dirty="0"/>
          </a:p>
        </p:txBody>
      </p:sp>
      <p:sp>
        <p:nvSpPr>
          <p:cNvPr id="48" name="Text 46">
            <a:extLst>
              <a:ext uri="{FF2B5EF4-FFF2-40B4-BE49-F238E27FC236}">
                <a16:creationId xmlns:a16="http://schemas.microsoft.com/office/drawing/2014/main" id="{CEF321C3-03C2-A4D0-D8B6-BD507A7015BA}"/>
              </a:ext>
            </a:extLst>
          </p:cNvPr>
          <p:cNvSpPr/>
          <p:nvPr/>
        </p:nvSpPr>
        <p:spPr>
          <a:xfrm>
            <a:off x="9707387"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NurtureAI Chatbot</a:t>
            </a:r>
            <a:endParaRPr lang="en-US" sz="1250" dirty="0"/>
          </a:p>
        </p:txBody>
      </p:sp>
      <p:sp>
        <p:nvSpPr>
          <p:cNvPr id="49" name="Text 47">
            <a:extLst>
              <a:ext uri="{FF2B5EF4-FFF2-40B4-BE49-F238E27FC236}">
                <a16:creationId xmlns:a16="http://schemas.microsoft.com/office/drawing/2014/main" id="{49567DD0-879B-3F60-F5A7-E012E4832E2F}"/>
              </a:ext>
            </a:extLst>
          </p:cNvPr>
          <p:cNvSpPr/>
          <p:nvPr/>
        </p:nvSpPr>
        <p:spPr>
          <a:xfrm>
            <a:off x="9707387"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A Retrieval-Augmented Generation chatbot that answers parenting questions, explains model predictions in plain language, and provides evidence-based guidance.</a:t>
            </a:r>
            <a:endParaRPr lang="en-US" sz="1050" dirty="0"/>
          </a:p>
        </p:txBody>
      </p:sp>
      <p:sp>
        <p:nvSpPr>
          <p:cNvPr id="50" name="Shape 48">
            <a:extLst>
              <a:ext uri="{FF2B5EF4-FFF2-40B4-BE49-F238E27FC236}">
                <a16:creationId xmlns:a16="http://schemas.microsoft.com/office/drawing/2014/main" id="{A90FF68C-72AD-980D-2521-A124D162794D}"/>
              </a:ext>
            </a:extLst>
          </p:cNvPr>
          <p:cNvSpPr/>
          <p:nvPr/>
        </p:nvSpPr>
        <p:spPr>
          <a:xfrm>
            <a:off x="9707387" y="3892357"/>
            <a:ext cx="1947703" cy="36576"/>
          </a:xfrm>
          <a:prstGeom prst="rect">
            <a:avLst/>
          </a:prstGeom>
          <a:solidFill>
            <a:srgbClr val="E0DEEF"/>
          </a:solidFill>
          <a:ln w="12700">
            <a:solidFill>
              <a:srgbClr val="333333"/>
            </a:solidFill>
            <a:prstDash val="solid"/>
          </a:ln>
        </p:spPr>
      </p:sp>
      <p:sp>
        <p:nvSpPr>
          <p:cNvPr id="51" name="Text 49">
            <a:extLst>
              <a:ext uri="{FF2B5EF4-FFF2-40B4-BE49-F238E27FC236}">
                <a16:creationId xmlns:a16="http://schemas.microsoft.com/office/drawing/2014/main" id="{0221AFEA-6E92-8FEA-D390-DC421C422267}"/>
              </a:ext>
            </a:extLst>
          </p:cNvPr>
          <p:cNvSpPr/>
          <p:nvPr/>
        </p:nvSpPr>
        <p:spPr>
          <a:xfrm>
            <a:off x="9707387"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52" name="Text 50">
            <a:extLst>
              <a:ext uri="{FF2B5EF4-FFF2-40B4-BE49-F238E27FC236}">
                <a16:creationId xmlns:a16="http://schemas.microsoft.com/office/drawing/2014/main" id="{0EBFB7B2-3A34-8665-C416-45224C84CB3C}"/>
              </a:ext>
            </a:extLst>
          </p:cNvPr>
          <p:cNvSpPr/>
          <p:nvPr/>
        </p:nvSpPr>
        <p:spPr>
          <a:xfrm>
            <a:off x="10283459"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RAG · ChromaDB · LLM backbone</a:t>
            </a:r>
            <a:endParaRPr lang="en-US" sz="900" dirty="0"/>
          </a:p>
        </p:txBody>
      </p:sp>
      <p:sp>
        <p:nvSpPr>
          <p:cNvPr id="53" name="Text 51">
            <a:extLst>
              <a:ext uri="{FF2B5EF4-FFF2-40B4-BE49-F238E27FC236}">
                <a16:creationId xmlns:a16="http://schemas.microsoft.com/office/drawing/2014/main" id="{B4858EF5-9C26-E89F-3433-DD2944555957}"/>
              </a:ext>
            </a:extLst>
          </p:cNvPr>
          <p:cNvSpPr/>
          <p:nvPr/>
        </p:nvSpPr>
        <p:spPr>
          <a:xfrm>
            <a:off x="9707387"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0" name="Shape 8">
            <a:extLst>
              <a:ext uri="{FF2B5EF4-FFF2-40B4-BE49-F238E27FC236}">
                <a16:creationId xmlns:a16="http://schemas.microsoft.com/office/drawing/2014/main" id="{71395141-A66E-1A84-4C52-0B98DC804CDB}"/>
              </a:ext>
            </a:extLst>
          </p:cNvPr>
          <p:cNvSpPr/>
          <p:nvPr/>
        </p:nvSpPr>
        <p:spPr>
          <a:xfrm>
            <a:off x="384048" y="1600200"/>
            <a:ext cx="2124767" cy="502920"/>
          </a:xfrm>
          <a:prstGeom prst="rect">
            <a:avLst/>
          </a:prstGeom>
          <a:solidFill>
            <a:srgbClr val="F96167"/>
          </a:solidFill>
          <a:ln w="12700">
            <a:solidFill>
              <a:srgbClr val="333333"/>
            </a:solidFill>
            <a:prstDash val="solid"/>
          </a:ln>
        </p:spPr>
      </p:sp>
      <p:sp>
        <p:nvSpPr>
          <p:cNvPr id="54" name="Text 52">
            <a:extLst>
              <a:ext uri="{FF2B5EF4-FFF2-40B4-BE49-F238E27FC236}">
                <a16:creationId xmlns:a16="http://schemas.microsoft.com/office/drawing/2014/main" id="{3954A32C-700B-C05E-2EDC-BD86978668D8}"/>
              </a:ext>
            </a:extLst>
          </p:cNvPr>
          <p:cNvSpPr/>
          <p:nvPr/>
        </p:nvSpPr>
        <p:spPr>
          <a:xfrm>
            <a:off x="10283459"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Open-source parenting &amp; paediatric corpus</a:t>
            </a:r>
            <a:endParaRPr lang="en-US" sz="900" dirty="0"/>
          </a:p>
        </p:txBody>
      </p:sp>
      <p:sp>
        <p:nvSpPr>
          <p:cNvPr id="55" name="Text 53">
            <a:extLst>
              <a:ext uri="{FF2B5EF4-FFF2-40B4-BE49-F238E27FC236}">
                <a16:creationId xmlns:a16="http://schemas.microsoft.com/office/drawing/2014/main" id="{1351902C-CE3A-F447-0896-EF98C75F4D1C}"/>
              </a:ext>
            </a:extLst>
          </p:cNvPr>
          <p:cNvSpPr/>
          <p:nvPr/>
        </p:nvSpPr>
        <p:spPr>
          <a:xfrm>
            <a:off x="9707387" y="4681728"/>
            <a:ext cx="516436"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Result:</a:t>
            </a:r>
            <a:endParaRPr lang="en-US" sz="900" dirty="0"/>
          </a:p>
        </p:txBody>
      </p:sp>
      <p:sp>
        <p:nvSpPr>
          <p:cNvPr id="56" name="Text 54">
            <a:extLst>
              <a:ext uri="{FF2B5EF4-FFF2-40B4-BE49-F238E27FC236}">
                <a16:creationId xmlns:a16="http://schemas.microsoft.com/office/drawing/2014/main" id="{8B4E7ED7-E949-E6AE-0F13-E23CD34CE4C6}"/>
              </a:ext>
            </a:extLst>
          </p:cNvPr>
          <p:cNvSpPr/>
          <p:nvPr/>
        </p:nvSpPr>
        <p:spPr>
          <a:xfrm>
            <a:off x="10283459" y="4681728"/>
            <a:ext cx="1482910"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Context-aware Q&amp;A</a:t>
            </a:r>
            <a:endParaRPr lang="en-US" sz="900" dirty="0"/>
          </a:p>
        </p:txBody>
      </p:sp>
      <p:sp>
        <p:nvSpPr>
          <p:cNvPr id="2" name="Shape 0">
            <a:extLst>
              <a:ext uri="{FF2B5EF4-FFF2-40B4-BE49-F238E27FC236}">
                <a16:creationId xmlns:a16="http://schemas.microsoft.com/office/drawing/2014/main" id="{6AE673BF-ADD5-05EB-D87B-0AEE23FF801A}"/>
              </a:ext>
            </a:extLst>
          </p:cNvPr>
          <p:cNvSpPr/>
          <p:nvPr/>
        </p:nvSpPr>
        <p:spPr>
          <a:xfrm>
            <a:off x="10241280" y="-548640"/>
            <a:ext cx="2011680" cy="2011680"/>
          </a:xfrm>
          <a:prstGeom prst="ellipse">
            <a:avLst/>
          </a:prstGeom>
          <a:solidFill>
            <a:srgbClr val="3BBFAD">
              <a:alpha val="60000"/>
            </a:srgbClr>
          </a:solidFill>
          <a:ln w="12700">
            <a:solidFill>
              <a:srgbClr val="333333"/>
            </a:solidFill>
            <a:prstDash val="solid"/>
          </a:ln>
        </p:spPr>
      </p:sp>
      <p:sp>
        <p:nvSpPr>
          <p:cNvPr id="3" name="Shape 1">
            <a:extLst>
              <a:ext uri="{FF2B5EF4-FFF2-40B4-BE49-F238E27FC236}">
                <a16:creationId xmlns:a16="http://schemas.microsoft.com/office/drawing/2014/main" id="{E97B0B89-1A2F-B78D-A5FF-2AA02D8CBEEB}"/>
              </a:ext>
            </a:extLst>
          </p:cNvPr>
          <p:cNvSpPr/>
          <p:nvPr/>
        </p:nvSpPr>
        <p:spPr>
          <a:xfrm>
            <a:off x="10789920" y="5303520"/>
            <a:ext cx="1463040" cy="1463040"/>
          </a:xfrm>
          <a:prstGeom prst="ellipse">
            <a:avLst/>
          </a:prstGeom>
          <a:solidFill>
            <a:srgbClr val="F96167">
              <a:alpha val="50000"/>
            </a:srgbClr>
          </a:solidFill>
          <a:ln w="12700">
            <a:solidFill>
              <a:srgbClr val="333333"/>
            </a:solidFill>
            <a:prstDash val="solid"/>
          </a:ln>
        </p:spPr>
      </p:sp>
      <p:sp>
        <p:nvSpPr>
          <p:cNvPr id="4" name="Shape 2">
            <a:extLst>
              <a:ext uri="{FF2B5EF4-FFF2-40B4-BE49-F238E27FC236}">
                <a16:creationId xmlns:a16="http://schemas.microsoft.com/office/drawing/2014/main" id="{E4A53134-A945-AFB1-D539-99FA4767A772}"/>
              </a:ext>
            </a:extLst>
          </p:cNvPr>
          <p:cNvSpPr/>
          <p:nvPr/>
        </p:nvSpPr>
        <p:spPr>
          <a:xfrm>
            <a:off x="-457200" y="5486400"/>
            <a:ext cx="1463040" cy="1463040"/>
          </a:xfrm>
          <a:prstGeom prst="ellipse">
            <a:avLst/>
          </a:prstGeom>
          <a:solidFill>
            <a:srgbClr val="F5A05A">
              <a:alpha val="55000"/>
            </a:srgbClr>
          </a:solidFill>
          <a:ln w="12700">
            <a:solidFill>
              <a:srgbClr val="333333"/>
            </a:solidFill>
            <a:prstDash val="solid"/>
          </a:ln>
        </p:spPr>
      </p:sp>
      <p:sp>
        <p:nvSpPr>
          <p:cNvPr id="5" name="Shape 3">
            <a:extLst>
              <a:ext uri="{FF2B5EF4-FFF2-40B4-BE49-F238E27FC236}">
                <a16:creationId xmlns:a16="http://schemas.microsoft.com/office/drawing/2014/main" id="{CDDD34C8-9DB6-DD00-C09E-E9B4D35E50D1}"/>
              </a:ext>
            </a:extLst>
          </p:cNvPr>
          <p:cNvSpPr/>
          <p:nvPr/>
        </p:nvSpPr>
        <p:spPr>
          <a:xfrm>
            <a:off x="91440" y="2743200"/>
            <a:ext cx="457200" cy="457200"/>
          </a:xfrm>
          <a:prstGeom prst="ellipse">
            <a:avLst/>
          </a:prstGeom>
          <a:solidFill>
            <a:srgbClr val="8B7EC8">
              <a:alpha val="70000"/>
            </a:srgbClr>
          </a:solidFill>
          <a:ln w="12700">
            <a:solidFill>
              <a:srgbClr val="333333"/>
            </a:solidFill>
            <a:prstDash val="solid"/>
          </a:ln>
        </p:spPr>
      </p:sp>
      <p:sp>
        <p:nvSpPr>
          <p:cNvPr id="11" name="Text 9">
            <a:extLst>
              <a:ext uri="{FF2B5EF4-FFF2-40B4-BE49-F238E27FC236}">
                <a16:creationId xmlns:a16="http://schemas.microsoft.com/office/drawing/2014/main" id="{5BA1FAED-71BE-47F1-832F-FC7B8D080046}"/>
              </a:ext>
            </a:extLst>
          </p:cNvPr>
          <p:cNvSpPr/>
          <p:nvPr/>
        </p:nvSpPr>
        <p:spPr>
          <a:xfrm>
            <a:off x="493776"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a:extLst>
              <a:ext uri="{FF2B5EF4-FFF2-40B4-BE49-F238E27FC236}">
                <a16:creationId xmlns:a16="http://schemas.microsoft.com/office/drawing/2014/main" id="{D38600F8-CECF-4E33-FD51-A91D7FBB1F51}"/>
              </a:ext>
            </a:extLst>
          </p:cNvPr>
          <p:cNvSpPr/>
          <p:nvPr/>
        </p:nvSpPr>
        <p:spPr>
          <a:xfrm>
            <a:off x="502920" y="274320"/>
            <a:ext cx="9144000" cy="594360"/>
          </a:xfrm>
          <a:prstGeom prst="rect">
            <a:avLst/>
          </a:prstGeom>
          <a:noFill/>
          <a:ln/>
        </p:spPr>
        <p:txBody>
          <a:bodyPr wrap="square" rtlCol="0" anchor="ctr"/>
          <a:lstStyle/>
          <a:p>
            <a:pPr marL="0" indent="0">
              <a:buNone/>
            </a:pPr>
            <a:r>
              <a:rPr lang="en-US" sz="3200" b="1" dirty="0">
                <a:solidFill>
                  <a:srgbClr val="2E2B5F"/>
                </a:solidFill>
                <a:latin typeface="Calibri" pitchFamily="34" charset="0"/>
                <a:ea typeface="Calibri" pitchFamily="34" charset="-122"/>
                <a:cs typeface="Calibri" pitchFamily="34" charset="-120"/>
              </a:rPr>
              <a:t>Platform Overview</a:t>
            </a:r>
            <a:endParaRPr lang="en-US" sz="3200" dirty="0"/>
          </a:p>
        </p:txBody>
      </p:sp>
      <p:sp>
        <p:nvSpPr>
          <p:cNvPr id="7" name="Shape 5">
            <a:extLst>
              <a:ext uri="{FF2B5EF4-FFF2-40B4-BE49-F238E27FC236}">
                <a16:creationId xmlns:a16="http://schemas.microsoft.com/office/drawing/2014/main" id="{567C5AEE-04A5-7DD9-2AC7-BC79C34F06B2}"/>
              </a:ext>
            </a:extLst>
          </p:cNvPr>
          <p:cNvSpPr/>
          <p:nvPr/>
        </p:nvSpPr>
        <p:spPr>
          <a:xfrm>
            <a:off x="502920" y="896112"/>
            <a:ext cx="1645920" cy="54864"/>
          </a:xfrm>
          <a:prstGeom prst="rect">
            <a:avLst/>
          </a:prstGeom>
          <a:solidFill>
            <a:srgbClr val="F96167"/>
          </a:solidFill>
          <a:ln w="12700">
            <a:solidFill>
              <a:srgbClr val="333333"/>
            </a:solidFill>
            <a:prstDash val="solid"/>
          </a:ln>
        </p:spPr>
      </p:sp>
      <p:sp>
        <p:nvSpPr>
          <p:cNvPr id="8" name="Text 6">
            <a:extLst>
              <a:ext uri="{FF2B5EF4-FFF2-40B4-BE49-F238E27FC236}">
                <a16:creationId xmlns:a16="http://schemas.microsoft.com/office/drawing/2014/main" id="{BC079494-68EA-5F3B-6071-F4E29B613065}"/>
              </a:ext>
            </a:extLst>
          </p:cNvPr>
          <p:cNvSpPr/>
          <p:nvPr/>
        </p:nvSpPr>
        <p:spPr>
          <a:xfrm>
            <a:off x="502920" y="1005840"/>
            <a:ext cx="10789920" cy="457200"/>
          </a:xfrm>
          <a:prstGeom prst="rect">
            <a:avLst/>
          </a:prstGeom>
          <a:noFill/>
          <a:ln/>
        </p:spPr>
        <p:txBody>
          <a:bodyPr wrap="square" rtlCol="0" anchor="ctr"/>
          <a:lstStyle/>
          <a:p>
            <a:pPr marL="0" indent="0">
              <a:buNone/>
            </a:pPr>
            <a:r>
              <a:rPr lang="en-US" sz="1300" dirty="0">
                <a:solidFill>
                  <a:srgbClr val="6B6B8A"/>
                </a:solidFill>
                <a:latin typeface="Calibri" pitchFamily="34" charset="0"/>
                <a:ea typeface="Calibri" pitchFamily="34" charset="-122"/>
                <a:cs typeface="Calibri" pitchFamily="34" charset="-120"/>
              </a:rPr>
              <a:t>NurtureAI integrates four ML modules into a unified Flask API with a React frontend, enabling real-time predictions across multiple child health domains.</a:t>
            </a:r>
            <a:endParaRPr lang="en-US" sz="1300" dirty="0"/>
          </a:p>
        </p:txBody>
      </p:sp>
      <p:sp>
        <p:nvSpPr>
          <p:cNvPr id="12" name="Text 10">
            <a:extLst>
              <a:ext uri="{FF2B5EF4-FFF2-40B4-BE49-F238E27FC236}">
                <a16:creationId xmlns:a16="http://schemas.microsoft.com/office/drawing/2014/main" id="{3C83FE1C-EE50-1579-8290-E9FFE0F1FEB2}"/>
              </a:ext>
            </a:extLst>
          </p:cNvPr>
          <p:cNvSpPr/>
          <p:nvPr/>
        </p:nvSpPr>
        <p:spPr>
          <a:xfrm>
            <a:off x="493776"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Behaviour &amp; Mental Health</a:t>
            </a:r>
            <a:endParaRPr lang="en-US" sz="1250" dirty="0"/>
          </a:p>
        </p:txBody>
      </p:sp>
      <p:sp>
        <p:nvSpPr>
          <p:cNvPr id="13" name="Text 11">
            <a:extLst>
              <a:ext uri="{FF2B5EF4-FFF2-40B4-BE49-F238E27FC236}">
                <a16:creationId xmlns:a16="http://schemas.microsoft.com/office/drawing/2014/main" id="{1CB55D5E-984B-28D9-9F94-82D6A9FADB41}"/>
              </a:ext>
            </a:extLst>
          </p:cNvPr>
          <p:cNvSpPr/>
          <p:nvPr/>
        </p:nvSpPr>
        <p:spPr>
          <a:xfrm>
            <a:off x="493776"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Severity Impairment Index (sii 0–3) from physical health, sleep, activity &amp; fitness data. 8× better than all 9 standard classifiers.</a:t>
            </a:r>
            <a:endParaRPr lang="en-US" sz="1050" dirty="0"/>
          </a:p>
        </p:txBody>
      </p:sp>
      <p:sp>
        <p:nvSpPr>
          <p:cNvPr id="14" name="Shape 12">
            <a:extLst>
              <a:ext uri="{FF2B5EF4-FFF2-40B4-BE49-F238E27FC236}">
                <a16:creationId xmlns:a16="http://schemas.microsoft.com/office/drawing/2014/main" id="{90EA922A-4059-8002-25B7-A967BCFAE0E9}"/>
              </a:ext>
            </a:extLst>
          </p:cNvPr>
          <p:cNvSpPr/>
          <p:nvPr/>
        </p:nvSpPr>
        <p:spPr>
          <a:xfrm>
            <a:off x="493776" y="3892357"/>
            <a:ext cx="1947703" cy="36576"/>
          </a:xfrm>
          <a:prstGeom prst="rect">
            <a:avLst/>
          </a:prstGeom>
          <a:solidFill>
            <a:srgbClr val="E0DEEF"/>
          </a:solidFill>
          <a:ln w="12700">
            <a:solidFill>
              <a:srgbClr val="333333"/>
            </a:solidFill>
            <a:prstDash val="solid"/>
          </a:ln>
        </p:spPr>
      </p:sp>
      <p:sp>
        <p:nvSpPr>
          <p:cNvPr id="15" name="Text 13">
            <a:extLst>
              <a:ext uri="{FF2B5EF4-FFF2-40B4-BE49-F238E27FC236}">
                <a16:creationId xmlns:a16="http://schemas.microsoft.com/office/drawing/2014/main" id="{D057FE06-3DA0-FAF5-3564-A070ED05AC0C}"/>
              </a:ext>
            </a:extLst>
          </p:cNvPr>
          <p:cNvSpPr/>
          <p:nvPr/>
        </p:nvSpPr>
        <p:spPr>
          <a:xfrm>
            <a:off x="493776"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16" name="Text 14">
            <a:extLst>
              <a:ext uri="{FF2B5EF4-FFF2-40B4-BE49-F238E27FC236}">
                <a16:creationId xmlns:a16="http://schemas.microsoft.com/office/drawing/2014/main" id="{118C09C7-22C7-2CA5-D310-F79E307036E0}"/>
              </a:ext>
            </a:extLst>
          </p:cNvPr>
          <p:cNvSpPr/>
          <p:nvPr/>
        </p:nvSpPr>
        <p:spPr>
          <a:xfrm>
            <a:off x="1069848"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OrdinalGB (GradientBoosting Regressor)</a:t>
            </a:r>
            <a:endParaRPr lang="en-US" sz="900" dirty="0"/>
          </a:p>
        </p:txBody>
      </p:sp>
      <p:sp>
        <p:nvSpPr>
          <p:cNvPr id="17" name="Text 15">
            <a:extLst>
              <a:ext uri="{FF2B5EF4-FFF2-40B4-BE49-F238E27FC236}">
                <a16:creationId xmlns:a16="http://schemas.microsoft.com/office/drawing/2014/main" id="{371534B5-1435-D108-4A2E-502A13004558}"/>
              </a:ext>
            </a:extLst>
          </p:cNvPr>
          <p:cNvSpPr/>
          <p:nvPr/>
        </p:nvSpPr>
        <p:spPr>
          <a:xfrm>
            <a:off x="493776"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8" name="Text 16">
            <a:extLst>
              <a:ext uri="{FF2B5EF4-FFF2-40B4-BE49-F238E27FC236}">
                <a16:creationId xmlns:a16="http://schemas.microsoft.com/office/drawing/2014/main" id="{C3BB372D-CE7F-31CE-FFB9-CD4C8FF70A8C}"/>
              </a:ext>
            </a:extLst>
          </p:cNvPr>
          <p:cNvSpPr/>
          <p:nvPr/>
        </p:nvSpPr>
        <p:spPr>
          <a:xfrm>
            <a:off x="1069848" y="450071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CMI-PIU · 3,900 rows · 22 features</a:t>
            </a:r>
            <a:endParaRPr lang="en-US" sz="900" dirty="0"/>
          </a:p>
        </p:txBody>
      </p:sp>
      <p:sp>
        <p:nvSpPr>
          <p:cNvPr id="71" name="Shape 44">
            <a:extLst>
              <a:ext uri="{FF2B5EF4-FFF2-40B4-BE49-F238E27FC236}">
                <a16:creationId xmlns:a16="http://schemas.microsoft.com/office/drawing/2014/main" id="{B70499BF-0E66-8C83-11B5-93D680824FB8}"/>
              </a:ext>
            </a:extLst>
          </p:cNvPr>
          <p:cNvSpPr/>
          <p:nvPr/>
        </p:nvSpPr>
        <p:spPr>
          <a:xfrm>
            <a:off x="7255998" y="1612637"/>
            <a:ext cx="2124767" cy="502920"/>
          </a:xfrm>
          <a:prstGeom prst="rect">
            <a:avLst/>
          </a:prstGeom>
          <a:solidFill>
            <a:srgbClr val="002060"/>
          </a:solidFill>
          <a:ln w="12700">
            <a:solidFill>
              <a:srgbClr val="333333"/>
            </a:solidFill>
            <a:prstDash val="solid"/>
          </a:ln>
        </p:spPr>
      </p:sp>
      <p:sp>
        <p:nvSpPr>
          <p:cNvPr id="72" name="Text 45">
            <a:extLst>
              <a:ext uri="{FF2B5EF4-FFF2-40B4-BE49-F238E27FC236}">
                <a16:creationId xmlns:a16="http://schemas.microsoft.com/office/drawing/2014/main" id="{51ECDFCA-504D-6420-8A2D-D1A04045591B}"/>
              </a:ext>
            </a:extLst>
          </p:cNvPr>
          <p:cNvSpPr/>
          <p:nvPr/>
        </p:nvSpPr>
        <p:spPr>
          <a:xfrm>
            <a:off x="7365726" y="1649213"/>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9" name="Text 17">
            <a:extLst>
              <a:ext uri="{FF2B5EF4-FFF2-40B4-BE49-F238E27FC236}">
                <a16:creationId xmlns:a16="http://schemas.microsoft.com/office/drawing/2014/main" id="{629D39C2-8007-1501-F492-A873512FCC6A}"/>
              </a:ext>
            </a:extLst>
          </p:cNvPr>
          <p:cNvSpPr/>
          <p:nvPr/>
        </p:nvSpPr>
        <p:spPr>
          <a:xfrm>
            <a:off x="493776" y="4681728"/>
            <a:ext cx="516436"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Result:</a:t>
            </a:r>
            <a:endParaRPr lang="en-US" sz="900" dirty="0"/>
          </a:p>
        </p:txBody>
      </p:sp>
      <p:sp>
        <p:nvSpPr>
          <p:cNvPr id="20" name="Text 18">
            <a:extLst>
              <a:ext uri="{FF2B5EF4-FFF2-40B4-BE49-F238E27FC236}">
                <a16:creationId xmlns:a16="http://schemas.microsoft.com/office/drawing/2014/main" id="{4F658E29-2616-2E6A-42C1-6A2A7A6805B5}"/>
              </a:ext>
            </a:extLst>
          </p:cNvPr>
          <p:cNvSpPr/>
          <p:nvPr/>
        </p:nvSpPr>
        <p:spPr>
          <a:xfrm>
            <a:off x="1069848" y="4681728"/>
            <a:ext cx="1482910"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QWK = 0.6259 (Substantial)</a:t>
            </a:r>
            <a:endParaRPr lang="en-US" sz="900" dirty="0"/>
          </a:p>
        </p:txBody>
      </p:sp>
      <p:sp>
        <p:nvSpPr>
          <p:cNvPr id="73" name="Text 46">
            <a:extLst>
              <a:ext uri="{FF2B5EF4-FFF2-40B4-BE49-F238E27FC236}">
                <a16:creationId xmlns:a16="http://schemas.microsoft.com/office/drawing/2014/main" id="{ACEA13BC-8029-2AA2-73F3-58139D657F7D}"/>
              </a:ext>
            </a:extLst>
          </p:cNvPr>
          <p:cNvSpPr/>
          <p:nvPr/>
        </p:nvSpPr>
        <p:spPr>
          <a:xfrm>
            <a:off x="7365726" y="2188709"/>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Adult </a:t>
            </a:r>
            <a:r>
              <a:rPr lang="en-US" sz="1250" b="1" dirty="0" err="1">
                <a:solidFill>
                  <a:srgbClr val="2E2B5F"/>
                </a:solidFill>
                <a:latin typeface="Calibri" pitchFamily="34" charset="0"/>
                <a:ea typeface="Calibri" pitchFamily="34" charset="-122"/>
                <a:cs typeface="Calibri" pitchFamily="34" charset="-120"/>
              </a:rPr>
              <a:t>Behaviour</a:t>
            </a:r>
            <a:r>
              <a:rPr lang="en-US" sz="1250" b="1" dirty="0">
                <a:solidFill>
                  <a:srgbClr val="2E2B5F"/>
                </a:solidFill>
                <a:latin typeface="Calibri" pitchFamily="34" charset="0"/>
                <a:ea typeface="Calibri" pitchFamily="34" charset="-122"/>
                <a:cs typeface="Calibri" pitchFamily="34" charset="-120"/>
              </a:rPr>
              <a:t> Analysis</a:t>
            </a:r>
            <a:endParaRPr lang="en-US" sz="1250" dirty="0"/>
          </a:p>
        </p:txBody>
      </p:sp>
      <p:sp>
        <p:nvSpPr>
          <p:cNvPr id="74" name="Text 47">
            <a:extLst>
              <a:ext uri="{FF2B5EF4-FFF2-40B4-BE49-F238E27FC236}">
                <a16:creationId xmlns:a16="http://schemas.microsoft.com/office/drawing/2014/main" id="{3E305001-AFF0-3863-69E2-778FF1F9A1B9}"/>
              </a:ext>
            </a:extLst>
          </p:cNvPr>
          <p:cNvSpPr/>
          <p:nvPr/>
        </p:nvSpPr>
        <p:spPr>
          <a:xfrm>
            <a:off x="7365726" y="2645909"/>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the </a:t>
            </a:r>
            <a:r>
              <a:rPr lang="en-US" sz="1050" dirty="0" err="1">
                <a:solidFill>
                  <a:srgbClr val="6B6B8A"/>
                </a:solidFill>
                <a:latin typeface="Calibri" pitchFamily="34" charset="0"/>
                <a:ea typeface="Calibri" pitchFamily="34" charset="-122"/>
                <a:cs typeface="Calibri" pitchFamily="34" charset="-120"/>
              </a:rPr>
              <a:t>behaviour</a:t>
            </a:r>
            <a:r>
              <a:rPr lang="en-US" sz="1050" dirty="0">
                <a:solidFill>
                  <a:srgbClr val="6B6B8A"/>
                </a:solidFill>
                <a:latin typeface="Calibri" pitchFamily="34" charset="0"/>
                <a:ea typeface="Calibri" pitchFamily="34" charset="-122"/>
                <a:cs typeface="Calibri" pitchFamily="34" charset="-120"/>
              </a:rPr>
              <a:t> of the parenting ability to classify as 3 classes of parenting risk prediction – Healthy, Moderate, and High risk</a:t>
            </a:r>
            <a:endParaRPr lang="en-US" sz="1050" dirty="0"/>
          </a:p>
        </p:txBody>
      </p:sp>
      <p:sp>
        <p:nvSpPr>
          <p:cNvPr id="75" name="Shape 48">
            <a:extLst>
              <a:ext uri="{FF2B5EF4-FFF2-40B4-BE49-F238E27FC236}">
                <a16:creationId xmlns:a16="http://schemas.microsoft.com/office/drawing/2014/main" id="{3F0535B5-679E-7CF2-E17D-C132DB2D2FD4}"/>
              </a:ext>
            </a:extLst>
          </p:cNvPr>
          <p:cNvSpPr/>
          <p:nvPr/>
        </p:nvSpPr>
        <p:spPr>
          <a:xfrm>
            <a:off x="7365726" y="3904794"/>
            <a:ext cx="1947703" cy="36576"/>
          </a:xfrm>
          <a:prstGeom prst="rect">
            <a:avLst/>
          </a:prstGeom>
          <a:solidFill>
            <a:srgbClr val="E0DEEF"/>
          </a:solidFill>
          <a:ln w="12700">
            <a:solidFill>
              <a:srgbClr val="333333"/>
            </a:solidFill>
            <a:prstDash val="solid"/>
          </a:ln>
        </p:spPr>
      </p:sp>
      <p:sp>
        <p:nvSpPr>
          <p:cNvPr id="76" name="Text 49">
            <a:extLst>
              <a:ext uri="{FF2B5EF4-FFF2-40B4-BE49-F238E27FC236}">
                <a16:creationId xmlns:a16="http://schemas.microsoft.com/office/drawing/2014/main" id="{60300D4C-7296-8D21-9EC0-42D3B871A11B}"/>
              </a:ext>
            </a:extLst>
          </p:cNvPr>
          <p:cNvSpPr/>
          <p:nvPr/>
        </p:nvSpPr>
        <p:spPr>
          <a:xfrm>
            <a:off x="7365726" y="414552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77" name="Text 50">
            <a:extLst>
              <a:ext uri="{FF2B5EF4-FFF2-40B4-BE49-F238E27FC236}">
                <a16:creationId xmlns:a16="http://schemas.microsoft.com/office/drawing/2014/main" id="{3FCF4F67-EF42-3DBA-4B3F-D75938B20A2D}"/>
              </a:ext>
            </a:extLst>
          </p:cNvPr>
          <p:cNvSpPr/>
          <p:nvPr/>
        </p:nvSpPr>
        <p:spPr>
          <a:xfrm>
            <a:off x="7941798" y="4145525"/>
            <a:ext cx="1482910" cy="256032"/>
          </a:xfrm>
          <a:prstGeom prst="rect">
            <a:avLst/>
          </a:prstGeom>
          <a:noFill/>
          <a:ln/>
        </p:spPr>
        <p:txBody>
          <a:bodyPr wrap="square" rtlCol="0" anchor="ctr"/>
          <a:lstStyle/>
          <a:p>
            <a:pPr marL="0" indent="0">
              <a:buNone/>
            </a:pPr>
            <a:r>
              <a:rPr lang="en-US" sz="900" dirty="0" err="1">
                <a:solidFill>
                  <a:srgbClr val="6B6B8A"/>
                </a:solidFill>
                <a:latin typeface="Calibri" pitchFamily="34" charset="0"/>
                <a:ea typeface="Calibri" pitchFamily="34" charset="-122"/>
                <a:cs typeface="Calibri" pitchFamily="34" charset="-120"/>
              </a:rPr>
              <a:t>RandomForestClassifier</a:t>
            </a:r>
            <a:endParaRPr lang="en-US" sz="900" dirty="0"/>
          </a:p>
        </p:txBody>
      </p:sp>
      <p:sp>
        <p:nvSpPr>
          <p:cNvPr id="78" name="Text 51">
            <a:extLst>
              <a:ext uri="{FF2B5EF4-FFF2-40B4-BE49-F238E27FC236}">
                <a16:creationId xmlns:a16="http://schemas.microsoft.com/office/drawing/2014/main" id="{040FD122-7B54-2B2B-63BA-48A63C8BA9B1}"/>
              </a:ext>
            </a:extLst>
          </p:cNvPr>
          <p:cNvSpPr/>
          <p:nvPr/>
        </p:nvSpPr>
        <p:spPr>
          <a:xfrm>
            <a:off x="7365726" y="441984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79" name="Text 52">
            <a:extLst>
              <a:ext uri="{FF2B5EF4-FFF2-40B4-BE49-F238E27FC236}">
                <a16:creationId xmlns:a16="http://schemas.microsoft.com/office/drawing/2014/main" id="{9DF88017-B147-822B-8F52-1AD243C1580E}"/>
              </a:ext>
            </a:extLst>
          </p:cNvPr>
          <p:cNvSpPr/>
          <p:nvPr/>
        </p:nvSpPr>
        <p:spPr>
          <a:xfrm>
            <a:off x="7941798" y="441984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BRFSS</a:t>
            </a:r>
            <a:endParaRPr lang="en-US" sz="900" dirty="0"/>
          </a:p>
        </p:txBody>
      </p:sp>
      <p:sp>
        <p:nvSpPr>
          <p:cNvPr id="80" name="Text 53">
            <a:extLst>
              <a:ext uri="{FF2B5EF4-FFF2-40B4-BE49-F238E27FC236}">
                <a16:creationId xmlns:a16="http://schemas.microsoft.com/office/drawing/2014/main" id="{B07EF379-F388-E525-D61E-8CC63F690703}"/>
              </a:ext>
            </a:extLst>
          </p:cNvPr>
          <p:cNvSpPr/>
          <p:nvPr/>
        </p:nvSpPr>
        <p:spPr>
          <a:xfrm>
            <a:off x="7365726" y="4694165"/>
            <a:ext cx="516436"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Result</a:t>
            </a:r>
            <a:r>
              <a:rPr lang="en-US" sz="900" b="1" dirty="0">
                <a:solidFill>
                  <a:srgbClr val="8B7EC8"/>
                </a:solidFill>
                <a:latin typeface="Calibri" pitchFamily="34" charset="0"/>
                <a:ea typeface="Calibri" pitchFamily="34" charset="-122"/>
                <a:cs typeface="Calibri" pitchFamily="34" charset="-120"/>
              </a:rPr>
              <a:t>:</a:t>
            </a:r>
            <a:endParaRPr lang="en-US" sz="900" dirty="0"/>
          </a:p>
        </p:txBody>
      </p:sp>
      <p:sp>
        <p:nvSpPr>
          <p:cNvPr id="81" name="Text 54">
            <a:extLst>
              <a:ext uri="{FF2B5EF4-FFF2-40B4-BE49-F238E27FC236}">
                <a16:creationId xmlns:a16="http://schemas.microsoft.com/office/drawing/2014/main" id="{77E9243A-6A24-B1EF-3E0E-2A34DBE477C9}"/>
              </a:ext>
            </a:extLst>
          </p:cNvPr>
          <p:cNvSpPr/>
          <p:nvPr/>
        </p:nvSpPr>
        <p:spPr>
          <a:xfrm>
            <a:off x="7941798" y="4694165"/>
            <a:ext cx="1482910"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Parenting Environment Analysis</a:t>
            </a:r>
            <a:endParaRPr lang="en-US" sz="900" dirty="0">
              <a:solidFill>
                <a:srgbClr val="002060"/>
              </a:solidFill>
            </a:endParaRPr>
          </a:p>
        </p:txBody>
      </p:sp>
    </p:spTree>
    <p:extLst>
      <p:ext uri="{BB962C8B-B14F-4D97-AF65-F5344CB8AC3E}">
        <p14:creationId xmlns:p14="http://schemas.microsoft.com/office/powerpoint/2010/main" val="40700517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0F8"/>
        </a:solidFill>
        <a:effectLst/>
      </p:bgPr>
    </p:bg>
    <p:spTree>
      <p:nvGrpSpPr>
        <p:cNvPr id="1" name="">
          <a:extLst>
            <a:ext uri="{FF2B5EF4-FFF2-40B4-BE49-F238E27FC236}">
              <a16:creationId xmlns:a16="http://schemas.microsoft.com/office/drawing/2014/main" id="{3B856F38-158F-7495-B8C6-2211B5EF60F7}"/>
            </a:ext>
          </a:extLst>
        </p:cNvPr>
        <p:cNvGrpSpPr/>
        <p:nvPr/>
      </p:nvGrpSpPr>
      <p:grpSpPr>
        <a:xfrm>
          <a:off x="0" y="0"/>
          <a:ext cx="0" cy="0"/>
          <a:chOff x="0" y="0"/>
          <a:chExt cx="0" cy="0"/>
        </a:xfrm>
      </p:grpSpPr>
      <p:sp>
        <p:nvSpPr>
          <p:cNvPr id="21" name="Shape 19">
            <a:extLst>
              <a:ext uri="{FF2B5EF4-FFF2-40B4-BE49-F238E27FC236}">
                <a16:creationId xmlns:a16="http://schemas.microsoft.com/office/drawing/2014/main" id="{7185A5E9-ED49-F45D-E725-1859B95FFE36}"/>
              </a:ext>
            </a:extLst>
          </p:cNvPr>
          <p:cNvSpPr/>
          <p:nvPr/>
        </p:nvSpPr>
        <p:spPr>
          <a:xfrm>
            <a:off x="2670421" y="1600200"/>
            <a:ext cx="2124767" cy="4251960"/>
          </a:xfrm>
          <a:prstGeom prst="rect">
            <a:avLst/>
          </a:prstGeom>
          <a:solidFill>
            <a:srgbClr val="FFFFFF"/>
          </a:solidFill>
          <a:ln w="12700">
            <a:solidFill>
              <a:srgbClr val="E0DEEF"/>
            </a:solidFill>
            <a:prstDash val="solid"/>
          </a:ln>
        </p:spPr>
      </p:sp>
      <p:sp>
        <p:nvSpPr>
          <p:cNvPr id="33" name="Shape 31">
            <a:extLst>
              <a:ext uri="{FF2B5EF4-FFF2-40B4-BE49-F238E27FC236}">
                <a16:creationId xmlns:a16="http://schemas.microsoft.com/office/drawing/2014/main" id="{E7D647D0-688F-3BA5-EF86-B4394B9195B5}"/>
              </a:ext>
            </a:extLst>
          </p:cNvPr>
          <p:cNvSpPr/>
          <p:nvPr/>
        </p:nvSpPr>
        <p:spPr>
          <a:xfrm>
            <a:off x="4947465" y="1600200"/>
            <a:ext cx="2124767" cy="4251960"/>
          </a:xfrm>
          <a:prstGeom prst="rect">
            <a:avLst/>
          </a:prstGeom>
          <a:solidFill>
            <a:srgbClr val="FFFFFF"/>
          </a:solidFill>
          <a:ln w="12700">
            <a:solidFill>
              <a:srgbClr val="E0DEEF"/>
            </a:solidFill>
            <a:prstDash val="solid"/>
          </a:ln>
        </p:spPr>
      </p:sp>
      <p:sp>
        <p:nvSpPr>
          <p:cNvPr id="45" name="Shape 43">
            <a:extLst>
              <a:ext uri="{FF2B5EF4-FFF2-40B4-BE49-F238E27FC236}">
                <a16:creationId xmlns:a16="http://schemas.microsoft.com/office/drawing/2014/main" id="{8E2E7C02-5D5E-2257-3E54-4054936AACA1}"/>
              </a:ext>
            </a:extLst>
          </p:cNvPr>
          <p:cNvSpPr/>
          <p:nvPr/>
        </p:nvSpPr>
        <p:spPr>
          <a:xfrm>
            <a:off x="9597659" y="1600200"/>
            <a:ext cx="2124767" cy="4251960"/>
          </a:xfrm>
          <a:prstGeom prst="rect">
            <a:avLst/>
          </a:prstGeom>
          <a:solidFill>
            <a:srgbClr val="FFFFFF"/>
          </a:solidFill>
          <a:ln w="12700">
            <a:solidFill>
              <a:srgbClr val="E0DEEF"/>
            </a:solidFill>
            <a:prstDash val="solid"/>
          </a:ln>
        </p:spPr>
      </p:sp>
      <p:sp>
        <p:nvSpPr>
          <p:cNvPr id="70" name="Shape 43">
            <a:extLst>
              <a:ext uri="{FF2B5EF4-FFF2-40B4-BE49-F238E27FC236}">
                <a16:creationId xmlns:a16="http://schemas.microsoft.com/office/drawing/2014/main" id="{640F1A02-52F4-8314-ED22-4B7D977C965B}"/>
              </a:ext>
            </a:extLst>
          </p:cNvPr>
          <p:cNvSpPr/>
          <p:nvPr/>
        </p:nvSpPr>
        <p:spPr>
          <a:xfrm>
            <a:off x="7255998" y="1612637"/>
            <a:ext cx="2124767" cy="4251960"/>
          </a:xfrm>
          <a:prstGeom prst="rect">
            <a:avLst/>
          </a:prstGeom>
          <a:solidFill>
            <a:srgbClr val="FFFFFF"/>
          </a:solidFill>
          <a:ln w="12700">
            <a:solidFill>
              <a:srgbClr val="E0DEEF"/>
            </a:solidFill>
            <a:prstDash val="solid"/>
          </a:ln>
        </p:spPr>
      </p:sp>
      <p:sp>
        <p:nvSpPr>
          <p:cNvPr id="22" name="Shape 20">
            <a:extLst>
              <a:ext uri="{FF2B5EF4-FFF2-40B4-BE49-F238E27FC236}">
                <a16:creationId xmlns:a16="http://schemas.microsoft.com/office/drawing/2014/main" id="{B5BCC4A5-5F8E-7C9B-9E2E-4141673AE6B9}"/>
              </a:ext>
            </a:extLst>
          </p:cNvPr>
          <p:cNvSpPr/>
          <p:nvPr/>
        </p:nvSpPr>
        <p:spPr>
          <a:xfrm>
            <a:off x="2670421" y="1600200"/>
            <a:ext cx="2124767" cy="502920"/>
          </a:xfrm>
          <a:prstGeom prst="rect">
            <a:avLst/>
          </a:prstGeom>
          <a:solidFill>
            <a:srgbClr val="3BBFAD"/>
          </a:solidFill>
          <a:ln w="12700">
            <a:solidFill>
              <a:srgbClr val="333333"/>
            </a:solidFill>
            <a:prstDash val="solid"/>
          </a:ln>
        </p:spPr>
      </p:sp>
      <p:sp>
        <p:nvSpPr>
          <p:cNvPr id="23" name="Text 21">
            <a:extLst>
              <a:ext uri="{FF2B5EF4-FFF2-40B4-BE49-F238E27FC236}">
                <a16:creationId xmlns:a16="http://schemas.microsoft.com/office/drawing/2014/main" id="{A28EE680-E469-8A92-3BDF-10D2F80B4BB4}"/>
              </a:ext>
            </a:extLst>
          </p:cNvPr>
          <p:cNvSpPr/>
          <p:nvPr/>
        </p:nvSpPr>
        <p:spPr>
          <a:xfrm>
            <a:off x="2780149"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7" name="Shape 19">
            <a:extLst>
              <a:ext uri="{FF2B5EF4-FFF2-40B4-BE49-F238E27FC236}">
                <a16:creationId xmlns:a16="http://schemas.microsoft.com/office/drawing/2014/main" id="{661BA06F-7AE7-F917-C9CE-F504AD3A0B8A}"/>
              </a:ext>
            </a:extLst>
          </p:cNvPr>
          <p:cNvSpPr/>
          <p:nvPr/>
        </p:nvSpPr>
        <p:spPr>
          <a:xfrm>
            <a:off x="370443" y="1600200"/>
            <a:ext cx="2124767" cy="4251960"/>
          </a:xfrm>
          <a:prstGeom prst="rect">
            <a:avLst/>
          </a:prstGeom>
          <a:solidFill>
            <a:srgbClr val="FFFFFF"/>
          </a:solidFill>
          <a:ln w="12700">
            <a:solidFill>
              <a:srgbClr val="E0DEEF"/>
            </a:solidFill>
            <a:prstDash val="solid"/>
          </a:ln>
        </p:spPr>
      </p:sp>
      <p:sp>
        <p:nvSpPr>
          <p:cNvPr id="86" name="Freeform: Shape 85">
            <a:extLst>
              <a:ext uri="{FF2B5EF4-FFF2-40B4-BE49-F238E27FC236}">
                <a16:creationId xmlns:a16="http://schemas.microsoft.com/office/drawing/2014/main" id="{D1CC3CF7-FBB0-8F45-EA20-37A02D6F1705}"/>
              </a:ext>
            </a:extLst>
          </p:cNvPr>
          <p:cNvSpPr/>
          <p:nvPr/>
        </p:nvSpPr>
        <p:spPr>
          <a:xfrm>
            <a:off x="-8214059" y="0"/>
            <a:ext cx="27694648" cy="6858000"/>
          </a:xfrm>
          <a:custGeom>
            <a:avLst/>
            <a:gdLst>
              <a:gd name="csX0" fmla="*/ 15461920 w 27694648"/>
              <a:gd name="csY0" fmla="*/ 1600200 h 6858000"/>
              <a:gd name="csX1" fmla="*/ 15461920 w 27694648"/>
              <a:gd name="csY1" fmla="*/ 5852160 h 6858000"/>
              <a:gd name="csX2" fmla="*/ 17586687 w 27694648"/>
              <a:gd name="csY2" fmla="*/ 5852160 h 6858000"/>
              <a:gd name="csX3" fmla="*/ 17586687 w 27694648"/>
              <a:gd name="csY3" fmla="*/ 1600200 h 6858000"/>
              <a:gd name="csX4" fmla="*/ 0 w 27694648"/>
              <a:gd name="csY4" fmla="*/ 0 h 6858000"/>
              <a:gd name="csX5" fmla="*/ 27694648 w 27694648"/>
              <a:gd name="csY5" fmla="*/ 0 h 6858000"/>
              <a:gd name="csX6" fmla="*/ 27694648 w 27694648"/>
              <a:gd name="csY6" fmla="*/ 6858000 h 6858000"/>
              <a:gd name="csX7" fmla="*/ 0 w 27694648"/>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7694648" h="6858000">
                <a:moveTo>
                  <a:pt x="15461920" y="1600200"/>
                </a:moveTo>
                <a:lnTo>
                  <a:pt x="15461920" y="5852160"/>
                </a:lnTo>
                <a:lnTo>
                  <a:pt x="17586687" y="5852160"/>
                </a:lnTo>
                <a:lnTo>
                  <a:pt x="17586687" y="1600200"/>
                </a:lnTo>
                <a:close/>
                <a:moveTo>
                  <a:pt x="0" y="0"/>
                </a:moveTo>
                <a:lnTo>
                  <a:pt x="27694648" y="0"/>
                </a:lnTo>
                <a:lnTo>
                  <a:pt x="27694648" y="6858000"/>
                </a:lnTo>
                <a:lnTo>
                  <a:pt x="0" y="6858000"/>
                </a:lnTo>
                <a:close/>
              </a:path>
            </a:pathLst>
          </a:custGeom>
          <a:solidFill>
            <a:srgbClr val="002060">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4" name="Text 22">
            <a:extLst>
              <a:ext uri="{FF2B5EF4-FFF2-40B4-BE49-F238E27FC236}">
                <a16:creationId xmlns:a16="http://schemas.microsoft.com/office/drawing/2014/main" id="{0E1CBE2A-9B0D-0711-952B-204918FD1B45}"/>
              </a:ext>
            </a:extLst>
          </p:cNvPr>
          <p:cNvSpPr/>
          <p:nvPr/>
        </p:nvSpPr>
        <p:spPr>
          <a:xfrm>
            <a:off x="2780149"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Celiac Disease Detection</a:t>
            </a:r>
            <a:endParaRPr lang="en-US" sz="1250" dirty="0"/>
          </a:p>
        </p:txBody>
      </p:sp>
      <p:sp>
        <p:nvSpPr>
          <p:cNvPr id="25" name="Text 23">
            <a:extLst>
              <a:ext uri="{FF2B5EF4-FFF2-40B4-BE49-F238E27FC236}">
                <a16:creationId xmlns:a16="http://schemas.microsoft.com/office/drawing/2014/main" id="{10F835E9-DB67-21AE-AABD-360BD4595E66}"/>
              </a:ext>
            </a:extLst>
          </p:cNvPr>
          <p:cNvSpPr/>
          <p:nvPr/>
        </p:nvSpPr>
        <p:spPr>
          <a:xfrm>
            <a:off x="2780149"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Detects celiac risk from immunological markers (IgA, IgG, IgM) and clinical symptoms (diarrhoea, abdominal pain, short stature, sticky stool, weight loss).</a:t>
            </a:r>
            <a:endParaRPr lang="en-US" sz="1050" dirty="0"/>
          </a:p>
        </p:txBody>
      </p:sp>
      <p:sp>
        <p:nvSpPr>
          <p:cNvPr id="26" name="Shape 24">
            <a:extLst>
              <a:ext uri="{FF2B5EF4-FFF2-40B4-BE49-F238E27FC236}">
                <a16:creationId xmlns:a16="http://schemas.microsoft.com/office/drawing/2014/main" id="{101E02E2-3D51-6CFA-25DF-AC60580992FD}"/>
              </a:ext>
            </a:extLst>
          </p:cNvPr>
          <p:cNvSpPr/>
          <p:nvPr/>
        </p:nvSpPr>
        <p:spPr>
          <a:xfrm>
            <a:off x="2780149" y="3892357"/>
            <a:ext cx="1947703" cy="36576"/>
          </a:xfrm>
          <a:prstGeom prst="rect">
            <a:avLst/>
          </a:prstGeom>
          <a:solidFill>
            <a:srgbClr val="E0DEEF"/>
          </a:solidFill>
          <a:ln w="12700">
            <a:solidFill>
              <a:srgbClr val="333333"/>
            </a:solidFill>
            <a:prstDash val="solid"/>
          </a:ln>
        </p:spPr>
      </p:sp>
      <p:sp>
        <p:nvSpPr>
          <p:cNvPr id="27" name="Text 25">
            <a:extLst>
              <a:ext uri="{FF2B5EF4-FFF2-40B4-BE49-F238E27FC236}">
                <a16:creationId xmlns:a16="http://schemas.microsoft.com/office/drawing/2014/main" id="{1B579549-5A65-7ED7-8DF0-9F84A142BE37}"/>
              </a:ext>
            </a:extLst>
          </p:cNvPr>
          <p:cNvSpPr/>
          <p:nvPr/>
        </p:nvSpPr>
        <p:spPr>
          <a:xfrm>
            <a:off x="2780149"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28" name="Text 26">
            <a:extLst>
              <a:ext uri="{FF2B5EF4-FFF2-40B4-BE49-F238E27FC236}">
                <a16:creationId xmlns:a16="http://schemas.microsoft.com/office/drawing/2014/main" id="{9F51E991-7DC4-3066-5E1A-F5348AEA8F59}"/>
              </a:ext>
            </a:extLst>
          </p:cNvPr>
          <p:cNvSpPr/>
          <p:nvPr/>
        </p:nvSpPr>
        <p:spPr>
          <a:xfrm>
            <a:off x="3356221"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Random Forest Classifier</a:t>
            </a:r>
            <a:endParaRPr lang="en-US" sz="900" dirty="0"/>
          </a:p>
        </p:txBody>
      </p:sp>
      <p:sp>
        <p:nvSpPr>
          <p:cNvPr id="29" name="Text 27">
            <a:extLst>
              <a:ext uri="{FF2B5EF4-FFF2-40B4-BE49-F238E27FC236}">
                <a16:creationId xmlns:a16="http://schemas.microsoft.com/office/drawing/2014/main" id="{B0CF35A0-CBD0-7B54-6FEC-1E7890A146FF}"/>
              </a:ext>
            </a:extLst>
          </p:cNvPr>
          <p:cNvSpPr/>
          <p:nvPr/>
        </p:nvSpPr>
        <p:spPr>
          <a:xfrm>
            <a:off x="2780149"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30" name="Text 28">
            <a:extLst>
              <a:ext uri="{FF2B5EF4-FFF2-40B4-BE49-F238E27FC236}">
                <a16:creationId xmlns:a16="http://schemas.microsoft.com/office/drawing/2014/main" id="{1D5B3802-3510-196E-D5EC-BAAE8625A9ED}"/>
              </a:ext>
            </a:extLst>
          </p:cNvPr>
          <p:cNvSpPr/>
          <p:nvPr/>
        </p:nvSpPr>
        <p:spPr>
          <a:xfrm>
            <a:off x="3356221"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Clinical dataset · IgA / IgG / IgM markers</a:t>
            </a:r>
            <a:endParaRPr lang="en-US" sz="900" dirty="0"/>
          </a:p>
        </p:txBody>
      </p:sp>
      <p:sp>
        <p:nvSpPr>
          <p:cNvPr id="34" name="Shape 32">
            <a:extLst>
              <a:ext uri="{FF2B5EF4-FFF2-40B4-BE49-F238E27FC236}">
                <a16:creationId xmlns:a16="http://schemas.microsoft.com/office/drawing/2014/main" id="{62624B90-55C9-0E2A-2497-8B2B5433570A}"/>
              </a:ext>
            </a:extLst>
          </p:cNvPr>
          <p:cNvSpPr/>
          <p:nvPr/>
        </p:nvSpPr>
        <p:spPr>
          <a:xfrm>
            <a:off x="4947465" y="1600200"/>
            <a:ext cx="2124767" cy="502920"/>
          </a:xfrm>
          <a:prstGeom prst="rect">
            <a:avLst/>
          </a:prstGeom>
          <a:solidFill>
            <a:srgbClr val="F5A05A"/>
          </a:solidFill>
          <a:ln w="12700">
            <a:solidFill>
              <a:srgbClr val="333333"/>
            </a:solidFill>
            <a:prstDash val="solid"/>
          </a:ln>
        </p:spPr>
      </p:sp>
      <p:sp>
        <p:nvSpPr>
          <p:cNvPr id="35" name="Text 33">
            <a:extLst>
              <a:ext uri="{FF2B5EF4-FFF2-40B4-BE49-F238E27FC236}">
                <a16:creationId xmlns:a16="http://schemas.microsoft.com/office/drawing/2014/main" id="{3E9289C8-D1EB-26E2-AD3A-0CA6CE035347}"/>
              </a:ext>
            </a:extLst>
          </p:cNvPr>
          <p:cNvSpPr/>
          <p:nvPr/>
        </p:nvSpPr>
        <p:spPr>
          <a:xfrm>
            <a:off x="5057193"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31" name="Text 29">
            <a:extLst>
              <a:ext uri="{FF2B5EF4-FFF2-40B4-BE49-F238E27FC236}">
                <a16:creationId xmlns:a16="http://schemas.microsoft.com/office/drawing/2014/main" id="{9E6646AD-BA6C-BFF2-CC67-D9103F5C504C}"/>
              </a:ext>
            </a:extLst>
          </p:cNvPr>
          <p:cNvSpPr/>
          <p:nvPr/>
        </p:nvSpPr>
        <p:spPr>
          <a:xfrm>
            <a:off x="2780149" y="4681728"/>
            <a:ext cx="516436"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Result:</a:t>
            </a:r>
            <a:endParaRPr lang="en-US" sz="900" dirty="0"/>
          </a:p>
        </p:txBody>
      </p:sp>
      <p:sp>
        <p:nvSpPr>
          <p:cNvPr id="32" name="Text 30">
            <a:extLst>
              <a:ext uri="{FF2B5EF4-FFF2-40B4-BE49-F238E27FC236}">
                <a16:creationId xmlns:a16="http://schemas.microsoft.com/office/drawing/2014/main" id="{ACF7CEA6-80B6-4C60-4858-212263AE221E}"/>
              </a:ext>
            </a:extLst>
          </p:cNvPr>
          <p:cNvSpPr/>
          <p:nvPr/>
        </p:nvSpPr>
        <p:spPr>
          <a:xfrm>
            <a:off x="3356221" y="4681728"/>
            <a:ext cx="1482910"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High precision on symptom clusters</a:t>
            </a:r>
            <a:endParaRPr lang="en-US" sz="900" dirty="0"/>
          </a:p>
        </p:txBody>
      </p:sp>
      <p:sp>
        <p:nvSpPr>
          <p:cNvPr id="36" name="Text 34">
            <a:extLst>
              <a:ext uri="{FF2B5EF4-FFF2-40B4-BE49-F238E27FC236}">
                <a16:creationId xmlns:a16="http://schemas.microsoft.com/office/drawing/2014/main" id="{BB437E06-585D-E9D3-66AF-9885614FEDD0}"/>
              </a:ext>
            </a:extLst>
          </p:cNvPr>
          <p:cNvSpPr/>
          <p:nvPr/>
        </p:nvSpPr>
        <p:spPr>
          <a:xfrm>
            <a:off x="5057193"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Child Mortality Predictor</a:t>
            </a:r>
            <a:endParaRPr lang="en-US" sz="1250" dirty="0"/>
          </a:p>
        </p:txBody>
      </p:sp>
      <p:sp>
        <p:nvSpPr>
          <p:cNvPr id="37" name="Text 35">
            <a:extLst>
              <a:ext uri="{FF2B5EF4-FFF2-40B4-BE49-F238E27FC236}">
                <a16:creationId xmlns:a16="http://schemas.microsoft.com/office/drawing/2014/main" id="{50F606A1-20C2-0202-ACFC-CC51AFAD44A1}"/>
              </a:ext>
            </a:extLst>
          </p:cNvPr>
          <p:cNvSpPr/>
          <p:nvPr/>
        </p:nvSpPr>
        <p:spPr>
          <a:xfrm>
            <a:off x="5057193"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Estimates child mortality probability from 30 socioeconomic, immunisation, maternal health and sanitation indicators collected from India's NFHS health survey.</a:t>
            </a:r>
            <a:endParaRPr lang="en-US" sz="1050" dirty="0"/>
          </a:p>
        </p:txBody>
      </p:sp>
      <p:sp>
        <p:nvSpPr>
          <p:cNvPr id="38" name="Shape 36">
            <a:extLst>
              <a:ext uri="{FF2B5EF4-FFF2-40B4-BE49-F238E27FC236}">
                <a16:creationId xmlns:a16="http://schemas.microsoft.com/office/drawing/2014/main" id="{F1CEEAA9-5680-6AC8-A02C-3923A55B36D8}"/>
              </a:ext>
            </a:extLst>
          </p:cNvPr>
          <p:cNvSpPr/>
          <p:nvPr/>
        </p:nvSpPr>
        <p:spPr>
          <a:xfrm>
            <a:off x="5057193" y="3892357"/>
            <a:ext cx="1947703" cy="36576"/>
          </a:xfrm>
          <a:prstGeom prst="rect">
            <a:avLst/>
          </a:prstGeom>
          <a:solidFill>
            <a:srgbClr val="E0DEEF"/>
          </a:solidFill>
          <a:ln w="12700">
            <a:solidFill>
              <a:srgbClr val="333333"/>
            </a:solidFill>
            <a:prstDash val="solid"/>
          </a:ln>
        </p:spPr>
      </p:sp>
      <p:sp>
        <p:nvSpPr>
          <p:cNvPr id="39" name="Text 37">
            <a:extLst>
              <a:ext uri="{FF2B5EF4-FFF2-40B4-BE49-F238E27FC236}">
                <a16:creationId xmlns:a16="http://schemas.microsoft.com/office/drawing/2014/main" id="{0D93E48C-D6C8-C1CF-E02C-C435CA594EB8}"/>
              </a:ext>
            </a:extLst>
          </p:cNvPr>
          <p:cNvSpPr/>
          <p:nvPr/>
        </p:nvSpPr>
        <p:spPr>
          <a:xfrm>
            <a:off x="5057193"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40" name="Text 38">
            <a:extLst>
              <a:ext uri="{FF2B5EF4-FFF2-40B4-BE49-F238E27FC236}">
                <a16:creationId xmlns:a16="http://schemas.microsoft.com/office/drawing/2014/main" id="{7C682D43-69DC-A7A1-9C70-342BD872A463}"/>
              </a:ext>
            </a:extLst>
          </p:cNvPr>
          <p:cNvSpPr/>
          <p:nvPr/>
        </p:nvSpPr>
        <p:spPr>
          <a:xfrm>
            <a:off x="5633265"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Gradient Boosting Classifier</a:t>
            </a:r>
            <a:endParaRPr lang="en-US" sz="900" dirty="0"/>
          </a:p>
        </p:txBody>
      </p:sp>
      <p:sp>
        <p:nvSpPr>
          <p:cNvPr id="41" name="Text 39">
            <a:extLst>
              <a:ext uri="{FF2B5EF4-FFF2-40B4-BE49-F238E27FC236}">
                <a16:creationId xmlns:a16="http://schemas.microsoft.com/office/drawing/2014/main" id="{AE279D30-60D0-D152-C489-9919359397CB}"/>
              </a:ext>
            </a:extLst>
          </p:cNvPr>
          <p:cNvSpPr/>
          <p:nvPr/>
        </p:nvSpPr>
        <p:spPr>
          <a:xfrm>
            <a:off x="5057193"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42" name="Text 40">
            <a:extLst>
              <a:ext uri="{FF2B5EF4-FFF2-40B4-BE49-F238E27FC236}">
                <a16:creationId xmlns:a16="http://schemas.microsoft.com/office/drawing/2014/main" id="{4555B80D-96A6-B37C-6FDF-BEF44AF0EFF2}"/>
              </a:ext>
            </a:extLst>
          </p:cNvPr>
          <p:cNvSpPr/>
          <p:nvPr/>
        </p:nvSpPr>
        <p:spPr>
          <a:xfrm>
            <a:off x="5633265"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NFHS survey · 30 features · Indian states</a:t>
            </a:r>
            <a:endParaRPr lang="en-US" sz="900" dirty="0"/>
          </a:p>
        </p:txBody>
      </p:sp>
      <p:sp>
        <p:nvSpPr>
          <p:cNvPr id="46" name="Shape 44">
            <a:extLst>
              <a:ext uri="{FF2B5EF4-FFF2-40B4-BE49-F238E27FC236}">
                <a16:creationId xmlns:a16="http://schemas.microsoft.com/office/drawing/2014/main" id="{046DB8DF-1603-7DFE-87D2-4544443C7737}"/>
              </a:ext>
            </a:extLst>
          </p:cNvPr>
          <p:cNvSpPr/>
          <p:nvPr/>
        </p:nvSpPr>
        <p:spPr>
          <a:xfrm>
            <a:off x="9597659" y="1600200"/>
            <a:ext cx="2124767" cy="502920"/>
          </a:xfrm>
          <a:prstGeom prst="rect">
            <a:avLst/>
          </a:prstGeom>
          <a:solidFill>
            <a:srgbClr val="8B7EC8"/>
          </a:solidFill>
          <a:ln w="12700">
            <a:solidFill>
              <a:srgbClr val="333333"/>
            </a:solidFill>
            <a:prstDash val="solid"/>
          </a:ln>
        </p:spPr>
      </p:sp>
      <p:sp>
        <p:nvSpPr>
          <p:cNvPr id="47" name="Text 45">
            <a:extLst>
              <a:ext uri="{FF2B5EF4-FFF2-40B4-BE49-F238E27FC236}">
                <a16:creationId xmlns:a16="http://schemas.microsoft.com/office/drawing/2014/main" id="{BF54CE0C-7CFD-F4D2-CD20-1F3D2066FA00}"/>
              </a:ext>
            </a:extLst>
          </p:cNvPr>
          <p:cNvSpPr/>
          <p:nvPr/>
        </p:nvSpPr>
        <p:spPr>
          <a:xfrm>
            <a:off x="9707387"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3" name="Text 41">
            <a:extLst>
              <a:ext uri="{FF2B5EF4-FFF2-40B4-BE49-F238E27FC236}">
                <a16:creationId xmlns:a16="http://schemas.microsoft.com/office/drawing/2014/main" id="{04C73BCB-BF7A-4C3D-5F0D-5B0780C167D0}"/>
              </a:ext>
            </a:extLst>
          </p:cNvPr>
          <p:cNvSpPr/>
          <p:nvPr/>
        </p:nvSpPr>
        <p:spPr>
          <a:xfrm>
            <a:off x="5057193" y="4681728"/>
            <a:ext cx="516436"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Result:</a:t>
            </a:r>
            <a:endParaRPr lang="en-US" sz="900" dirty="0"/>
          </a:p>
        </p:txBody>
      </p:sp>
      <p:sp>
        <p:nvSpPr>
          <p:cNvPr id="44" name="Text 42">
            <a:extLst>
              <a:ext uri="{FF2B5EF4-FFF2-40B4-BE49-F238E27FC236}">
                <a16:creationId xmlns:a16="http://schemas.microsoft.com/office/drawing/2014/main" id="{24AEEC9A-7CD9-747B-3BBD-1485B2CEF609}"/>
              </a:ext>
            </a:extLst>
          </p:cNvPr>
          <p:cNvSpPr/>
          <p:nvPr/>
        </p:nvSpPr>
        <p:spPr>
          <a:xfrm>
            <a:off x="5633265" y="4681728"/>
            <a:ext cx="1482910"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Calibrated probability output</a:t>
            </a:r>
            <a:endParaRPr lang="en-US" sz="900" dirty="0"/>
          </a:p>
        </p:txBody>
      </p:sp>
      <p:sp>
        <p:nvSpPr>
          <p:cNvPr id="48" name="Text 46">
            <a:extLst>
              <a:ext uri="{FF2B5EF4-FFF2-40B4-BE49-F238E27FC236}">
                <a16:creationId xmlns:a16="http://schemas.microsoft.com/office/drawing/2014/main" id="{6DFC4CB3-BF91-470B-C3F7-B781BDF1B251}"/>
              </a:ext>
            </a:extLst>
          </p:cNvPr>
          <p:cNvSpPr/>
          <p:nvPr/>
        </p:nvSpPr>
        <p:spPr>
          <a:xfrm>
            <a:off x="9707387"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NurtureAI Chatbot</a:t>
            </a:r>
            <a:endParaRPr lang="en-US" sz="1250" dirty="0"/>
          </a:p>
        </p:txBody>
      </p:sp>
      <p:sp>
        <p:nvSpPr>
          <p:cNvPr id="49" name="Text 47">
            <a:extLst>
              <a:ext uri="{FF2B5EF4-FFF2-40B4-BE49-F238E27FC236}">
                <a16:creationId xmlns:a16="http://schemas.microsoft.com/office/drawing/2014/main" id="{861E0702-36E5-278E-9511-74B289DA03EE}"/>
              </a:ext>
            </a:extLst>
          </p:cNvPr>
          <p:cNvSpPr/>
          <p:nvPr/>
        </p:nvSpPr>
        <p:spPr>
          <a:xfrm>
            <a:off x="9707387"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A Retrieval-Augmented Generation chatbot that answers parenting questions, explains model predictions in plain language, and provides evidence-based guidance.</a:t>
            </a:r>
            <a:endParaRPr lang="en-US" sz="1050" dirty="0"/>
          </a:p>
        </p:txBody>
      </p:sp>
      <p:sp>
        <p:nvSpPr>
          <p:cNvPr id="50" name="Shape 48">
            <a:extLst>
              <a:ext uri="{FF2B5EF4-FFF2-40B4-BE49-F238E27FC236}">
                <a16:creationId xmlns:a16="http://schemas.microsoft.com/office/drawing/2014/main" id="{ABB33A56-1657-4190-1642-B3FC6A3F7E64}"/>
              </a:ext>
            </a:extLst>
          </p:cNvPr>
          <p:cNvSpPr/>
          <p:nvPr/>
        </p:nvSpPr>
        <p:spPr>
          <a:xfrm>
            <a:off x="9707387" y="3892357"/>
            <a:ext cx="1947703" cy="36576"/>
          </a:xfrm>
          <a:prstGeom prst="rect">
            <a:avLst/>
          </a:prstGeom>
          <a:solidFill>
            <a:srgbClr val="E0DEEF"/>
          </a:solidFill>
          <a:ln w="12700">
            <a:solidFill>
              <a:srgbClr val="333333"/>
            </a:solidFill>
            <a:prstDash val="solid"/>
          </a:ln>
        </p:spPr>
      </p:sp>
      <p:sp>
        <p:nvSpPr>
          <p:cNvPr id="51" name="Text 49">
            <a:extLst>
              <a:ext uri="{FF2B5EF4-FFF2-40B4-BE49-F238E27FC236}">
                <a16:creationId xmlns:a16="http://schemas.microsoft.com/office/drawing/2014/main" id="{EBFC5C22-2291-829D-38E9-6F641501BAC8}"/>
              </a:ext>
            </a:extLst>
          </p:cNvPr>
          <p:cNvSpPr/>
          <p:nvPr/>
        </p:nvSpPr>
        <p:spPr>
          <a:xfrm>
            <a:off x="9707387"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52" name="Text 50">
            <a:extLst>
              <a:ext uri="{FF2B5EF4-FFF2-40B4-BE49-F238E27FC236}">
                <a16:creationId xmlns:a16="http://schemas.microsoft.com/office/drawing/2014/main" id="{A632BCC6-DF9B-6D10-F6BE-42BB2FC9417C}"/>
              </a:ext>
            </a:extLst>
          </p:cNvPr>
          <p:cNvSpPr/>
          <p:nvPr/>
        </p:nvSpPr>
        <p:spPr>
          <a:xfrm>
            <a:off x="10283459"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RAG · ChromaDB · LLM backbone</a:t>
            </a:r>
            <a:endParaRPr lang="en-US" sz="900" dirty="0"/>
          </a:p>
        </p:txBody>
      </p:sp>
      <p:sp>
        <p:nvSpPr>
          <p:cNvPr id="53" name="Text 51">
            <a:extLst>
              <a:ext uri="{FF2B5EF4-FFF2-40B4-BE49-F238E27FC236}">
                <a16:creationId xmlns:a16="http://schemas.microsoft.com/office/drawing/2014/main" id="{B385C5BE-3464-7BC1-F163-ED35833A3E38}"/>
              </a:ext>
            </a:extLst>
          </p:cNvPr>
          <p:cNvSpPr/>
          <p:nvPr/>
        </p:nvSpPr>
        <p:spPr>
          <a:xfrm>
            <a:off x="9707387"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0" name="Shape 8">
            <a:extLst>
              <a:ext uri="{FF2B5EF4-FFF2-40B4-BE49-F238E27FC236}">
                <a16:creationId xmlns:a16="http://schemas.microsoft.com/office/drawing/2014/main" id="{048698B1-8826-8F98-EB53-E4144997FEE0}"/>
              </a:ext>
            </a:extLst>
          </p:cNvPr>
          <p:cNvSpPr/>
          <p:nvPr/>
        </p:nvSpPr>
        <p:spPr>
          <a:xfrm>
            <a:off x="384048" y="1600200"/>
            <a:ext cx="2124767" cy="502920"/>
          </a:xfrm>
          <a:prstGeom prst="rect">
            <a:avLst/>
          </a:prstGeom>
          <a:solidFill>
            <a:srgbClr val="F96167"/>
          </a:solidFill>
          <a:ln w="12700">
            <a:solidFill>
              <a:srgbClr val="333333"/>
            </a:solidFill>
            <a:prstDash val="solid"/>
          </a:ln>
        </p:spPr>
      </p:sp>
      <p:sp>
        <p:nvSpPr>
          <p:cNvPr id="54" name="Text 52">
            <a:extLst>
              <a:ext uri="{FF2B5EF4-FFF2-40B4-BE49-F238E27FC236}">
                <a16:creationId xmlns:a16="http://schemas.microsoft.com/office/drawing/2014/main" id="{E5555C3C-6711-2DCB-83B1-7C0A6238F7A2}"/>
              </a:ext>
            </a:extLst>
          </p:cNvPr>
          <p:cNvSpPr/>
          <p:nvPr/>
        </p:nvSpPr>
        <p:spPr>
          <a:xfrm>
            <a:off x="10283459"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Open-source parenting &amp; paediatric corpus</a:t>
            </a:r>
            <a:endParaRPr lang="en-US" sz="900" dirty="0"/>
          </a:p>
        </p:txBody>
      </p:sp>
      <p:sp>
        <p:nvSpPr>
          <p:cNvPr id="55" name="Text 53">
            <a:extLst>
              <a:ext uri="{FF2B5EF4-FFF2-40B4-BE49-F238E27FC236}">
                <a16:creationId xmlns:a16="http://schemas.microsoft.com/office/drawing/2014/main" id="{ED3AABD6-6176-FB7F-7A08-D46AFAC21265}"/>
              </a:ext>
            </a:extLst>
          </p:cNvPr>
          <p:cNvSpPr/>
          <p:nvPr/>
        </p:nvSpPr>
        <p:spPr>
          <a:xfrm>
            <a:off x="9707387" y="4681728"/>
            <a:ext cx="516436"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Result:</a:t>
            </a:r>
            <a:endParaRPr lang="en-US" sz="900" dirty="0"/>
          </a:p>
        </p:txBody>
      </p:sp>
      <p:sp>
        <p:nvSpPr>
          <p:cNvPr id="56" name="Text 54">
            <a:extLst>
              <a:ext uri="{FF2B5EF4-FFF2-40B4-BE49-F238E27FC236}">
                <a16:creationId xmlns:a16="http://schemas.microsoft.com/office/drawing/2014/main" id="{CC191216-DB72-AEE6-2001-ADC40C7F2F12}"/>
              </a:ext>
            </a:extLst>
          </p:cNvPr>
          <p:cNvSpPr/>
          <p:nvPr/>
        </p:nvSpPr>
        <p:spPr>
          <a:xfrm>
            <a:off x="10283459" y="4681728"/>
            <a:ext cx="1482910"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Context-aware Q&amp;A</a:t>
            </a:r>
            <a:endParaRPr lang="en-US" sz="900" dirty="0"/>
          </a:p>
        </p:txBody>
      </p:sp>
      <p:sp>
        <p:nvSpPr>
          <p:cNvPr id="2" name="Shape 0">
            <a:extLst>
              <a:ext uri="{FF2B5EF4-FFF2-40B4-BE49-F238E27FC236}">
                <a16:creationId xmlns:a16="http://schemas.microsoft.com/office/drawing/2014/main" id="{822FB0DF-CD39-E66A-FB31-393A2F5EECDD}"/>
              </a:ext>
            </a:extLst>
          </p:cNvPr>
          <p:cNvSpPr/>
          <p:nvPr/>
        </p:nvSpPr>
        <p:spPr>
          <a:xfrm>
            <a:off x="10241280" y="-548640"/>
            <a:ext cx="2011680" cy="2011680"/>
          </a:xfrm>
          <a:prstGeom prst="ellipse">
            <a:avLst/>
          </a:prstGeom>
          <a:solidFill>
            <a:srgbClr val="3BBFAD">
              <a:alpha val="60000"/>
            </a:srgbClr>
          </a:solidFill>
          <a:ln w="12700">
            <a:solidFill>
              <a:srgbClr val="333333"/>
            </a:solidFill>
            <a:prstDash val="solid"/>
          </a:ln>
        </p:spPr>
      </p:sp>
      <p:sp>
        <p:nvSpPr>
          <p:cNvPr id="3" name="Shape 1">
            <a:extLst>
              <a:ext uri="{FF2B5EF4-FFF2-40B4-BE49-F238E27FC236}">
                <a16:creationId xmlns:a16="http://schemas.microsoft.com/office/drawing/2014/main" id="{98AE699C-E195-70E8-4FAE-2A10CA4403AE}"/>
              </a:ext>
            </a:extLst>
          </p:cNvPr>
          <p:cNvSpPr/>
          <p:nvPr/>
        </p:nvSpPr>
        <p:spPr>
          <a:xfrm>
            <a:off x="10789920" y="5303520"/>
            <a:ext cx="1463040" cy="1463040"/>
          </a:xfrm>
          <a:prstGeom prst="ellipse">
            <a:avLst/>
          </a:prstGeom>
          <a:solidFill>
            <a:srgbClr val="F96167">
              <a:alpha val="50000"/>
            </a:srgbClr>
          </a:solidFill>
          <a:ln w="12700">
            <a:solidFill>
              <a:srgbClr val="333333"/>
            </a:solidFill>
            <a:prstDash val="solid"/>
          </a:ln>
        </p:spPr>
      </p:sp>
      <p:sp>
        <p:nvSpPr>
          <p:cNvPr id="4" name="Shape 2">
            <a:extLst>
              <a:ext uri="{FF2B5EF4-FFF2-40B4-BE49-F238E27FC236}">
                <a16:creationId xmlns:a16="http://schemas.microsoft.com/office/drawing/2014/main" id="{1ADDA48F-3264-7584-B597-0B45FBAC67AC}"/>
              </a:ext>
            </a:extLst>
          </p:cNvPr>
          <p:cNvSpPr/>
          <p:nvPr/>
        </p:nvSpPr>
        <p:spPr>
          <a:xfrm>
            <a:off x="-457200" y="5486400"/>
            <a:ext cx="1463040" cy="1463040"/>
          </a:xfrm>
          <a:prstGeom prst="ellipse">
            <a:avLst/>
          </a:prstGeom>
          <a:solidFill>
            <a:srgbClr val="F5A05A">
              <a:alpha val="55000"/>
            </a:srgbClr>
          </a:solidFill>
          <a:ln w="12700">
            <a:solidFill>
              <a:srgbClr val="333333"/>
            </a:solidFill>
            <a:prstDash val="solid"/>
          </a:ln>
        </p:spPr>
      </p:sp>
      <p:sp>
        <p:nvSpPr>
          <p:cNvPr id="5" name="Shape 3">
            <a:extLst>
              <a:ext uri="{FF2B5EF4-FFF2-40B4-BE49-F238E27FC236}">
                <a16:creationId xmlns:a16="http://schemas.microsoft.com/office/drawing/2014/main" id="{A2588F7F-056C-8F17-AFF6-B5247BE1B491}"/>
              </a:ext>
            </a:extLst>
          </p:cNvPr>
          <p:cNvSpPr/>
          <p:nvPr/>
        </p:nvSpPr>
        <p:spPr>
          <a:xfrm>
            <a:off x="91440" y="2743200"/>
            <a:ext cx="457200" cy="457200"/>
          </a:xfrm>
          <a:prstGeom prst="ellipse">
            <a:avLst/>
          </a:prstGeom>
          <a:solidFill>
            <a:srgbClr val="8B7EC8">
              <a:alpha val="70000"/>
            </a:srgbClr>
          </a:solidFill>
          <a:ln w="12700">
            <a:solidFill>
              <a:srgbClr val="333333"/>
            </a:solidFill>
            <a:prstDash val="solid"/>
          </a:ln>
        </p:spPr>
      </p:sp>
      <p:sp>
        <p:nvSpPr>
          <p:cNvPr id="11" name="Text 9">
            <a:extLst>
              <a:ext uri="{FF2B5EF4-FFF2-40B4-BE49-F238E27FC236}">
                <a16:creationId xmlns:a16="http://schemas.microsoft.com/office/drawing/2014/main" id="{291E9409-547C-76B6-86C4-524D609780B7}"/>
              </a:ext>
            </a:extLst>
          </p:cNvPr>
          <p:cNvSpPr/>
          <p:nvPr/>
        </p:nvSpPr>
        <p:spPr>
          <a:xfrm>
            <a:off x="493776"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a:extLst>
              <a:ext uri="{FF2B5EF4-FFF2-40B4-BE49-F238E27FC236}">
                <a16:creationId xmlns:a16="http://schemas.microsoft.com/office/drawing/2014/main" id="{0487F2F4-75F2-76A6-7E9B-AC2DC85401A0}"/>
              </a:ext>
            </a:extLst>
          </p:cNvPr>
          <p:cNvSpPr/>
          <p:nvPr/>
        </p:nvSpPr>
        <p:spPr>
          <a:xfrm>
            <a:off x="502920" y="274320"/>
            <a:ext cx="9144000" cy="594360"/>
          </a:xfrm>
          <a:prstGeom prst="rect">
            <a:avLst/>
          </a:prstGeom>
          <a:noFill/>
          <a:ln/>
        </p:spPr>
        <p:txBody>
          <a:bodyPr wrap="square" rtlCol="0" anchor="ctr"/>
          <a:lstStyle/>
          <a:p>
            <a:pPr marL="0" indent="0">
              <a:buNone/>
            </a:pPr>
            <a:r>
              <a:rPr lang="en-US" sz="3200" b="1" dirty="0">
                <a:solidFill>
                  <a:srgbClr val="2E2B5F"/>
                </a:solidFill>
                <a:latin typeface="Calibri" pitchFamily="34" charset="0"/>
                <a:ea typeface="Calibri" pitchFamily="34" charset="-122"/>
                <a:cs typeface="Calibri" pitchFamily="34" charset="-120"/>
              </a:rPr>
              <a:t>Platform Overview</a:t>
            </a:r>
            <a:endParaRPr lang="en-US" sz="3200" dirty="0"/>
          </a:p>
        </p:txBody>
      </p:sp>
      <p:sp>
        <p:nvSpPr>
          <p:cNvPr id="7" name="Shape 5">
            <a:extLst>
              <a:ext uri="{FF2B5EF4-FFF2-40B4-BE49-F238E27FC236}">
                <a16:creationId xmlns:a16="http://schemas.microsoft.com/office/drawing/2014/main" id="{A31C0FE0-784C-88F7-D3C4-6D3A4866380A}"/>
              </a:ext>
            </a:extLst>
          </p:cNvPr>
          <p:cNvSpPr/>
          <p:nvPr/>
        </p:nvSpPr>
        <p:spPr>
          <a:xfrm>
            <a:off x="502920" y="896112"/>
            <a:ext cx="1645920" cy="54864"/>
          </a:xfrm>
          <a:prstGeom prst="rect">
            <a:avLst/>
          </a:prstGeom>
          <a:solidFill>
            <a:srgbClr val="F96167"/>
          </a:solidFill>
          <a:ln w="12700">
            <a:solidFill>
              <a:srgbClr val="333333"/>
            </a:solidFill>
            <a:prstDash val="solid"/>
          </a:ln>
        </p:spPr>
      </p:sp>
      <p:sp>
        <p:nvSpPr>
          <p:cNvPr id="8" name="Text 6">
            <a:extLst>
              <a:ext uri="{FF2B5EF4-FFF2-40B4-BE49-F238E27FC236}">
                <a16:creationId xmlns:a16="http://schemas.microsoft.com/office/drawing/2014/main" id="{6491C3C3-94A0-3DDA-6AA6-4FA838A75BF2}"/>
              </a:ext>
            </a:extLst>
          </p:cNvPr>
          <p:cNvSpPr/>
          <p:nvPr/>
        </p:nvSpPr>
        <p:spPr>
          <a:xfrm>
            <a:off x="502920" y="1005840"/>
            <a:ext cx="10789920" cy="457200"/>
          </a:xfrm>
          <a:prstGeom prst="rect">
            <a:avLst/>
          </a:prstGeom>
          <a:noFill/>
          <a:ln/>
        </p:spPr>
        <p:txBody>
          <a:bodyPr wrap="square" rtlCol="0" anchor="ctr"/>
          <a:lstStyle/>
          <a:p>
            <a:pPr marL="0" indent="0">
              <a:buNone/>
            </a:pPr>
            <a:r>
              <a:rPr lang="en-US" sz="1300" dirty="0">
                <a:solidFill>
                  <a:srgbClr val="6B6B8A"/>
                </a:solidFill>
                <a:latin typeface="Calibri" pitchFamily="34" charset="0"/>
                <a:ea typeface="Calibri" pitchFamily="34" charset="-122"/>
                <a:cs typeface="Calibri" pitchFamily="34" charset="-120"/>
              </a:rPr>
              <a:t>NurtureAI integrates four ML modules into a unified Flask API with a React frontend, enabling real-time predictions across multiple child health domains.</a:t>
            </a:r>
            <a:endParaRPr lang="en-US" sz="1300" dirty="0"/>
          </a:p>
        </p:txBody>
      </p:sp>
      <p:sp>
        <p:nvSpPr>
          <p:cNvPr id="12" name="Text 10">
            <a:extLst>
              <a:ext uri="{FF2B5EF4-FFF2-40B4-BE49-F238E27FC236}">
                <a16:creationId xmlns:a16="http://schemas.microsoft.com/office/drawing/2014/main" id="{19DBA373-5CBF-16EF-2730-5A0EA13F127C}"/>
              </a:ext>
            </a:extLst>
          </p:cNvPr>
          <p:cNvSpPr/>
          <p:nvPr/>
        </p:nvSpPr>
        <p:spPr>
          <a:xfrm>
            <a:off x="493776"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Behaviour &amp; Mental Health</a:t>
            </a:r>
            <a:endParaRPr lang="en-US" sz="1250" dirty="0"/>
          </a:p>
        </p:txBody>
      </p:sp>
      <p:sp>
        <p:nvSpPr>
          <p:cNvPr id="13" name="Text 11">
            <a:extLst>
              <a:ext uri="{FF2B5EF4-FFF2-40B4-BE49-F238E27FC236}">
                <a16:creationId xmlns:a16="http://schemas.microsoft.com/office/drawing/2014/main" id="{802E3523-B93B-AE3E-1A28-24D73A4B7227}"/>
              </a:ext>
            </a:extLst>
          </p:cNvPr>
          <p:cNvSpPr/>
          <p:nvPr/>
        </p:nvSpPr>
        <p:spPr>
          <a:xfrm>
            <a:off x="493776"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Severity Impairment Index (sii 0–3) from physical health, sleep, activity &amp; fitness data. 8× better than all 9 standard classifiers.</a:t>
            </a:r>
            <a:endParaRPr lang="en-US" sz="1050" dirty="0"/>
          </a:p>
        </p:txBody>
      </p:sp>
      <p:sp>
        <p:nvSpPr>
          <p:cNvPr id="14" name="Shape 12">
            <a:extLst>
              <a:ext uri="{FF2B5EF4-FFF2-40B4-BE49-F238E27FC236}">
                <a16:creationId xmlns:a16="http://schemas.microsoft.com/office/drawing/2014/main" id="{822DC811-2158-A876-737A-C2BEF0309C14}"/>
              </a:ext>
            </a:extLst>
          </p:cNvPr>
          <p:cNvSpPr/>
          <p:nvPr/>
        </p:nvSpPr>
        <p:spPr>
          <a:xfrm>
            <a:off x="493776" y="3892357"/>
            <a:ext cx="1947703" cy="36576"/>
          </a:xfrm>
          <a:prstGeom prst="rect">
            <a:avLst/>
          </a:prstGeom>
          <a:solidFill>
            <a:srgbClr val="E0DEEF"/>
          </a:solidFill>
          <a:ln w="12700">
            <a:solidFill>
              <a:srgbClr val="333333"/>
            </a:solidFill>
            <a:prstDash val="solid"/>
          </a:ln>
        </p:spPr>
      </p:sp>
      <p:sp>
        <p:nvSpPr>
          <p:cNvPr id="15" name="Text 13">
            <a:extLst>
              <a:ext uri="{FF2B5EF4-FFF2-40B4-BE49-F238E27FC236}">
                <a16:creationId xmlns:a16="http://schemas.microsoft.com/office/drawing/2014/main" id="{7EC78A76-793E-0739-72B5-FF18B0A2ABB2}"/>
              </a:ext>
            </a:extLst>
          </p:cNvPr>
          <p:cNvSpPr/>
          <p:nvPr/>
        </p:nvSpPr>
        <p:spPr>
          <a:xfrm>
            <a:off x="493776"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16" name="Text 14">
            <a:extLst>
              <a:ext uri="{FF2B5EF4-FFF2-40B4-BE49-F238E27FC236}">
                <a16:creationId xmlns:a16="http://schemas.microsoft.com/office/drawing/2014/main" id="{6DAD2FD9-6CAE-5265-1950-4EA179E7F372}"/>
              </a:ext>
            </a:extLst>
          </p:cNvPr>
          <p:cNvSpPr/>
          <p:nvPr/>
        </p:nvSpPr>
        <p:spPr>
          <a:xfrm>
            <a:off x="1069848"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OrdinalGB (GradientBoosting Regressor)</a:t>
            </a:r>
            <a:endParaRPr lang="en-US" sz="900" dirty="0"/>
          </a:p>
        </p:txBody>
      </p:sp>
      <p:sp>
        <p:nvSpPr>
          <p:cNvPr id="17" name="Text 15">
            <a:extLst>
              <a:ext uri="{FF2B5EF4-FFF2-40B4-BE49-F238E27FC236}">
                <a16:creationId xmlns:a16="http://schemas.microsoft.com/office/drawing/2014/main" id="{C676C820-1978-404B-C288-FAA14854B929}"/>
              </a:ext>
            </a:extLst>
          </p:cNvPr>
          <p:cNvSpPr/>
          <p:nvPr/>
        </p:nvSpPr>
        <p:spPr>
          <a:xfrm>
            <a:off x="493776"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8" name="Text 16">
            <a:extLst>
              <a:ext uri="{FF2B5EF4-FFF2-40B4-BE49-F238E27FC236}">
                <a16:creationId xmlns:a16="http://schemas.microsoft.com/office/drawing/2014/main" id="{80CEC7BA-76BA-72D7-344B-C16989F50AAF}"/>
              </a:ext>
            </a:extLst>
          </p:cNvPr>
          <p:cNvSpPr/>
          <p:nvPr/>
        </p:nvSpPr>
        <p:spPr>
          <a:xfrm>
            <a:off x="1069848" y="450071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CMI-PIU · 3,900 rows · 22 features</a:t>
            </a:r>
            <a:endParaRPr lang="en-US" sz="900" dirty="0"/>
          </a:p>
        </p:txBody>
      </p:sp>
      <p:sp>
        <p:nvSpPr>
          <p:cNvPr id="71" name="Shape 44">
            <a:extLst>
              <a:ext uri="{FF2B5EF4-FFF2-40B4-BE49-F238E27FC236}">
                <a16:creationId xmlns:a16="http://schemas.microsoft.com/office/drawing/2014/main" id="{38617503-BD0A-0486-C4A3-659342969705}"/>
              </a:ext>
            </a:extLst>
          </p:cNvPr>
          <p:cNvSpPr/>
          <p:nvPr/>
        </p:nvSpPr>
        <p:spPr>
          <a:xfrm>
            <a:off x="7255998" y="1612637"/>
            <a:ext cx="2124767" cy="502920"/>
          </a:xfrm>
          <a:prstGeom prst="rect">
            <a:avLst/>
          </a:prstGeom>
          <a:solidFill>
            <a:srgbClr val="002060"/>
          </a:solidFill>
          <a:ln w="12700">
            <a:solidFill>
              <a:srgbClr val="333333"/>
            </a:solidFill>
            <a:prstDash val="solid"/>
          </a:ln>
        </p:spPr>
      </p:sp>
      <p:sp>
        <p:nvSpPr>
          <p:cNvPr id="72" name="Text 45">
            <a:extLst>
              <a:ext uri="{FF2B5EF4-FFF2-40B4-BE49-F238E27FC236}">
                <a16:creationId xmlns:a16="http://schemas.microsoft.com/office/drawing/2014/main" id="{F5F3ACE0-56A9-914B-5E45-6CD7F3F37E3E}"/>
              </a:ext>
            </a:extLst>
          </p:cNvPr>
          <p:cNvSpPr/>
          <p:nvPr/>
        </p:nvSpPr>
        <p:spPr>
          <a:xfrm>
            <a:off x="7365726" y="1649213"/>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9" name="Text 17">
            <a:extLst>
              <a:ext uri="{FF2B5EF4-FFF2-40B4-BE49-F238E27FC236}">
                <a16:creationId xmlns:a16="http://schemas.microsoft.com/office/drawing/2014/main" id="{3D875F33-58C0-B8FD-F075-453B30112921}"/>
              </a:ext>
            </a:extLst>
          </p:cNvPr>
          <p:cNvSpPr/>
          <p:nvPr/>
        </p:nvSpPr>
        <p:spPr>
          <a:xfrm>
            <a:off x="493776" y="4681728"/>
            <a:ext cx="516436"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Result:</a:t>
            </a:r>
            <a:endParaRPr lang="en-US" sz="900" dirty="0"/>
          </a:p>
        </p:txBody>
      </p:sp>
      <p:sp>
        <p:nvSpPr>
          <p:cNvPr id="20" name="Text 18">
            <a:extLst>
              <a:ext uri="{FF2B5EF4-FFF2-40B4-BE49-F238E27FC236}">
                <a16:creationId xmlns:a16="http://schemas.microsoft.com/office/drawing/2014/main" id="{47BDD56C-4D00-B92E-0E44-D4EA1C4AC2A9}"/>
              </a:ext>
            </a:extLst>
          </p:cNvPr>
          <p:cNvSpPr/>
          <p:nvPr/>
        </p:nvSpPr>
        <p:spPr>
          <a:xfrm>
            <a:off x="1069848" y="4681728"/>
            <a:ext cx="1482910"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QWK = 0.6259 (Substantial)</a:t>
            </a:r>
            <a:endParaRPr lang="en-US" sz="900" dirty="0"/>
          </a:p>
        </p:txBody>
      </p:sp>
      <p:sp>
        <p:nvSpPr>
          <p:cNvPr id="73" name="Text 46">
            <a:extLst>
              <a:ext uri="{FF2B5EF4-FFF2-40B4-BE49-F238E27FC236}">
                <a16:creationId xmlns:a16="http://schemas.microsoft.com/office/drawing/2014/main" id="{824C75FF-C8EB-70EF-2C75-84F7CEAE6D5B}"/>
              </a:ext>
            </a:extLst>
          </p:cNvPr>
          <p:cNvSpPr/>
          <p:nvPr/>
        </p:nvSpPr>
        <p:spPr>
          <a:xfrm>
            <a:off x="7365726" y="2188709"/>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Adult </a:t>
            </a:r>
            <a:r>
              <a:rPr lang="en-US" sz="1250" b="1" dirty="0" err="1">
                <a:solidFill>
                  <a:srgbClr val="2E2B5F"/>
                </a:solidFill>
                <a:latin typeface="Calibri" pitchFamily="34" charset="0"/>
                <a:ea typeface="Calibri" pitchFamily="34" charset="-122"/>
                <a:cs typeface="Calibri" pitchFamily="34" charset="-120"/>
              </a:rPr>
              <a:t>Behaviour</a:t>
            </a:r>
            <a:r>
              <a:rPr lang="en-US" sz="1250" b="1" dirty="0">
                <a:solidFill>
                  <a:srgbClr val="2E2B5F"/>
                </a:solidFill>
                <a:latin typeface="Calibri" pitchFamily="34" charset="0"/>
                <a:ea typeface="Calibri" pitchFamily="34" charset="-122"/>
                <a:cs typeface="Calibri" pitchFamily="34" charset="-120"/>
              </a:rPr>
              <a:t> Analysis</a:t>
            </a:r>
            <a:endParaRPr lang="en-US" sz="1250" dirty="0"/>
          </a:p>
        </p:txBody>
      </p:sp>
      <p:sp>
        <p:nvSpPr>
          <p:cNvPr id="74" name="Text 47">
            <a:extLst>
              <a:ext uri="{FF2B5EF4-FFF2-40B4-BE49-F238E27FC236}">
                <a16:creationId xmlns:a16="http://schemas.microsoft.com/office/drawing/2014/main" id="{A224DF8F-82D9-9C22-6FDB-974504767ABD}"/>
              </a:ext>
            </a:extLst>
          </p:cNvPr>
          <p:cNvSpPr/>
          <p:nvPr/>
        </p:nvSpPr>
        <p:spPr>
          <a:xfrm>
            <a:off x="7365726" y="2645909"/>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the </a:t>
            </a:r>
            <a:r>
              <a:rPr lang="en-US" sz="1050" dirty="0" err="1">
                <a:solidFill>
                  <a:srgbClr val="6B6B8A"/>
                </a:solidFill>
                <a:latin typeface="Calibri" pitchFamily="34" charset="0"/>
                <a:ea typeface="Calibri" pitchFamily="34" charset="-122"/>
                <a:cs typeface="Calibri" pitchFamily="34" charset="-120"/>
              </a:rPr>
              <a:t>behaviour</a:t>
            </a:r>
            <a:r>
              <a:rPr lang="en-US" sz="1050" dirty="0">
                <a:solidFill>
                  <a:srgbClr val="6B6B8A"/>
                </a:solidFill>
                <a:latin typeface="Calibri" pitchFamily="34" charset="0"/>
                <a:ea typeface="Calibri" pitchFamily="34" charset="-122"/>
                <a:cs typeface="Calibri" pitchFamily="34" charset="-120"/>
              </a:rPr>
              <a:t> of the parenting ability to classify as 3 classes of parenting risk prediction – Healthy, Moderate, and High risk</a:t>
            </a:r>
            <a:endParaRPr lang="en-US" sz="1050" dirty="0"/>
          </a:p>
        </p:txBody>
      </p:sp>
      <p:sp>
        <p:nvSpPr>
          <p:cNvPr id="75" name="Shape 48">
            <a:extLst>
              <a:ext uri="{FF2B5EF4-FFF2-40B4-BE49-F238E27FC236}">
                <a16:creationId xmlns:a16="http://schemas.microsoft.com/office/drawing/2014/main" id="{889BFD6F-667C-8F8D-3638-2FD6D4D4049B}"/>
              </a:ext>
            </a:extLst>
          </p:cNvPr>
          <p:cNvSpPr/>
          <p:nvPr/>
        </p:nvSpPr>
        <p:spPr>
          <a:xfrm>
            <a:off x="7365726" y="3904794"/>
            <a:ext cx="1947703" cy="36576"/>
          </a:xfrm>
          <a:prstGeom prst="rect">
            <a:avLst/>
          </a:prstGeom>
          <a:solidFill>
            <a:srgbClr val="E0DEEF"/>
          </a:solidFill>
          <a:ln w="12700">
            <a:solidFill>
              <a:srgbClr val="333333"/>
            </a:solidFill>
            <a:prstDash val="solid"/>
          </a:ln>
        </p:spPr>
      </p:sp>
      <p:sp>
        <p:nvSpPr>
          <p:cNvPr id="76" name="Text 49">
            <a:extLst>
              <a:ext uri="{FF2B5EF4-FFF2-40B4-BE49-F238E27FC236}">
                <a16:creationId xmlns:a16="http://schemas.microsoft.com/office/drawing/2014/main" id="{284C16BB-C04B-F996-D78B-72E605B7F847}"/>
              </a:ext>
            </a:extLst>
          </p:cNvPr>
          <p:cNvSpPr/>
          <p:nvPr/>
        </p:nvSpPr>
        <p:spPr>
          <a:xfrm>
            <a:off x="7365726" y="414552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77" name="Text 50">
            <a:extLst>
              <a:ext uri="{FF2B5EF4-FFF2-40B4-BE49-F238E27FC236}">
                <a16:creationId xmlns:a16="http://schemas.microsoft.com/office/drawing/2014/main" id="{60664507-E062-2238-B1EA-3A948AAA3C8D}"/>
              </a:ext>
            </a:extLst>
          </p:cNvPr>
          <p:cNvSpPr/>
          <p:nvPr/>
        </p:nvSpPr>
        <p:spPr>
          <a:xfrm>
            <a:off x="7941798" y="4145525"/>
            <a:ext cx="1482910" cy="256032"/>
          </a:xfrm>
          <a:prstGeom prst="rect">
            <a:avLst/>
          </a:prstGeom>
          <a:noFill/>
          <a:ln/>
        </p:spPr>
        <p:txBody>
          <a:bodyPr wrap="square" rtlCol="0" anchor="ctr"/>
          <a:lstStyle/>
          <a:p>
            <a:pPr marL="0" indent="0">
              <a:buNone/>
            </a:pPr>
            <a:r>
              <a:rPr lang="en-US" sz="900" dirty="0" err="1">
                <a:solidFill>
                  <a:srgbClr val="6B6B8A"/>
                </a:solidFill>
                <a:latin typeface="Calibri" pitchFamily="34" charset="0"/>
                <a:ea typeface="Calibri" pitchFamily="34" charset="-122"/>
                <a:cs typeface="Calibri" pitchFamily="34" charset="-120"/>
              </a:rPr>
              <a:t>RandomForestClassifier</a:t>
            </a:r>
            <a:endParaRPr lang="en-US" sz="900" dirty="0"/>
          </a:p>
        </p:txBody>
      </p:sp>
      <p:sp>
        <p:nvSpPr>
          <p:cNvPr id="78" name="Text 51">
            <a:extLst>
              <a:ext uri="{FF2B5EF4-FFF2-40B4-BE49-F238E27FC236}">
                <a16:creationId xmlns:a16="http://schemas.microsoft.com/office/drawing/2014/main" id="{D776C400-4419-4551-D0AF-712CF6E0FBB0}"/>
              </a:ext>
            </a:extLst>
          </p:cNvPr>
          <p:cNvSpPr/>
          <p:nvPr/>
        </p:nvSpPr>
        <p:spPr>
          <a:xfrm>
            <a:off x="7365726" y="441984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79" name="Text 52">
            <a:extLst>
              <a:ext uri="{FF2B5EF4-FFF2-40B4-BE49-F238E27FC236}">
                <a16:creationId xmlns:a16="http://schemas.microsoft.com/office/drawing/2014/main" id="{C802E69D-AC47-54CE-D20C-9180EC4013E9}"/>
              </a:ext>
            </a:extLst>
          </p:cNvPr>
          <p:cNvSpPr/>
          <p:nvPr/>
        </p:nvSpPr>
        <p:spPr>
          <a:xfrm>
            <a:off x="7941798" y="441984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BRFSS</a:t>
            </a:r>
            <a:endParaRPr lang="en-US" sz="900" dirty="0"/>
          </a:p>
        </p:txBody>
      </p:sp>
      <p:sp>
        <p:nvSpPr>
          <p:cNvPr id="80" name="Text 53">
            <a:extLst>
              <a:ext uri="{FF2B5EF4-FFF2-40B4-BE49-F238E27FC236}">
                <a16:creationId xmlns:a16="http://schemas.microsoft.com/office/drawing/2014/main" id="{0EED2CFF-8496-C413-92A6-9BEBFC3EE02D}"/>
              </a:ext>
            </a:extLst>
          </p:cNvPr>
          <p:cNvSpPr/>
          <p:nvPr/>
        </p:nvSpPr>
        <p:spPr>
          <a:xfrm>
            <a:off x="7365726" y="4694165"/>
            <a:ext cx="516436"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Result</a:t>
            </a:r>
            <a:r>
              <a:rPr lang="en-US" sz="900" b="1" dirty="0">
                <a:solidFill>
                  <a:srgbClr val="8B7EC8"/>
                </a:solidFill>
                <a:latin typeface="Calibri" pitchFamily="34" charset="0"/>
                <a:ea typeface="Calibri" pitchFamily="34" charset="-122"/>
                <a:cs typeface="Calibri" pitchFamily="34" charset="-120"/>
              </a:rPr>
              <a:t>:</a:t>
            </a:r>
            <a:endParaRPr lang="en-US" sz="900" dirty="0"/>
          </a:p>
        </p:txBody>
      </p:sp>
      <p:sp>
        <p:nvSpPr>
          <p:cNvPr id="81" name="Text 54">
            <a:extLst>
              <a:ext uri="{FF2B5EF4-FFF2-40B4-BE49-F238E27FC236}">
                <a16:creationId xmlns:a16="http://schemas.microsoft.com/office/drawing/2014/main" id="{15F2F3FF-5CF7-B5F3-3950-65B041C5A422}"/>
              </a:ext>
            </a:extLst>
          </p:cNvPr>
          <p:cNvSpPr/>
          <p:nvPr/>
        </p:nvSpPr>
        <p:spPr>
          <a:xfrm>
            <a:off x="7941798" y="4694165"/>
            <a:ext cx="1482910"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Parenting Environment Analysis</a:t>
            </a:r>
            <a:endParaRPr lang="en-US" sz="900" dirty="0">
              <a:solidFill>
                <a:srgbClr val="002060"/>
              </a:solidFill>
            </a:endParaRPr>
          </a:p>
        </p:txBody>
      </p:sp>
    </p:spTree>
    <p:extLst>
      <p:ext uri="{BB962C8B-B14F-4D97-AF65-F5344CB8AC3E}">
        <p14:creationId xmlns:p14="http://schemas.microsoft.com/office/powerpoint/2010/main" val="7759603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0F8"/>
        </a:solidFill>
        <a:effectLst/>
      </p:bgPr>
    </p:bg>
    <p:spTree>
      <p:nvGrpSpPr>
        <p:cNvPr id="1" name="">
          <a:extLst>
            <a:ext uri="{FF2B5EF4-FFF2-40B4-BE49-F238E27FC236}">
              <a16:creationId xmlns:a16="http://schemas.microsoft.com/office/drawing/2014/main" id="{B916F3B1-2D81-E667-73FD-9220AE7924BB}"/>
            </a:ext>
          </a:extLst>
        </p:cNvPr>
        <p:cNvGrpSpPr/>
        <p:nvPr/>
      </p:nvGrpSpPr>
      <p:grpSpPr>
        <a:xfrm>
          <a:off x="0" y="0"/>
          <a:ext cx="0" cy="0"/>
          <a:chOff x="0" y="0"/>
          <a:chExt cx="0" cy="0"/>
        </a:xfrm>
      </p:grpSpPr>
      <p:sp>
        <p:nvSpPr>
          <p:cNvPr id="21" name="Shape 19">
            <a:extLst>
              <a:ext uri="{FF2B5EF4-FFF2-40B4-BE49-F238E27FC236}">
                <a16:creationId xmlns:a16="http://schemas.microsoft.com/office/drawing/2014/main" id="{3EE28B11-9891-8916-655E-AC8E0649639D}"/>
              </a:ext>
            </a:extLst>
          </p:cNvPr>
          <p:cNvSpPr/>
          <p:nvPr/>
        </p:nvSpPr>
        <p:spPr>
          <a:xfrm>
            <a:off x="2670421" y="1600200"/>
            <a:ext cx="2124767" cy="4251960"/>
          </a:xfrm>
          <a:prstGeom prst="rect">
            <a:avLst/>
          </a:prstGeom>
          <a:solidFill>
            <a:srgbClr val="FFFFFF"/>
          </a:solidFill>
          <a:ln w="12700">
            <a:solidFill>
              <a:srgbClr val="E0DEEF"/>
            </a:solidFill>
            <a:prstDash val="solid"/>
          </a:ln>
        </p:spPr>
      </p:sp>
      <p:sp>
        <p:nvSpPr>
          <p:cNvPr id="33" name="Shape 31">
            <a:extLst>
              <a:ext uri="{FF2B5EF4-FFF2-40B4-BE49-F238E27FC236}">
                <a16:creationId xmlns:a16="http://schemas.microsoft.com/office/drawing/2014/main" id="{3EAA7544-50FD-D1B4-E41F-BA2F93BDFE06}"/>
              </a:ext>
            </a:extLst>
          </p:cNvPr>
          <p:cNvSpPr/>
          <p:nvPr/>
        </p:nvSpPr>
        <p:spPr>
          <a:xfrm>
            <a:off x="4947465" y="1600200"/>
            <a:ext cx="2124767" cy="4251960"/>
          </a:xfrm>
          <a:prstGeom prst="rect">
            <a:avLst/>
          </a:prstGeom>
          <a:solidFill>
            <a:srgbClr val="FFFFFF"/>
          </a:solidFill>
          <a:ln w="12700">
            <a:solidFill>
              <a:srgbClr val="E0DEEF"/>
            </a:solidFill>
            <a:prstDash val="solid"/>
          </a:ln>
        </p:spPr>
      </p:sp>
      <p:sp>
        <p:nvSpPr>
          <p:cNvPr id="45" name="Shape 43">
            <a:extLst>
              <a:ext uri="{FF2B5EF4-FFF2-40B4-BE49-F238E27FC236}">
                <a16:creationId xmlns:a16="http://schemas.microsoft.com/office/drawing/2014/main" id="{DFDA1D02-710B-5099-AB91-B710A08DB54A}"/>
              </a:ext>
            </a:extLst>
          </p:cNvPr>
          <p:cNvSpPr/>
          <p:nvPr/>
        </p:nvSpPr>
        <p:spPr>
          <a:xfrm>
            <a:off x="9597659" y="1600200"/>
            <a:ext cx="2124767" cy="4251960"/>
          </a:xfrm>
          <a:prstGeom prst="rect">
            <a:avLst/>
          </a:prstGeom>
          <a:solidFill>
            <a:srgbClr val="FFFFFF"/>
          </a:solidFill>
          <a:ln w="12700">
            <a:solidFill>
              <a:srgbClr val="E0DEEF"/>
            </a:solidFill>
            <a:prstDash val="solid"/>
          </a:ln>
        </p:spPr>
      </p:sp>
      <p:sp>
        <p:nvSpPr>
          <p:cNvPr id="70" name="Shape 43">
            <a:extLst>
              <a:ext uri="{FF2B5EF4-FFF2-40B4-BE49-F238E27FC236}">
                <a16:creationId xmlns:a16="http://schemas.microsoft.com/office/drawing/2014/main" id="{A958F24A-C288-C539-C411-02E164473A1D}"/>
              </a:ext>
            </a:extLst>
          </p:cNvPr>
          <p:cNvSpPr/>
          <p:nvPr/>
        </p:nvSpPr>
        <p:spPr>
          <a:xfrm>
            <a:off x="7255998" y="1612637"/>
            <a:ext cx="2124767" cy="4251960"/>
          </a:xfrm>
          <a:prstGeom prst="rect">
            <a:avLst/>
          </a:prstGeom>
          <a:solidFill>
            <a:srgbClr val="FFFFFF"/>
          </a:solidFill>
          <a:ln w="12700">
            <a:solidFill>
              <a:srgbClr val="E0DEEF"/>
            </a:solidFill>
            <a:prstDash val="solid"/>
          </a:ln>
        </p:spPr>
      </p:sp>
      <p:sp>
        <p:nvSpPr>
          <p:cNvPr id="22" name="Shape 20">
            <a:extLst>
              <a:ext uri="{FF2B5EF4-FFF2-40B4-BE49-F238E27FC236}">
                <a16:creationId xmlns:a16="http://schemas.microsoft.com/office/drawing/2014/main" id="{CF853636-D046-58AA-4E2C-E713D79A5AC3}"/>
              </a:ext>
            </a:extLst>
          </p:cNvPr>
          <p:cNvSpPr/>
          <p:nvPr/>
        </p:nvSpPr>
        <p:spPr>
          <a:xfrm>
            <a:off x="2670421" y="1600200"/>
            <a:ext cx="2124767" cy="502920"/>
          </a:xfrm>
          <a:prstGeom prst="rect">
            <a:avLst/>
          </a:prstGeom>
          <a:solidFill>
            <a:srgbClr val="3BBFAD"/>
          </a:solidFill>
          <a:ln w="12700">
            <a:solidFill>
              <a:srgbClr val="333333"/>
            </a:solidFill>
            <a:prstDash val="solid"/>
          </a:ln>
        </p:spPr>
      </p:sp>
      <p:sp>
        <p:nvSpPr>
          <p:cNvPr id="23" name="Text 21">
            <a:extLst>
              <a:ext uri="{FF2B5EF4-FFF2-40B4-BE49-F238E27FC236}">
                <a16:creationId xmlns:a16="http://schemas.microsoft.com/office/drawing/2014/main" id="{218AAEA0-4304-6C58-FB85-B2D2887C32AF}"/>
              </a:ext>
            </a:extLst>
          </p:cNvPr>
          <p:cNvSpPr/>
          <p:nvPr/>
        </p:nvSpPr>
        <p:spPr>
          <a:xfrm>
            <a:off x="2780149"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7" name="Shape 19">
            <a:extLst>
              <a:ext uri="{FF2B5EF4-FFF2-40B4-BE49-F238E27FC236}">
                <a16:creationId xmlns:a16="http://schemas.microsoft.com/office/drawing/2014/main" id="{170AB6B7-BB25-C8EC-327A-30A0B7FD3837}"/>
              </a:ext>
            </a:extLst>
          </p:cNvPr>
          <p:cNvSpPr/>
          <p:nvPr/>
        </p:nvSpPr>
        <p:spPr>
          <a:xfrm>
            <a:off x="370443" y="1600200"/>
            <a:ext cx="2124767" cy="4251960"/>
          </a:xfrm>
          <a:prstGeom prst="rect">
            <a:avLst/>
          </a:prstGeom>
          <a:solidFill>
            <a:srgbClr val="FFFFFF"/>
          </a:solidFill>
          <a:ln w="12700">
            <a:solidFill>
              <a:srgbClr val="E0DEEF"/>
            </a:solidFill>
            <a:prstDash val="solid"/>
          </a:ln>
        </p:spPr>
      </p:sp>
      <p:sp>
        <p:nvSpPr>
          <p:cNvPr id="86" name="Freeform: Shape 85">
            <a:extLst>
              <a:ext uri="{FF2B5EF4-FFF2-40B4-BE49-F238E27FC236}">
                <a16:creationId xmlns:a16="http://schemas.microsoft.com/office/drawing/2014/main" id="{B20D7E01-5C43-49C5-0B27-13081322239E}"/>
              </a:ext>
            </a:extLst>
          </p:cNvPr>
          <p:cNvSpPr/>
          <p:nvPr/>
        </p:nvSpPr>
        <p:spPr>
          <a:xfrm>
            <a:off x="-5836595" y="0"/>
            <a:ext cx="27694648" cy="6858000"/>
          </a:xfrm>
          <a:custGeom>
            <a:avLst/>
            <a:gdLst>
              <a:gd name="csX0" fmla="*/ 15461920 w 27694648"/>
              <a:gd name="csY0" fmla="*/ 1600200 h 6858000"/>
              <a:gd name="csX1" fmla="*/ 15461920 w 27694648"/>
              <a:gd name="csY1" fmla="*/ 5852160 h 6858000"/>
              <a:gd name="csX2" fmla="*/ 17586687 w 27694648"/>
              <a:gd name="csY2" fmla="*/ 5852160 h 6858000"/>
              <a:gd name="csX3" fmla="*/ 17586687 w 27694648"/>
              <a:gd name="csY3" fmla="*/ 1600200 h 6858000"/>
              <a:gd name="csX4" fmla="*/ 0 w 27694648"/>
              <a:gd name="csY4" fmla="*/ 0 h 6858000"/>
              <a:gd name="csX5" fmla="*/ 27694648 w 27694648"/>
              <a:gd name="csY5" fmla="*/ 0 h 6858000"/>
              <a:gd name="csX6" fmla="*/ 27694648 w 27694648"/>
              <a:gd name="csY6" fmla="*/ 6858000 h 6858000"/>
              <a:gd name="csX7" fmla="*/ 0 w 27694648"/>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7694648" h="6858000">
                <a:moveTo>
                  <a:pt x="15461920" y="1600200"/>
                </a:moveTo>
                <a:lnTo>
                  <a:pt x="15461920" y="5852160"/>
                </a:lnTo>
                <a:lnTo>
                  <a:pt x="17586687" y="5852160"/>
                </a:lnTo>
                <a:lnTo>
                  <a:pt x="17586687" y="1600200"/>
                </a:lnTo>
                <a:close/>
                <a:moveTo>
                  <a:pt x="0" y="0"/>
                </a:moveTo>
                <a:lnTo>
                  <a:pt x="27694648" y="0"/>
                </a:lnTo>
                <a:lnTo>
                  <a:pt x="27694648" y="6858000"/>
                </a:lnTo>
                <a:lnTo>
                  <a:pt x="0" y="6858000"/>
                </a:lnTo>
                <a:close/>
              </a:path>
            </a:pathLst>
          </a:custGeom>
          <a:solidFill>
            <a:srgbClr val="8B7EC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4" name="Text 22">
            <a:extLst>
              <a:ext uri="{FF2B5EF4-FFF2-40B4-BE49-F238E27FC236}">
                <a16:creationId xmlns:a16="http://schemas.microsoft.com/office/drawing/2014/main" id="{2DA0002B-248B-FAE8-AA38-82665A2D36C9}"/>
              </a:ext>
            </a:extLst>
          </p:cNvPr>
          <p:cNvSpPr/>
          <p:nvPr/>
        </p:nvSpPr>
        <p:spPr>
          <a:xfrm>
            <a:off x="2780149"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Celiac Disease Detection</a:t>
            </a:r>
            <a:endParaRPr lang="en-US" sz="1250" dirty="0"/>
          </a:p>
        </p:txBody>
      </p:sp>
      <p:sp>
        <p:nvSpPr>
          <p:cNvPr id="25" name="Text 23">
            <a:extLst>
              <a:ext uri="{FF2B5EF4-FFF2-40B4-BE49-F238E27FC236}">
                <a16:creationId xmlns:a16="http://schemas.microsoft.com/office/drawing/2014/main" id="{11D66E96-3644-BB65-EDBE-2D910EF59315}"/>
              </a:ext>
            </a:extLst>
          </p:cNvPr>
          <p:cNvSpPr/>
          <p:nvPr/>
        </p:nvSpPr>
        <p:spPr>
          <a:xfrm>
            <a:off x="2780149"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Detects celiac risk from immunological markers (IgA, IgG, IgM) and clinical symptoms (diarrhoea, abdominal pain, short stature, sticky stool, weight loss).</a:t>
            </a:r>
            <a:endParaRPr lang="en-US" sz="1050" dirty="0"/>
          </a:p>
        </p:txBody>
      </p:sp>
      <p:sp>
        <p:nvSpPr>
          <p:cNvPr id="26" name="Shape 24">
            <a:extLst>
              <a:ext uri="{FF2B5EF4-FFF2-40B4-BE49-F238E27FC236}">
                <a16:creationId xmlns:a16="http://schemas.microsoft.com/office/drawing/2014/main" id="{5AA06351-A1EA-66EA-FBE8-D6AA146D4683}"/>
              </a:ext>
            </a:extLst>
          </p:cNvPr>
          <p:cNvSpPr/>
          <p:nvPr/>
        </p:nvSpPr>
        <p:spPr>
          <a:xfrm>
            <a:off x="2780149" y="3892357"/>
            <a:ext cx="1947703" cy="36576"/>
          </a:xfrm>
          <a:prstGeom prst="rect">
            <a:avLst/>
          </a:prstGeom>
          <a:solidFill>
            <a:srgbClr val="E0DEEF"/>
          </a:solidFill>
          <a:ln w="12700">
            <a:solidFill>
              <a:srgbClr val="333333"/>
            </a:solidFill>
            <a:prstDash val="solid"/>
          </a:ln>
        </p:spPr>
      </p:sp>
      <p:sp>
        <p:nvSpPr>
          <p:cNvPr id="27" name="Text 25">
            <a:extLst>
              <a:ext uri="{FF2B5EF4-FFF2-40B4-BE49-F238E27FC236}">
                <a16:creationId xmlns:a16="http://schemas.microsoft.com/office/drawing/2014/main" id="{1FEAE968-4909-190A-36BB-23BFD021EFE4}"/>
              </a:ext>
            </a:extLst>
          </p:cNvPr>
          <p:cNvSpPr/>
          <p:nvPr/>
        </p:nvSpPr>
        <p:spPr>
          <a:xfrm>
            <a:off x="2780149"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28" name="Text 26">
            <a:extLst>
              <a:ext uri="{FF2B5EF4-FFF2-40B4-BE49-F238E27FC236}">
                <a16:creationId xmlns:a16="http://schemas.microsoft.com/office/drawing/2014/main" id="{87879BCB-D5F8-A8C6-E8E9-D4D6DA43ECEA}"/>
              </a:ext>
            </a:extLst>
          </p:cNvPr>
          <p:cNvSpPr/>
          <p:nvPr/>
        </p:nvSpPr>
        <p:spPr>
          <a:xfrm>
            <a:off x="3356221"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Random Forest Classifier</a:t>
            </a:r>
            <a:endParaRPr lang="en-US" sz="900" dirty="0"/>
          </a:p>
        </p:txBody>
      </p:sp>
      <p:sp>
        <p:nvSpPr>
          <p:cNvPr id="29" name="Text 27">
            <a:extLst>
              <a:ext uri="{FF2B5EF4-FFF2-40B4-BE49-F238E27FC236}">
                <a16:creationId xmlns:a16="http://schemas.microsoft.com/office/drawing/2014/main" id="{EF29D338-9A6C-5952-3CC2-178E166A7822}"/>
              </a:ext>
            </a:extLst>
          </p:cNvPr>
          <p:cNvSpPr/>
          <p:nvPr/>
        </p:nvSpPr>
        <p:spPr>
          <a:xfrm>
            <a:off x="2780149"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30" name="Text 28">
            <a:extLst>
              <a:ext uri="{FF2B5EF4-FFF2-40B4-BE49-F238E27FC236}">
                <a16:creationId xmlns:a16="http://schemas.microsoft.com/office/drawing/2014/main" id="{03F6B82F-866B-1D6A-5C1B-2BA6CFD7AFDE}"/>
              </a:ext>
            </a:extLst>
          </p:cNvPr>
          <p:cNvSpPr/>
          <p:nvPr/>
        </p:nvSpPr>
        <p:spPr>
          <a:xfrm>
            <a:off x="3356221"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Clinical dataset · IgA / IgG / IgM markers</a:t>
            </a:r>
            <a:endParaRPr lang="en-US" sz="900" dirty="0"/>
          </a:p>
        </p:txBody>
      </p:sp>
      <p:sp>
        <p:nvSpPr>
          <p:cNvPr id="34" name="Shape 32">
            <a:extLst>
              <a:ext uri="{FF2B5EF4-FFF2-40B4-BE49-F238E27FC236}">
                <a16:creationId xmlns:a16="http://schemas.microsoft.com/office/drawing/2014/main" id="{9261722E-AFA1-DF88-C8B0-E067567B6C1D}"/>
              </a:ext>
            </a:extLst>
          </p:cNvPr>
          <p:cNvSpPr/>
          <p:nvPr/>
        </p:nvSpPr>
        <p:spPr>
          <a:xfrm>
            <a:off x="4947465" y="1600200"/>
            <a:ext cx="2124767" cy="502920"/>
          </a:xfrm>
          <a:prstGeom prst="rect">
            <a:avLst/>
          </a:prstGeom>
          <a:solidFill>
            <a:srgbClr val="F5A05A"/>
          </a:solidFill>
          <a:ln w="12700">
            <a:solidFill>
              <a:srgbClr val="333333"/>
            </a:solidFill>
            <a:prstDash val="solid"/>
          </a:ln>
        </p:spPr>
      </p:sp>
      <p:sp>
        <p:nvSpPr>
          <p:cNvPr id="35" name="Text 33">
            <a:extLst>
              <a:ext uri="{FF2B5EF4-FFF2-40B4-BE49-F238E27FC236}">
                <a16:creationId xmlns:a16="http://schemas.microsoft.com/office/drawing/2014/main" id="{8AD620A5-BC91-D278-958C-F24F1F986720}"/>
              </a:ext>
            </a:extLst>
          </p:cNvPr>
          <p:cNvSpPr/>
          <p:nvPr/>
        </p:nvSpPr>
        <p:spPr>
          <a:xfrm>
            <a:off x="5057193"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31" name="Text 29">
            <a:extLst>
              <a:ext uri="{FF2B5EF4-FFF2-40B4-BE49-F238E27FC236}">
                <a16:creationId xmlns:a16="http://schemas.microsoft.com/office/drawing/2014/main" id="{0990AA43-B399-DAF4-F26C-9B3E0E021722}"/>
              </a:ext>
            </a:extLst>
          </p:cNvPr>
          <p:cNvSpPr/>
          <p:nvPr/>
        </p:nvSpPr>
        <p:spPr>
          <a:xfrm>
            <a:off x="2780149" y="4681728"/>
            <a:ext cx="516436"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Result:</a:t>
            </a:r>
            <a:endParaRPr lang="en-US" sz="900" dirty="0"/>
          </a:p>
        </p:txBody>
      </p:sp>
      <p:sp>
        <p:nvSpPr>
          <p:cNvPr id="32" name="Text 30">
            <a:extLst>
              <a:ext uri="{FF2B5EF4-FFF2-40B4-BE49-F238E27FC236}">
                <a16:creationId xmlns:a16="http://schemas.microsoft.com/office/drawing/2014/main" id="{D6C9F30D-0339-9D60-53C7-6B888B9CC6E4}"/>
              </a:ext>
            </a:extLst>
          </p:cNvPr>
          <p:cNvSpPr/>
          <p:nvPr/>
        </p:nvSpPr>
        <p:spPr>
          <a:xfrm>
            <a:off x="3356221" y="4681728"/>
            <a:ext cx="1482910" cy="256032"/>
          </a:xfrm>
          <a:prstGeom prst="rect">
            <a:avLst/>
          </a:prstGeom>
          <a:noFill/>
          <a:ln/>
        </p:spPr>
        <p:txBody>
          <a:bodyPr wrap="square" rtlCol="0" anchor="ctr"/>
          <a:lstStyle/>
          <a:p>
            <a:pPr marL="0" indent="0">
              <a:buNone/>
            </a:pPr>
            <a:r>
              <a:rPr lang="en-US" sz="900" b="1" dirty="0">
                <a:solidFill>
                  <a:srgbClr val="3BBFAD"/>
                </a:solidFill>
                <a:latin typeface="Calibri" pitchFamily="34" charset="0"/>
                <a:ea typeface="Calibri" pitchFamily="34" charset="-122"/>
                <a:cs typeface="Calibri" pitchFamily="34" charset="-120"/>
              </a:rPr>
              <a:t>High precision on symptom clusters</a:t>
            </a:r>
            <a:endParaRPr lang="en-US" sz="900" dirty="0"/>
          </a:p>
        </p:txBody>
      </p:sp>
      <p:sp>
        <p:nvSpPr>
          <p:cNvPr id="36" name="Text 34">
            <a:extLst>
              <a:ext uri="{FF2B5EF4-FFF2-40B4-BE49-F238E27FC236}">
                <a16:creationId xmlns:a16="http://schemas.microsoft.com/office/drawing/2014/main" id="{D3D9048A-F94A-D473-C373-9A6BE108B344}"/>
              </a:ext>
            </a:extLst>
          </p:cNvPr>
          <p:cNvSpPr/>
          <p:nvPr/>
        </p:nvSpPr>
        <p:spPr>
          <a:xfrm>
            <a:off x="5057193"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Child Mortality Predictor</a:t>
            </a:r>
            <a:endParaRPr lang="en-US" sz="1250" dirty="0"/>
          </a:p>
        </p:txBody>
      </p:sp>
      <p:sp>
        <p:nvSpPr>
          <p:cNvPr id="37" name="Text 35">
            <a:extLst>
              <a:ext uri="{FF2B5EF4-FFF2-40B4-BE49-F238E27FC236}">
                <a16:creationId xmlns:a16="http://schemas.microsoft.com/office/drawing/2014/main" id="{1499128A-2CBB-1CEF-6B2A-1E744286D77F}"/>
              </a:ext>
            </a:extLst>
          </p:cNvPr>
          <p:cNvSpPr/>
          <p:nvPr/>
        </p:nvSpPr>
        <p:spPr>
          <a:xfrm>
            <a:off x="5057193"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Estimates child mortality probability from 30 socioeconomic, immunisation, maternal health and sanitation indicators collected from India's NFHS health survey.</a:t>
            </a:r>
            <a:endParaRPr lang="en-US" sz="1050" dirty="0"/>
          </a:p>
        </p:txBody>
      </p:sp>
      <p:sp>
        <p:nvSpPr>
          <p:cNvPr id="38" name="Shape 36">
            <a:extLst>
              <a:ext uri="{FF2B5EF4-FFF2-40B4-BE49-F238E27FC236}">
                <a16:creationId xmlns:a16="http://schemas.microsoft.com/office/drawing/2014/main" id="{3A81B801-FFFE-1CF6-75B2-99AD18ACA2D1}"/>
              </a:ext>
            </a:extLst>
          </p:cNvPr>
          <p:cNvSpPr/>
          <p:nvPr/>
        </p:nvSpPr>
        <p:spPr>
          <a:xfrm>
            <a:off x="5057193" y="3892357"/>
            <a:ext cx="1947703" cy="36576"/>
          </a:xfrm>
          <a:prstGeom prst="rect">
            <a:avLst/>
          </a:prstGeom>
          <a:solidFill>
            <a:srgbClr val="E0DEEF"/>
          </a:solidFill>
          <a:ln w="12700">
            <a:solidFill>
              <a:srgbClr val="333333"/>
            </a:solidFill>
            <a:prstDash val="solid"/>
          </a:ln>
        </p:spPr>
      </p:sp>
      <p:sp>
        <p:nvSpPr>
          <p:cNvPr id="39" name="Text 37">
            <a:extLst>
              <a:ext uri="{FF2B5EF4-FFF2-40B4-BE49-F238E27FC236}">
                <a16:creationId xmlns:a16="http://schemas.microsoft.com/office/drawing/2014/main" id="{A288F842-B07D-5B2C-DD20-5CC90F1E30B6}"/>
              </a:ext>
            </a:extLst>
          </p:cNvPr>
          <p:cNvSpPr/>
          <p:nvPr/>
        </p:nvSpPr>
        <p:spPr>
          <a:xfrm>
            <a:off x="5057193"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40" name="Text 38">
            <a:extLst>
              <a:ext uri="{FF2B5EF4-FFF2-40B4-BE49-F238E27FC236}">
                <a16:creationId xmlns:a16="http://schemas.microsoft.com/office/drawing/2014/main" id="{738B97D0-1BCE-BB14-8E3F-46745EE1D1ED}"/>
              </a:ext>
            </a:extLst>
          </p:cNvPr>
          <p:cNvSpPr/>
          <p:nvPr/>
        </p:nvSpPr>
        <p:spPr>
          <a:xfrm>
            <a:off x="5633265"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Gradient Boosting Classifier</a:t>
            </a:r>
            <a:endParaRPr lang="en-US" sz="900" dirty="0"/>
          </a:p>
        </p:txBody>
      </p:sp>
      <p:sp>
        <p:nvSpPr>
          <p:cNvPr id="41" name="Text 39">
            <a:extLst>
              <a:ext uri="{FF2B5EF4-FFF2-40B4-BE49-F238E27FC236}">
                <a16:creationId xmlns:a16="http://schemas.microsoft.com/office/drawing/2014/main" id="{724092B2-E717-BE9D-1F7E-09DFBCCFF74B}"/>
              </a:ext>
            </a:extLst>
          </p:cNvPr>
          <p:cNvSpPr/>
          <p:nvPr/>
        </p:nvSpPr>
        <p:spPr>
          <a:xfrm>
            <a:off x="5057193"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42" name="Text 40">
            <a:extLst>
              <a:ext uri="{FF2B5EF4-FFF2-40B4-BE49-F238E27FC236}">
                <a16:creationId xmlns:a16="http://schemas.microsoft.com/office/drawing/2014/main" id="{A5667EE3-70E6-7EC4-468E-67E9F7541BA5}"/>
              </a:ext>
            </a:extLst>
          </p:cNvPr>
          <p:cNvSpPr/>
          <p:nvPr/>
        </p:nvSpPr>
        <p:spPr>
          <a:xfrm>
            <a:off x="5633265"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NFHS survey · 30 features · Indian states</a:t>
            </a:r>
            <a:endParaRPr lang="en-US" sz="900" dirty="0"/>
          </a:p>
        </p:txBody>
      </p:sp>
      <p:sp>
        <p:nvSpPr>
          <p:cNvPr id="46" name="Shape 44">
            <a:extLst>
              <a:ext uri="{FF2B5EF4-FFF2-40B4-BE49-F238E27FC236}">
                <a16:creationId xmlns:a16="http://schemas.microsoft.com/office/drawing/2014/main" id="{8FE070D2-3EE2-DB1F-0762-EA17EA52839D}"/>
              </a:ext>
            </a:extLst>
          </p:cNvPr>
          <p:cNvSpPr/>
          <p:nvPr/>
        </p:nvSpPr>
        <p:spPr>
          <a:xfrm>
            <a:off x="9597659" y="1600200"/>
            <a:ext cx="2124767" cy="502920"/>
          </a:xfrm>
          <a:prstGeom prst="rect">
            <a:avLst/>
          </a:prstGeom>
          <a:solidFill>
            <a:srgbClr val="8B7EC8"/>
          </a:solidFill>
          <a:ln w="12700">
            <a:solidFill>
              <a:srgbClr val="333333"/>
            </a:solidFill>
            <a:prstDash val="solid"/>
          </a:ln>
        </p:spPr>
      </p:sp>
      <p:sp>
        <p:nvSpPr>
          <p:cNvPr id="47" name="Text 45">
            <a:extLst>
              <a:ext uri="{FF2B5EF4-FFF2-40B4-BE49-F238E27FC236}">
                <a16:creationId xmlns:a16="http://schemas.microsoft.com/office/drawing/2014/main" id="{F4D1F3A6-F967-B887-726C-7BCD4B117157}"/>
              </a:ext>
            </a:extLst>
          </p:cNvPr>
          <p:cNvSpPr/>
          <p:nvPr/>
        </p:nvSpPr>
        <p:spPr>
          <a:xfrm>
            <a:off x="9707387"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3" name="Text 41">
            <a:extLst>
              <a:ext uri="{FF2B5EF4-FFF2-40B4-BE49-F238E27FC236}">
                <a16:creationId xmlns:a16="http://schemas.microsoft.com/office/drawing/2014/main" id="{87B4D3F1-C558-C6FF-A247-A5E2CD315EA2}"/>
              </a:ext>
            </a:extLst>
          </p:cNvPr>
          <p:cNvSpPr/>
          <p:nvPr/>
        </p:nvSpPr>
        <p:spPr>
          <a:xfrm>
            <a:off x="5057193" y="4681728"/>
            <a:ext cx="516436"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Result:</a:t>
            </a:r>
            <a:endParaRPr lang="en-US" sz="900" dirty="0"/>
          </a:p>
        </p:txBody>
      </p:sp>
      <p:sp>
        <p:nvSpPr>
          <p:cNvPr id="44" name="Text 42">
            <a:extLst>
              <a:ext uri="{FF2B5EF4-FFF2-40B4-BE49-F238E27FC236}">
                <a16:creationId xmlns:a16="http://schemas.microsoft.com/office/drawing/2014/main" id="{E103D8B0-D174-5AEC-2D87-4CD79E8842E9}"/>
              </a:ext>
            </a:extLst>
          </p:cNvPr>
          <p:cNvSpPr/>
          <p:nvPr/>
        </p:nvSpPr>
        <p:spPr>
          <a:xfrm>
            <a:off x="5633265" y="4681728"/>
            <a:ext cx="1482910" cy="256032"/>
          </a:xfrm>
          <a:prstGeom prst="rect">
            <a:avLst/>
          </a:prstGeom>
          <a:noFill/>
          <a:ln/>
        </p:spPr>
        <p:txBody>
          <a:bodyPr wrap="square" rtlCol="0" anchor="ctr"/>
          <a:lstStyle/>
          <a:p>
            <a:pPr marL="0" indent="0">
              <a:buNone/>
            </a:pPr>
            <a:r>
              <a:rPr lang="en-US" sz="900" b="1" dirty="0">
                <a:solidFill>
                  <a:srgbClr val="F5A05A"/>
                </a:solidFill>
                <a:latin typeface="Calibri" pitchFamily="34" charset="0"/>
                <a:ea typeface="Calibri" pitchFamily="34" charset="-122"/>
                <a:cs typeface="Calibri" pitchFamily="34" charset="-120"/>
              </a:rPr>
              <a:t>Calibrated probability output</a:t>
            </a:r>
            <a:endParaRPr lang="en-US" sz="900" dirty="0"/>
          </a:p>
        </p:txBody>
      </p:sp>
      <p:sp>
        <p:nvSpPr>
          <p:cNvPr id="48" name="Text 46">
            <a:extLst>
              <a:ext uri="{FF2B5EF4-FFF2-40B4-BE49-F238E27FC236}">
                <a16:creationId xmlns:a16="http://schemas.microsoft.com/office/drawing/2014/main" id="{14F45B08-1A18-2B84-A38E-CEED0B980F72}"/>
              </a:ext>
            </a:extLst>
          </p:cNvPr>
          <p:cNvSpPr/>
          <p:nvPr/>
        </p:nvSpPr>
        <p:spPr>
          <a:xfrm>
            <a:off x="9707387"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NurtureAI Chatbot</a:t>
            </a:r>
            <a:endParaRPr lang="en-US" sz="1250" dirty="0"/>
          </a:p>
        </p:txBody>
      </p:sp>
      <p:sp>
        <p:nvSpPr>
          <p:cNvPr id="49" name="Text 47">
            <a:extLst>
              <a:ext uri="{FF2B5EF4-FFF2-40B4-BE49-F238E27FC236}">
                <a16:creationId xmlns:a16="http://schemas.microsoft.com/office/drawing/2014/main" id="{DE513F69-BD48-FAD0-8B4D-EABF67F21345}"/>
              </a:ext>
            </a:extLst>
          </p:cNvPr>
          <p:cNvSpPr/>
          <p:nvPr/>
        </p:nvSpPr>
        <p:spPr>
          <a:xfrm>
            <a:off x="9707387"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A Retrieval-Augmented Generation chatbot that answers parenting questions, explains model predictions in plain language, and provides evidence-based guidance.</a:t>
            </a:r>
            <a:endParaRPr lang="en-US" sz="1050" dirty="0"/>
          </a:p>
        </p:txBody>
      </p:sp>
      <p:sp>
        <p:nvSpPr>
          <p:cNvPr id="50" name="Shape 48">
            <a:extLst>
              <a:ext uri="{FF2B5EF4-FFF2-40B4-BE49-F238E27FC236}">
                <a16:creationId xmlns:a16="http://schemas.microsoft.com/office/drawing/2014/main" id="{1B9924C8-2B3E-38BA-D4FE-7CF474655971}"/>
              </a:ext>
            </a:extLst>
          </p:cNvPr>
          <p:cNvSpPr/>
          <p:nvPr/>
        </p:nvSpPr>
        <p:spPr>
          <a:xfrm>
            <a:off x="9707387" y="3892357"/>
            <a:ext cx="1947703" cy="36576"/>
          </a:xfrm>
          <a:prstGeom prst="rect">
            <a:avLst/>
          </a:prstGeom>
          <a:solidFill>
            <a:srgbClr val="E0DEEF"/>
          </a:solidFill>
          <a:ln w="12700">
            <a:solidFill>
              <a:srgbClr val="333333"/>
            </a:solidFill>
            <a:prstDash val="solid"/>
          </a:ln>
        </p:spPr>
      </p:sp>
      <p:sp>
        <p:nvSpPr>
          <p:cNvPr id="51" name="Text 49">
            <a:extLst>
              <a:ext uri="{FF2B5EF4-FFF2-40B4-BE49-F238E27FC236}">
                <a16:creationId xmlns:a16="http://schemas.microsoft.com/office/drawing/2014/main" id="{E6457AA4-4A1A-0C8E-3865-E33DFFD48E18}"/>
              </a:ext>
            </a:extLst>
          </p:cNvPr>
          <p:cNvSpPr/>
          <p:nvPr/>
        </p:nvSpPr>
        <p:spPr>
          <a:xfrm>
            <a:off x="9707387"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52" name="Text 50">
            <a:extLst>
              <a:ext uri="{FF2B5EF4-FFF2-40B4-BE49-F238E27FC236}">
                <a16:creationId xmlns:a16="http://schemas.microsoft.com/office/drawing/2014/main" id="{6E2BA11B-9478-AF74-2A0A-9E94A12F0C95}"/>
              </a:ext>
            </a:extLst>
          </p:cNvPr>
          <p:cNvSpPr/>
          <p:nvPr/>
        </p:nvSpPr>
        <p:spPr>
          <a:xfrm>
            <a:off x="10283459"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RAG · ChromaDB · LLM backbone</a:t>
            </a:r>
            <a:endParaRPr lang="en-US" sz="900" dirty="0"/>
          </a:p>
        </p:txBody>
      </p:sp>
      <p:sp>
        <p:nvSpPr>
          <p:cNvPr id="53" name="Text 51">
            <a:extLst>
              <a:ext uri="{FF2B5EF4-FFF2-40B4-BE49-F238E27FC236}">
                <a16:creationId xmlns:a16="http://schemas.microsoft.com/office/drawing/2014/main" id="{1EDF05EA-0BCF-845A-1834-69A37843A864}"/>
              </a:ext>
            </a:extLst>
          </p:cNvPr>
          <p:cNvSpPr/>
          <p:nvPr/>
        </p:nvSpPr>
        <p:spPr>
          <a:xfrm>
            <a:off x="9707387"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0" name="Shape 8">
            <a:extLst>
              <a:ext uri="{FF2B5EF4-FFF2-40B4-BE49-F238E27FC236}">
                <a16:creationId xmlns:a16="http://schemas.microsoft.com/office/drawing/2014/main" id="{F4653FF6-7E65-5A34-E686-864D8681D359}"/>
              </a:ext>
            </a:extLst>
          </p:cNvPr>
          <p:cNvSpPr/>
          <p:nvPr/>
        </p:nvSpPr>
        <p:spPr>
          <a:xfrm>
            <a:off x="384048" y="1600200"/>
            <a:ext cx="2124767" cy="502920"/>
          </a:xfrm>
          <a:prstGeom prst="rect">
            <a:avLst/>
          </a:prstGeom>
          <a:solidFill>
            <a:srgbClr val="F96167"/>
          </a:solidFill>
          <a:ln w="12700">
            <a:solidFill>
              <a:srgbClr val="333333"/>
            </a:solidFill>
            <a:prstDash val="solid"/>
          </a:ln>
        </p:spPr>
      </p:sp>
      <p:sp>
        <p:nvSpPr>
          <p:cNvPr id="54" name="Text 52">
            <a:extLst>
              <a:ext uri="{FF2B5EF4-FFF2-40B4-BE49-F238E27FC236}">
                <a16:creationId xmlns:a16="http://schemas.microsoft.com/office/drawing/2014/main" id="{DBBF84D7-9B50-77B6-B2BC-F902BD4FFBEB}"/>
              </a:ext>
            </a:extLst>
          </p:cNvPr>
          <p:cNvSpPr/>
          <p:nvPr/>
        </p:nvSpPr>
        <p:spPr>
          <a:xfrm>
            <a:off x="10283459" y="440740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Open-source parenting &amp; paediatric corpus</a:t>
            </a:r>
            <a:endParaRPr lang="en-US" sz="900" dirty="0"/>
          </a:p>
        </p:txBody>
      </p:sp>
      <p:sp>
        <p:nvSpPr>
          <p:cNvPr id="55" name="Text 53">
            <a:extLst>
              <a:ext uri="{FF2B5EF4-FFF2-40B4-BE49-F238E27FC236}">
                <a16:creationId xmlns:a16="http://schemas.microsoft.com/office/drawing/2014/main" id="{1D1EC69A-8362-CE34-1D2A-DE0D0DF41865}"/>
              </a:ext>
            </a:extLst>
          </p:cNvPr>
          <p:cNvSpPr/>
          <p:nvPr/>
        </p:nvSpPr>
        <p:spPr>
          <a:xfrm>
            <a:off x="9707387" y="4681728"/>
            <a:ext cx="516436"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Result:</a:t>
            </a:r>
            <a:endParaRPr lang="en-US" sz="900" dirty="0"/>
          </a:p>
        </p:txBody>
      </p:sp>
      <p:sp>
        <p:nvSpPr>
          <p:cNvPr id="56" name="Text 54">
            <a:extLst>
              <a:ext uri="{FF2B5EF4-FFF2-40B4-BE49-F238E27FC236}">
                <a16:creationId xmlns:a16="http://schemas.microsoft.com/office/drawing/2014/main" id="{1AC1385D-2D3F-4B0C-F956-85A6DB33D271}"/>
              </a:ext>
            </a:extLst>
          </p:cNvPr>
          <p:cNvSpPr/>
          <p:nvPr/>
        </p:nvSpPr>
        <p:spPr>
          <a:xfrm>
            <a:off x="10283459" y="4681728"/>
            <a:ext cx="1482910" cy="256032"/>
          </a:xfrm>
          <a:prstGeom prst="rect">
            <a:avLst/>
          </a:prstGeom>
          <a:noFill/>
          <a:ln/>
        </p:spPr>
        <p:txBody>
          <a:bodyPr wrap="square" rtlCol="0" anchor="ctr"/>
          <a:lstStyle/>
          <a:p>
            <a:pPr marL="0" indent="0">
              <a:buNone/>
            </a:pPr>
            <a:r>
              <a:rPr lang="en-US" sz="900" b="1" dirty="0">
                <a:solidFill>
                  <a:srgbClr val="8B7EC8"/>
                </a:solidFill>
                <a:latin typeface="Calibri" pitchFamily="34" charset="0"/>
                <a:ea typeface="Calibri" pitchFamily="34" charset="-122"/>
                <a:cs typeface="Calibri" pitchFamily="34" charset="-120"/>
              </a:rPr>
              <a:t>Context-aware Q&amp;A</a:t>
            </a:r>
            <a:endParaRPr lang="en-US" sz="900" dirty="0"/>
          </a:p>
        </p:txBody>
      </p:sp>
      <p:sp>
        <p:nvSpPr>
          <p:cNvPr id="2" name="Shape 0">
            <a:extLst>
              <a:ext uri="{FF2B5EF4-FFF2-40B4-BE49-F238E27FC236}">
                <a16:creationId xmlns:a16="http://schemas.microsoft.com/office/drawing/2014/main" id="{2E162870-C15B-DC4D-8BC5-B9510F50655C}"/>
              </a:ext>
            </a:extLst>
          </p:cNvPr>
          <p:cNvSpPr/>
          <p:nvPr/>
        </p:nvSpPr>
        <p:spPr>
          <a:xfrm>
            <a:off x="10241280" y="-548640"/>
            <a:ext cx="2011680" cy="2011680"/>
          </a:xfrm>
          <a:prstGeom prst="ellipse">
            <a:avLst/>
          </a:prstGeom>
          <a:solidFill>
            <a:srgbClr val="3BBFAD">
              <a:alpha val="60000"/>
            </a:srgbClr>
          </a:solidFill>
          <a:ln w="12700">
            <a:solidFill>
              <a:srgbClr val="333333"/>
            </a:solidFill>
            <a:prstDash val="solid"/>
          </a:ln>
        </p:spPr>
      </p:sp>
      <p:sp>
        <p:nvSpPr>
          <p:cNvPr id="3" name="Shape 1">
            <a:extLst>
              <a:ext uri="{FF2B5EF4-FFF2-40B4-BE49-F238E27FC236}">
                <a16:creationId xmlns:a16="http://schemas.microsoft.com/office/drawing/2014/main" id="{91E0E73A-D059-AD33-9919-82B74ECD9A0E}"/>
              </a:ext>
            </a:extLst>
          </p:cNvPr>
          <p:cNvSpPr/>
          <p:nvPr/>
        </p:nvSpPr>
        <p:spPr>
          <a:xfrm>
            <a:off x="10789920" y="5303520"/>
            <a:ext cx="1463040" cy="1463040"/>
          </a:xfrm>
          <a:prstGeom prst="ellipse">
            <a:avLst/>
          </a:prstGeom>
          <a:solidFill>
            <a:srgbClr val="F96167">
              <a:alpha val="50000"/>
            </a:srgbClr>
          </a:solidFill>
          <a:ln w="12700">
            <a:solidFill>
              <a:srgbClr val="333333"/>
            </a:solidFill>
            <a:prstDash val="solid"/>
          </a:ln>
        </p:spPr>
      </p:sp>
      <p:sp>
        <p:nvSpPr>
          <p:cNvPr id="4" name="Shape 2">
            <a:extLst>
              <a:ext uri="{FF2B5EF4-FFF2-40B4-BE49-F238E27FC236}">
                <a16:creationId xmlns:a16="http://schemas.microsoft.com/office/drawing/2014/main" id="{DDFAB7C4-A60F-53C0-504D-3CF1E41AE2A2}"/>
              </a:ext>
            </a:extLst>
          </p:cNvPr>
          <p:cNvSpPr/>
          <p:nvPr/>
        </p:nvSpPr>
        <p:spPr>
          <a:xfrm>
            <a:off x="-457200" y="5486400"/>
            <a:ext cx="1463040" cy="1463040"/>
          </a:xfrm>
          <a:prstGeom prst="ellipse">
            <a:avLst/>
          </a:prstGeom>
          <a:solidFill>
            <a:srgbClr val="F5A05A">
              <a:alpha val="55000"/>
            </a:srgbClr>
          </a:solidFill>
          <a:ln w="12700">
            <a:solidFill>
              <a:srgbClr val="333333"/>
            </a:solidFill>
            <a:prstDash val="solid"/>
          </a:ln>
        </p:spPr>
      </p:sp>
      <p:sp>
        <p:nvSpPr>
          <p:cNvPr id="5" name="Shape 3">
            <a:extLst>
              <a:ext uri="{FF2B5EF4-FFF2-40B4-BE49-F238E27FC236}">
                <a16:creationId xmlns:a16="http://schemas.microsoft.com/office/drawing/2014/main" id="{457A6A7B-0F85-A6A2-E832-A87E0F7B5D54}"/>
              </a:ext>
            </a:extLst>
          </p:cNvPr>
          <p:cNvSpPr/>
          <p:nvPr/>
        </p:nvSpPr>
        <p:spPr>
          <a:xfrm>
            <a:off x="91440" y="2743200"/>
            <a:ext cx="457200" cy="457200"/>
          </a:xfrm>
          <a:prstGeom prst="ellipse">
            <a:avLst/>
          </a:prstGeom>
          <a:solidFill>
            <a:srgbClr val="8B7EC8">
              <a:alpha val="70000"/>
            </a:srgbClr>
          </a:solidFill>
          <a:ln w="12700">
            <a:solidFill>
              <a:srgbClr val="333333"/>
            </a:solidFill>
            <a:prstDash val="solid"/>
          </a:ln>
        </p:spPr>
      </p:sp>
      <p:sp>
        <p:nvSpPr>
          <p:cNvPr id="11" name="Text 9">
            <a:extLst>
              <a:ext uri="{FF2B5EF4-FFF2-40B4-BE49-F238E27FC236}">
                <a16:creationId xmlns:a16="http://schemas.microsoft.com/office/drawing/2014/main" id="{F2223EE2-DAFE-84B9-3F69-A994517A0A61}"/>
              </a:ext>
            </a:extLst>
          </p:cNvPr>
          <p:cNvSpPr/>
          <p:nvPr/>
        </p:nvSpPr>
        <p:spPr>
          <a:xfrm>
            <a:off x="493776" y="1636776"/>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a:extLst>
              <a:ext uri="{FF2B5EF4-FFF2-40B4-BE49-F238E27FC236}">
                <a16:creationId xmlns:a16="http://schemas.microsoft.com/office/drawing/2014/main" id="{6A85E49E-AA07-4217-1767-46CEAD46A3AB}"/>
              </a:ext>
            </a:extLst>
          </p:cNvPr>
          <p:cNvSpPr/>
          <p:nvPr/>
        </p:nvSpPr>
        <p:spPr>
          <a:xfrm>
            <a:off x="502920" y="274320"/>
            <a:ext cx="9144000" cy="594360"/>
          </a:xfrm>
          <a:prstGeom prst="rect">
            <a:avLst/>
          </a:prstGeom>
          <a:noFill/>
          <a:ln/>
        </p:spPr>
        <p:txBody>
          <a:bodyPr wrap="square" rtlCol="0" anchor="ctr"/>
          <a:lstStyle/>
          <a:p>
            <a:pPr marL="0" indent="0">
              <a:buNone/>
            </a:pPr>
            <a:r>
              <a:rPr lang="en-US" sz="3200" b="1" dirty="0">
                <a:solidFill>
                  <a:srgbClr val="2E2B5F"/>
                </a:solidFill>
                <a:latin typeface="Calibri" pitchFamily="34" charset="0"/>
                <a:ea typeface="Calibri" pitchFamily="34" charset="-122"/>
                <a:cs typeface="Calibri" pitchFamily="34" charset="-120"/>
              </a:rPr>
              <a:t>Platform Overview</a:t>
            </a:r>
            <a:endParaRPr lang="en-US" sz="3200" dirty="0"/>
          </a:p>
        </p:txBody>
      </p:sp>
      <p:sp>
        <p:nvSpPr>
          <p:cNvPr id="7" name="Shape 5">
            <a:extLst>
              <a:ext uri="{FF2B5EF4-FFF2-40B4-BE49-F238E27FC236}">
                <a16:creationId xmlns:a16="http://schemas.microsoft.com/office/drawing/2014/main" id="{DE251144-12B5-0980-7CAB-97A5D018CD7B}"/>
              </a:ext>
            </a:extLst>
          </p:cNvPr>
          <p:cNvSpPr/>
          <p:nvPr/>
        </p:nvSpPr>
        <p:spPr>
          <a:xfrm>
            <a:off x="502920" y="896112"/>
            <a:ext cx="1645920" cy="54864"/>
          </a:xfrm>
          <a:prstGeom prst="rect">
            <a:avLst/>
          </a:prstGeom>
          <a:solidFill>
            <a:srgbClr val="F96167"/>
          </a:solidFill>
          <a:ln w="12700">
            <a:solidFill>
              <a:srgbClr val="333333"/>
            </a:solidFill>
            <a:prstDash val="solid"/>
          </a:ln>
        </p:spPr>
      </p:sp>
      <p:sp>
        <p:nvSpPr>
          <p:cNvPr id="8" name="Text 6">
            <a:extLst>
              <a:ext uri="{FF2B5EF4-FFF2-40B4-BE49-F238E27FC236}">
                <a16:creationId xmlns:a16="http://schemas.microsoft.com/office/drawing/2014/main" id="{DAE37235-BD5E-B279-FD14-F7646D8DDB0F}"/>
              </a:ext>
            </a:extLst>
          </p:cNvPr>
          <p:cNvSpPr/>
          <p:nvPr/>
        </p:nvSpPr>
        <p:spPr>
          <a:xfrm>
            <a:off x="502920" y="1005840"/>
            <a:ext cx="10789920" cy="457200"/>
          </a:xfrm>
          <a:prstGeom prst="rect">
            <a:avLst/>
          </a:prstGeom>
          <a:noFill/>
          <a:ln/>
        </p:spPr>
        <p:txBody>
          <a:bodyPr wrap="square" rtlCol="0" anchor="ctr"/>
          <a:lstStyle/>
          <a:p>
            <a:pPr marL="0" indent="0">
              <a:buNone/>
            </a:pPr>
            <a:r>
              <a:rPr lang="en-US" sz="1300" dirty="0">
                <a:solidFill>
                  <a:srgbClr val="6B6B8A"/>
                </a:solidFill>
                <a:latin typeface="Calibri" pitchFamily="34" charset="0"/>
                <a:ea typeface="Calibri" pitchFamily="34" charset="-122"/>
                <a:cs typeface="Calibri" pitchFamily="34" charset="-120"/>
              </a:rPr>
              <a:t>NurtureAI integrates four ML modules into a unified Flask API with a React frontend, enabling real-time predictions across multiple child health domains.</a:t>
            </a:r>
            <a:endParaRPr lang="en-US" sz="1300" dirty="0"/>
          </a:p>
        </p:txBody>
      </p:sp>
      <p:sp>
        <p:nvSpPr>
          <p:cNvPr id="12" name="Text 10">
            <a:extLst>
              <a:ext uri="{FF2B5EF4-FFF2-40B4-BE49-F238E27FC236}">
                <a16:creationId xmlns:a16="http://schemas.microsoft.com/office/drawing/2014/main" id="{AFFC8860-C14D-60F9-ADEB-19C819EE42B0}"/>
              </a:ext>
            </a:extLst>
          </p:cNvPr>
          <p:cNvSpPr/>
          <p:nvPr/>
        </p:nvSpPr>
        <p:spPr>
          <a:xfrm>
            <a:off x="493776" y="2176272"/>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Behaviour &amp; Mental Health</a:t>
            </a:r>
            <a:endParaRPr lang="en-US" sz="1250" dirty="0"/>
          </a:p>
        </p:txBody>
      </p:sp>
      <p:sp>
        <p:nvSpPr>
          <p:cNvPr id="13" name="Text 11">
            <a:extLst>
              <a:ext uri="{FF2B5EF4-FFF2-40B4-BE49-F238E27FC236}">
                <a16:creationId xmlns:a16="http://schemas.microsoft.com/office/drawing/2014/main" id="{A99962B3-1329-A300-3B72-944B7927164C}"/>
              </a:ext>
            </a:extLst>
          </p:cNvPr>
          <p:cNvSpPr/>
          <p:nvPr/>
        </p:nvSpPr>
        <p:spPr>
          <a:xfrm>
            <a:off x="493776" y="2633472"/>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Severity Impairment Index (sii 0–3) from physical health, sleep, activity &amp; fitness data. 8× better than all 9 standard classifiers.</a:t>
            </a:r>
            <a:endParaRPr lang="en-US" sz="1050" dirty="0"/>
          </a:p>
        </p:txBody>
      </p:sp>
      <p:sp>
        <p:nvSpPr>
          <p:cNvPr id="14" name="Shape 12">
            <a:extLst>
              <a:ext uri="{FF2B5EF4-FFF2-40B4-BE49-F238E27FC236}">
                <a16:creationId xmlns:a16="http://schemas.microsoft.com/office/drawing/2014/main" id="{B20032D9-8A86-F391-C3F3-E27F5A8F8663}"/>
              </a:ext>
            </a:extLst>
          </p:cNvPr>
          <p:cNvSpPr/>
          <p:nvPr/>
        </p:nvSpPr>
        <p:spPr>
          <a:xfrm>
            <a:off x="493776" y="3892357"/>
            <a:ext cx="1947703" cy="36576"/>
          </a:xfrm>
          <a:prstGeom prst="rect">
            <a:avLst/>
          </a:prstGeom>
          <a:solidFill>
            <a:srgbClr val="E0DEEF"/>
          </a:solidFill>
          <a:ln w="12700">
            <a:solidFill>
              <a:srgbClr val="333333"/>
            </a:solidFill>
            <a:prstDash val="solid"/>
          </a:ln>
        </p:spPr>
      </p:sp>
      <p:sp>
        <p:nvSpPr>
          <p:cNvPr id="15" name="Text 13">
            <a:extLst>
              <a:ext uri="{FF2B5EF4-FFF2-40B4-BE49-F238E27FC236}">
                <a16:creationId xmlns:a16="http://schemas.microsoft.com/office/drawing/2014/main" id="{1ACACC1C-8541-07D6-8216-F8FCE6963F95}"/>
              </a:ext>
            </a:extLst>
          </p:cNvPr>
          <p:cNvSpPr/>
          <p:nvPr/>
        </p:nvSpPr>
        <p:spPr>
          <a:xfrm>
            <a:off x="493776" y="413308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16" name="Text 14">
            <a:extLst>
              <a:ext uri="{FF2B5EF4-FFF2-40B4-BE49-F238E27FC236}">
                <a16:creationId xmlns:a16="http://schemas.microsoft.com/office/drawing/2014/main" id="{EBE4648C-6369-47CE-4299-7467F062FEE9}"/>
              </a:ext>
            </a:extLst>
          </p:cNvPr>
          <p:cNvSpPr/>
          <p:nvPr/>
        </p:nvSpPr>
        <p:spPr>
          <a:xfrm>
            <a:off x="1069848" y="4133088"/>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OrdinalGB (GradientBoosting Regressor)</a:t>
            </a:r>
            <a:endParaRPr lang="en-US" sz="900" dirty="0"/>
          </a:p>
        </p:txBody>
      </p:sp>
      <p:sp>
        <p:nvSpPr>
          <p:cNvPr id="17" name="Text 15">
            <a:extLst>
              <a:ext uri="{FF2B5EF4-FFF2-40B4-BE49-F238E27FC236}">
                <a16:creationId xmlns:a16="http://schemas.microsoft.com/office/drawing/2014/main" id="{BFBDF87F-6D68-54A8-A8CC-EEF8C3F229C1}"/>
              </a:ext>
            </a:extLst>
          </p:cNvPr>
          <p:cNvSpPr/>
          <p:nvPr/>
        </p:nvSpPr>
        <p:spPr>
          <a:xfrm>
            <a:off x="493776" y="4407408"/>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18" name="Text 16">
            <a:extLst>
              <a:ext uri="{FF2B5EF4-FFF2-40B4-BE49-F238E27FC236}">
                <a16:creationId xmlns:a16="http://schemas.microsoft.com/office/drawing/2014/main" id="{70B981F0-A7A4-0720-3D72-EE6EC654B4AD}"/>
              </a:ext>
            </a:extLst>
          </p:cNvPr>
          <p:cNvSpPr/>
          <p:nvPr/>
        </p:nvSpPr>
        <p:spPr>
          <a:xfrm>
            <a:off x="1069848" y="450071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CMI-PIU · 3,900 rows · 22 features</a:t>
            </a:r>
            <a:endParaRPr lang="en-US" sz="900" dirty="0"/>
          </a:p>
        </p:txBody>
      </p:sp>
      <p:sp>
        <p:nvSpPr>
          <p:cNvPr id="71" name="Shape 44">
            <a:extLst>
              <a:ext uri="{FF2B5EF4-FFF2-40B4-BE49-F238E27FC236}">
                <a16:creationId xmlns:a16="http://schemas.microsoft.com/office/drawing/2014/main" id="{41EAE828-E1B9-E36D-ADDA-215957286E23}"/>
              </a:ext>
            </a:extLst>
          </p:cNvPr>
          <p:cNvSpPr/>
          <p:nvPr/>
        </p:nvSpPr>
        <p:spPr>
          <a:xfrm>
            <a:off x="7255998" y="1612637"/>
            <a:ext cx="2124767" cy="502920"/>
          </a:xfrm>
          <a:prstGeom prst="rect">
            <a:avLst/>
          </a:prstGeom>
          <a:solidFill>
            <a:srgbClr val="002060"/>
          </a:solidFill>
          <a:ln w="12700">
            <a:solidFill>
              <a:srgbClr val="333333"/>
            </a:solidFill>
            <a:prstDash val="solid"/>
          </a:ln>
        </p:spPr>
      </p:sp>
      <p:sp>
        <p:nvSpPr>
          <p:cNvPr id="72" name="Text 45">
            <a:extLst>
              <a:ext uri="{FF2B5EF4-FFF2-40B4-BE49-F238E27FC236}">
                <a16:creationId xmlns:a16="http://schemas.microsoft.com/office/drawing/2014/main" id="{2916AB98-815E-45F4-A276-8897C5F6BD76}"/>
              </a:ext>
            </a:extLst>
          </p:cNvPr>
          <p:cNvSpPr/>
          <p:nvPr/>
        </p:nvSpPr>
        <p:spPr>
          <a:xfrm>
            <a:off x="7365726" y="1649213"/>
            <a:ext cx="368883" cy="402336"/>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9" name="Text 17">
            <a:extLst>
              <a:ext uri="{FF2B5EF4-FFF2-40B4-BE49-F238E27FC236}">
                <a16:creationId xmlns:a16="http://schemas.microsoft.com/office/drawing/2014/main" id="{38E8C2B1-5687-D061-B0B5-57FD78CD3C23}"/>
              </a:ext>
            </a:extLst>
          </p:cNvPr>
          <p:cNvSpPr/>
          <p:nvPr/>
        </p:nvSpPr>
        <p:spPr>
          <a:xfrm>
            <a:off x="493776" y="4681728"/>
            <a:ext cx="516436"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Result:</a:t>
            </a:r>
            <a:endParaRPr lang="en-US" sz="900" dirty="0"/>
          </a:p>
        </p:txBody>
      </p:sp>
      <p:sp>
        <p:nvSpPr>
          <p:cNvPr id="20" name="Text 18">
            <a:extLst>
              <a:ext uri="{FF2B5EF4-FFF2-40B4-BE49-F238E27FC236}">
                <a16:creationId xmlns:a16="http://schemas.microsoft.com/office/drawing/2014/main" id="{4627AA5A-3558-A368-A4FE-98E957CF288B}"/>
              </a:ext>
            </a:extLst>
          </p:cNvPr>
          <p:cNvSpPr/>
          <p:nvPr/>
        </p:nvSpPr>
        <p:spPr>
          <a:xfrm>
            <a:off x="1069848" y="4681728"/>
            <a:ext cx="1482910" cy="256032"/>
          </a:xfrm>
          <a:prstGeom prst="rect">
            <a:avLst/>
          </a:prstGeom>
          <a:noFill/>
          <a:ln/>
        </p:spPr>
        <p:txBody>
          <a:bodyPr wrap="square" rtlCol="0" anchor="ctr"/>
          <a:lstStyle/>
          <a:p>
            <a:pPr marL="0" indent="0">
              <a:buNone/>
            </a:pPr>
            <a:r>
              <a:rPr lang="en-US" sz="900" b="1" dirty="0">
                <a:solidFill>
                  <a:srgbClr val="F96167"/>
                </a:solidFill>
                <a:latin typeface="Calibri" pitchFamily="34" charset="0"/>
                <a:ea typeface="Calibri" pitchFamily="34" charset="-122"/>
                <a:cs typeface="Calibri" pitchFamily="34" charset="-120"/>
              </a:rPr>
              <a:t>QWK = 0.6259 (Substantial)</a:t>
            </a:r>
            <a:endParaRPr lang="en-US" sz="900" dirty="0"/>
          </a:p>
        </p:txBody>
      </p:sp>
      <p:sp>
        <p:nvSpPr>
          <p:cNvPr id="73" name="Text 46">
            <a:extLst>
              <a:ext uri="{FF2B5EF4-FFF2-40B4-BE49-F238E27FC236}">
                <a16:creationId xmlns:a16="http://schemas.microsoft.com/office/drawing/2014/main" id="{1E2EA3A2-3737-0614-6F6C-8B43C4CE3CCF}"/>
              </a:ext>
            </a:extLst>
          </p:cNvPr>
          <p:cNvSpPr/>
          <p:nvPr/>
        </p:nvSpPr>
        <p:spPr>
          <a:xfrm>
            <a:off x="7365726" y="2188709"/>
            <a:ext cx="1947703" cy="402336"/>
          </a:xfrm>
          <a:prstGeom prst="rect">
            <a:avLst/>
          </a:prstGeom>
          <a:noFill/>
          <a:ln/>
        </p:spPr>
        <p:txBody>
          <a:bodyPr wrap="square" rtlCol="0" anchor="ctr"/>
          <a:lstStyle/>
          <a:p>
            <a:pPr marL="0" indent="0">
              <a:buNone/>
            </a:pPr>
            <a:r>
              <a:rPr lang="en-US" sz="1250" b="1" dirty="0">
                <a:solidFill>
                  <a:srgbClr val="2E2B5F"/>
                </a:solidFill>
                <a:latin typeface="Calibri" pitchFamily="34" charset="0"/>
                <a:ea typeface="Calibri" pitchFamily="34" charset="-122"/>
                <a:cs typeface="Calibri" pitchFamily="34" charset="-120"/>
              </a:rPr>
              <a:t>Adult </a:t>
            </a:r>
            <a:r>
              <a:rPr lang="en-US" sz="1250" b="1" dirty="0" err="1">
                <a:solidFill>
                  <a:srgbClr val="2E2B5F"/>
                </a:solidFill>
                <a:latin typeface="Calibri" pitchFamily="34" charset="0"/>
                <a:ea typeface="Calibri" pitchFamily="34" charset="-122"/>
                <a:cs typeface="Calibri" pitchFamily="34" charset="-120"/>
              </a:rPr>
              <a:t>Behaviour</a:t>
            </a:r>
            <a:r>
              <a:rPr lang="en-US" sz="1250" b="1" dirty="0">
                <a:solidFill>
                  <a:srgbClr val="2E2B5F"/>
                </a:solidFill>
                <a:latin typeface="Calibri" pitchFamily="34" charset="0"/>
                <a:ea typeface="Calibri" pitchFamily="34" charset="-122"/>
                <a:cs typeface="Calibri" pitchFamily="34" charset="-120"/>
              </a:rPr>
              <a:t> Analysis</a:t>
            </a:r>
            <a:endParaRPr lang="en-US" sz="1250" dirty="0"/>
          </a:p>
        </p:txBody>
      </p:sp>
      <p:sp>
        <p:nvSpPr>
          <p:cNvPr id="74" name="Text 47">
            <a:extLst>
              <a:ext uri="{FF2B5EF4-FFF2-40B4-BE49-F238E27FC236}">
                <a16:creationId xmlns:a16="http://schemas.microsoft.com/office/drawing/2014/main" id="{5AD68ECF-E84F-1015-E92D-09B3351E3B6C}"/>
              </a:ext>
            </a:extLst>
          </p:cNvPr>
          <p:cNvSpPr/>
          <p:nvPr/>
        </p:nvSpPr>
        <p:spPr>
          <a:xfrm>
            <a:off x="7365726" y="2645909"/>
            <a:ext cx="1947703" cy="1371600"/>
          </a:xfrm>
          <a:prstGeom prst="rect">
            <a:avLst/>
          </a:prstGeom>
          <a:noFill/>
          <a:ln/>
        </p:spPr>
        <p:txBody>
          <a:bodyPr wrap="square" rtlCol="0" anchor="ctr"/>
          <a:lstStyle/>
          <a:p>
            <a:pPr marL="0" indent="0">
              <a:buNone/>
            </a:pPr>
            <a:r>
              <a:rPr lang="en-US" sz="1050" dirty="0">
                <a:solidFill>
                  <a:srgbClr val="6B6B8A"/>
                </a:solidFill>
                <a:latin typeface="Calibri" pitchFamily="34" charset="0"/>
                <a:ea typeface="Calibri" pitchFamily="34" charset="-122"/>
                <a:cs typeface="Calibri" pitchFamily="34" charset="-120"/>
              </a:rPr>
              <a:t>Predicts the </a:t>
            </a:r>
            <a:r>
              <a:rPr lang="en-US" sz="1050" dirty="0" err="1">
                <a:solidFill>
                  <a:srgbClr val="6B6B8A"/>
                </a:solidFill>
                <a:latin typeface="Calibri" pitchFamily="34" charset="0"/>
                <a:ea typeface="Calibri" pitchFamily="34" charset="-122"/>
                <a:cs typeface="Calibri" pitchFamily="34" charset="-120"/>
              </a:rPr>
              <a:t>behaviour</a:t>
            </a:r>
            <a:r>
              <a:rPr lang="en-US" sz="1050" dirty="0">
                <a:solidFill>
                  <a:srgbClr val="6B6B8A"/>
                </a:solidFill>
                <a:latin typeface="Calibri" pitchFamily="34" charset="0"/>
                <a:ea typeface="Calibri" pitchFamily="34" charset="-122"/>
                <a:cs typeface="Calibri" pitchFamily="34" charset="-120"/>
              </a:rPr>
              <a:t> of the parenting ability to classify as 3 classes of parenting risk prediction – Healthy, Moderate, and High risk</a:t>
            </a:r>
            <a:endParaRPr lang="en-US" sz="1050" dirty="0"/>
          </a:p>
        </p:txBody>
      </p:sp>
      <p:sp>
        <p:nvSpPr>
          <p:cNvPr id="75" name="Shape 48">
            <a:extLst>
              <a:ext uri="{FF2B5EF4-FFF2-40B4-BE49-F238E27FC236}">
                <a16:creationId xmlns:a16="http://schemas.microsoft.com/office/drawing/2014/main" id="{10DC6A08-B2E0-E431-8B85-4DDDCE163E94}"/>
              </a:ext>
            </a:extLst>
          </p:cNvPr>
          <p:cNvSpPr/>
          <p:nvPr/>
        </p:nvSpPr>
        <p:spPr>
          <a:xfrm>
            <a:off x="7365726" y="3904794"/>
            <a:ext cx="1947703" cy="36576"/>
          </a:xfrm>
          <a:prstGeom prst="rect">
            <a:avLst/>
          </a:prstGeom>
          <a:solidFill>
            <a:srgbClr val="E0DEEF"/>
          </a:solidFill>
          <a:ln w="12700">
            <a:solidFill>
              <a:srgbClr val="333333"/>
            </a:solidFill>
            <a:prstDash val="solid"/>
          </a:ln>
        </p:spPr>
      </p:sp>
      <p:sp>
        <p:nvSpPr>
          <p:cNvPr id="76" name="Text 49">
            <a:extLst>
              <a:ext uri="{FF2B5EF4-FFF2-40B4-BE49-F238E27FC236}">
                <a16:creationId xmlns:a16="http://schemas.microsoft.com/office/drawing/2014/main" id="{DCD6C6F0-69C4-6F1C-2A31-336FAD8D806E}"/>
              </a:ext>
            </a:extLst>
          </p:cNvPr>
          <p:cNvSpPr/>
          <p:nvPr/>
        </p:nvSpPr>
        <p:spPr>
          <a:xfrm>
            <a:off x="7365726" y="414552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Model:</a:t>
            </a:r>
            <a:endParaRPr lang="en-US" sz="900" dirty="0"/>
          </a:p>
        </p:txBody>
      </p:sp>
      <p:sp>
        <p:nvSpPr>
          <p:cNvPr id="77" name="Text 50">
            <a:extLst>
              <a:ext uri="{FF2B5EF4-FFF2-40B4-BE49-F238E27FC236}">
                <a16:creationId xmlns:a16="http://schemas.microsoft.com/office/drawing/2014/main" id="{7C3058AF-718C-1D2A-7186-02E69045CA94}"/>
              </a:ext>
            </a:extLst>
          </p:cNvPr>
          <p:cNvSpPr/>
          <p:nvPr/>
        </p:nvSpPr>
        <p:spPr>
          <a:xfrm>
            <a:off x="7941798" y="4145525"/>
            <a:ext cx="1482910" cy="256032"/>
          </a:xfrm>
          <a:prstGeom prst="rect">
            <a:avLst/>
          </a:prstGeom>
          <a:noFill/>
          <a:ln/>
        </p:spPr>
        <p:txBody>
          <a:bodyPr wrap="square" rtlCol="0" anchor="ctr"/>
          <a:lstStyle/>
          <a:p>
            <a:pPr marL="0" indent="0">
              <a:buNone/>
            </a:pPr>
            <a:r>
              <a:rPr lang="en-US" sz="900" dirty="0" err="1">
                <a:solidFill>
                  <a:srgbClr val="6B6B8A"/>
                </a:solidFill>
                <a:latin typeface="Calibri" pitchFamily="34" charset="0"/>
                <a:ea typeface="Calibri" pitchFamily="34" charset="-122"/>
                <a:cs typeface="Calibri" pitchFamily="34" charset="-120"/>
              </a:rPr>
              <a:t>RandomForestClassifier</a:t>
            </a:r>
            <a:endParaRPr lang="en-US" sz="900" dirty="0"/>
          </a:p>
        </p:txBody>
      </p:sp>
      <p:sp>
        <p:nvSpPr>
          <p:cNvPr id="78" name="Text 51">
            <a:extLst>
              <a:ext uri="{FF2B5EF4-FFF2-40B4-BE49-F238E27FC236}">
                <a16:creationId xmlns:a16="http://schemas.microsoft.com/office/drawing/2014/main" id="{AAD4BCB7-4B29-5E80-CAC4-40F422A6F03D}"/>
              </a:ext>
            </a:extLst>
          </p:cNvPr>
          <p:cNvSpPr/>
          <p:nvPr/>
        </p:nvSpPr>
        <p:spPr>
          <a:xfrm>
            <a:off x="7365726" y="4419845"/>
            <a:ext cx="516436" cy="256032"/>
          </a:xfrm>
          <a:prstGeom prst="rect">
            <a:avLst/>
          </a:prstGeom>
          <a:noFill/>
          <a:ln/>
        </p:spPr>
        <p:txBody>
          <a:bodyPr wrap="square" rtlCol="0" anchor="ctr"/>
          <a:lstStyle/>
          <a:p>
            <a:pPr marL="0" indent="0">
              <a:buNone/>
            </a:pPr>
            <a:r>
              <a:rPr lang="en-US" sz="900" b="1" dirty="0">
                <a:solidFill>
                  <a:srgbClr val="2E2B5F"/>
                </a:solidFill>
                <a:latin typeface="Calibri" pitchFamily="34" charset="0"/>
                <a:ea typeface="Calibri" pitchFamily="34" charset="-122"/>
                <a:cs typeface="Calibri" pitchFamily="34" charset="-120"/>
              </a:rPr>
              <a:t>Data:</a:t>
            </a:r>
            <a:endParaRPr lang="en-US" sz="900" dirty="0"/>
          </a:p>
        </p:txBody>
      </p:sp>
      <p:sp>
        <p:nvSpPr>
          <p:cNvPr id="79" name="Text 52">
            <a:extLst>
              <a:ext uri="{FF2B5EF4-FFF2-40B4-BE49-F238E27FC236}">
                <a16:creationId xmlns:a16="http://schemas.microsoft.com/office/drawing/2014/main" id="{ED5C27BB-78CA-3291-8150-E8407ECE2C91}"/>
              </a:ext>
            </a:extLst>
          </p:cNvPr>
          <p:cNvSpPr/>
          <p:nvPr/>
        </p:nvSpPr>
        <p:spPr>
          <a:xfrm>
            <a:off x="7941798" y="4419845"/>
            <a:ext cx="1482910" cy="256032"/>
          </a:xfrm>
          <a:prstGeom prst="rect">
            <a:avLst/>
          </a:prstGeom>
          <a:noFill/>
          <a:ln/>
        </p:spPr>
        <p:txBody>
          <a:bodyPr wrap="square" rtlCol="0" anchor="ctr"/>
          <a:lstStyle/>
          <a:p>
            <a:pPr marL="0" indent="0">
              <a:buNone/>
            </a:pPr>
            <a:r>
              <a:rPr lang="en-US" sz="900" dirty="0">
                <a:solidFill>
                  <a:srgbClr val="6B6B8A"/>
                </a:solidFill>
                <a:latin typeface="Calibri" pitchFamily="34" charset="0"/>
                <a:ea typeface="Calibri" pitchFamily="34" charset="-122"/>
                <a:cs typeface="Calibri" pitchFamily="34" charset="-120"/>
              </a:rPr>
              <a:t>BRFSS</a:t>
            </a:r>
            <a:endParaRPr lang="en-US" sz="900" dirty="0"/>
          </a:p>
        </p:txBody>
      </p:sp>
      <p:sp>
        <p:nvSpPr>
          <p:cNvPr id="80" name="Text 53">
            <a:extLst>
              <a:ext uri="{FF2B5EF4-FFF2-40B4-BE49-F238E27FC236}">
                <a16:creationId xmlns:a16="http://schemas.microsoft.com/office/drawing/2014/main" id="{0F29E157-5ACA-AEB2-F007-2DE23207BD3C}"/>
              </a:ext>
            </a:extLst>
          </p:cNvPr>
          <p:cNvSpPr/>
          <p:nvPr/>
        </p:nvSpPr>
        <p:spPr>
          <a:xfrm>
            <a:off x="7365726" y="4694165"/>
            <a:ext cx="516436"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Result</a:t>
            </a:r>
            <a:r>
              <a:rPr lang="en-US" sz="900" b="1" dirty="0">
                <a:solidFill>
                  <a:srgbClr val="8B7EC8"/>
                </a:solidFill>
                <a:latin typeface="Calibri" pitchFamily="34" charset="0"/>
                <a:ea typeface="Calibri" pitchFamily="34" charset="-122"/>
                <a:cs typeface="Calibri" pitchFamily="34" charset="-120"/>
              </a:rPr>
              <a:t>:</a:t>
            </a:r>
            <a:endParaRPr lang="en-US" sz="900" dirty="0"/>
          </a:p>
        </p:txBody>
      </p:sp>
      <p:sp>
        <p:nvSpPr>
          <p:cNvPr id="81" name="Text 54">
            <a:extLst>
              <a:ext uri="{FF2B5EF4-FFF2-40B4-BE49-F238E27FC236}">
                <a16:creationId xmlns:a16="http://schemas.microsoft.com/office/drawing/2014/main" id="{71148D6A-5DA1-CEF8-68A9-9217ECDBAD1B}"/>
              </a:ext>
            </a:extLst>
          </p:cNvPr>
          <p:cNvSpPr/>
          <p:nvPr/>
        </p:nvSpPr>
        <p:spPr>
          <a:xfrm>
            <a:off x="7941798" y="4694165"/>
            <a:ext cx="1482910" cy="256032"/>
          </a:xfrm>
          <a:prstGeom prst="rect">
            <a:avLst/>
          </a:prstGeom>
          <a:noFill/>
          <a:ln/>
        </p:spPr>
        <p:txBody>
          <a:bodyPr wrap="square" rtlCol="0" anchor="ctr"/>
          <a:lstStyle/>
          <a:p>
            <a:pPr marL="0" indent="0">
              <a:buNone/>
            </a:pPr>
            <a:r>
              <a:rPr lang="en-US" sz="900" b="1" dirty="0">
                <a:solidFill>
                  <a:srgbClr val="002060"/>
                </a:solidFill>
                <a:latin typeface="Calibri" pitchFamily="34" charset="0"/>
                <a:ea typeface="Calibri" pitchFamily="34" charset="-122"/>
                <a:cs typeface="Calibri" pitchFamily="34" charset="-120"/>
              </a:rPr>
              <a:t>Parenting Environment Analysis</a:t>
            </a:r>
            <a:endParaRPr lang="en-US" sz="900" dirty="0">
              <a:solidFill>
                <a:srgbClr val="002060"/>
              </a:solidFill>
            </a:endParaRPr>
          </a:p>
        </p:txBody>
      </p:sp>
    </p:spTree>
    <p:extLst>
      <p:ext uri="{BB962C8B-B14F-4D97-AF65-F5344CB8AC3E}">
        <p14:creationId xmlns:p14="http://schemas.microsoft.com/office/powerpoint/2010/main" val="6512420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EEF0F8"/>
        </a:solidFill>
        <a:effectLst/>
      </p:bgPr>
    </p:bg>
    <p:spTree>
      <p:nvGrpSpPr>
        <p:cNvPr id="1" name=""/>
        <p:cNvGrpSpPr/>
        <p:nvPr/>
      </p:nvGrpSpPr>
      <p:grpSpPr>
        <a:xfrm>
          <a:off x="0" y="0"/>
          <a:ext cx="0" cy="0"/>
          <a:chOff x="0" y="0"/>
          <a:chExt cx="0" cy="0"/>
        </a:xfrm>
      </p:grpSpPr>
      <p:sp>
        <p:nvSpPr>
          <p:cNvPr id="2" name="Shape 0"/>
          <p:cNvSpPr/>
          <p:nvPr/>
        </p:nvSpPr>
        <p:spPr>
          <a:xfrm>
            <a:off x="10241280" y="-548640"/>
            <a:ext cx="2011680" cy="2011680"/>
          </a:xfrm>
          <a:prstGeom prst="ellipse">
            <a:avLst/>
          </a:prstGeom>
          <a:solidFill>
            <a:srgbClr val="3BBFAD">
              <a:alpha val="60000"/>
            </a:srgbClr>
          </a:solidFill>
          <a:ln w="12700">
            <a:solidFill>
              <a:srgbClr val="333333"/>
            </a:solidFill>
            <a:prstDash val="solid"/>
          </a:ln>
        </p:spPr>
      </p:sp>
      <p:sp>
        <p:nvSpPr>
          <p:cNvPr id="3" name="Shape 1"/>
          <p:cNvSpPr/>
          <p:nvPr/>
        </p:nvSpPr>
        <p:spPr>
          <a:xfrm>
            <a:off x="10789920" y="5303520"/>
            <a:ext cx="1463040" cy="1463040"/>
          </a:xfrm>
          <a:prstGeom prst="ellipse">
            <a:avLst/>
          </a:prstGeom>
          <a:solidFill>
            <a:srgbClr val="F96167">
              <a:alpha val="50000"/>
            </a:srgbClr>
          </a:solidFill>
          <a:ln w="12700">
            <a:solidFill>
              <a:srgbClr val="333333"/>
            </a:solidFill>
            <a:prstDash val="solid"/>
          </a:ln>
        </p:spPr>
      </p:sp>
      <p:sp>
        <p:nvSpPr>
          <p:cNvPr id="4" name="Shape 2"/>
          <p:cNvSpPr/>
          <p:nvPr/>
        </p:nvSpPr>
        <p:spPr>
          <a:xfrm>
            <a:off x="-457200" y="5486400"/>
            <a:ext cx="1463040" cy="1463040"/>
          </a:xfrm>
          <a:prstGeom prst="ellipse">
            <a:avLst/>
          </a:prstGeom>
          <a:solidFill>
            <a:srgbClr val="F5A05A">
              <a:alpha val="55000"/>
            </a:srgbClr>
          </a:solidFill>
          <a:ln w="12700">
            <a:solidFill>
              <a:srgbClr val="333333"/>
            </a:solidFill>
            <a:prstDash val="solid"/>
          </a:ln>
        </p:spPr>
      </p:sp>
      <p:sp>
        <p:nvSpPr>
          <p:cNvPr id="5" name="Shape 3"/>
          <p:cNvSpPr/>
          <p:nvPr/>
        </p:nvSpPr>
        <p:spPr>
          <a:xfrm>
            <a:off x="91440" y="2743200"/>
            <a:ext cx="457200" cy="457200"/>
          </a:xfrm>
          <a:prstGeom prst="ellipse">
            <a:avLst/>
          </a:prstGeom>
          <a:solidFill>
            <a:srgbClr val="8B7EC8">
              <a:alpha val="70000"/>
            </a:srgbClr>
          </a:solidFill>
          <a:ln w="12700">
            <a:solidFill>
              <a:srgbClr val="333333"/>
            </a:solidFill>
            <a:prstDash val="solid"/>
          </a:ln>
        </p:spPr>
      </p:sp>
      <p:sp>
        <p:nvSpPr>
          <p:cNvPr id="6" name="Text 4"/>
          <p:cNvSpPr/>
          <p:nvPr/>
        </p:nvSpPr>
        <p:spPr>
          <a:xfrm>
            <a:off x="502920" y="274320"/>
            <a:ext cx="9144000" cy="594360"/>
          </a:xfrm>
          <a:prstGeom prst="rect">
            <a:avLst/>
          </a:prstGeom>
          <a:noFill/>
          <a:ln/>
        </p:spPr>
        <p:txBody>
          <a:bodyPr wrap="square" rtlCol="0" anchor="ctr"/>
          <a:lstStyle/>
          <a:p>
            <a:pPr marL="0" indent="0">
              <a:buNone/>
            </a:pPr>
            <a:r>
              <a:rPr lang="en-US" sz="3200" b="1" dirty="0">
                <a:solidFill>
                  <a:srgbClr val="2E2B5F"/>
                </a:solidFill>
                <a:latin typeface="Calibri" pitchFamily="34" charset="0"/>
                <a:ea typeface="Calibri" pitchFamily="34" charset="-122"/>
                <a:cs typeface="Calibri" pitchFamily="34" charset="-120"/>
              </a:rPr>
              <a:t>Objectives</a:t>
            </a:r>
            <a:endParaRPr lang="en-US" sz="3200" dirty="0"/>
          </a:p>
        </p:txBody>
      </p:sp>
      <p:sp>
        <p:nvSpPr>
          <p:cNvPr id="7" name="Shape 5"/>
          <p:cNvSpPr/>
          <p:nvPr/>
        </p:nvSpPr>
        <p:spPr>
          <a:xfrm>
            <a:off x="502920" y="896112"/>
            <a:ext cx="1005840" cy="54864"/>
          </a:xfrm>
          <a:prstGeom prst="rect">
            <a:avLst/>
          </a:prstGeom>
          <a:solidFill>
            <a:srgbClr val="F96167"/>
          </a:solidFill>
          <a:ln w="12700">
            <a:solidFill>
              <a:srgbClr val="333333"/>
            </a:solidFill>
            <a:prstDash val="solid"/>
          </a:ln>
        </p:spPr>
      </p:sp>
      <p:sp>
        <p:nvSpPr>
          <p:cNvPr id="8" name="Shape 6"/>
          <p:cNvSpPr/>
          <p:nvPr/>
        </p:nvSpPr>
        <p:spPr>
          <a:xfrm>
            <a:off x="502920" y="1078992"/>
            <a:ext cx="5943600" cy="1389888"/>
          </a:xfrm>
          <a:prstGeom prst="rect">
            <a:avLst/>
          </a:prstGeom>
          <a:solidFill>
            <a:srgbClr val="FFFFFF"/>
          </a:solidFill>
          <a:ln w="12700">
            <a:solidFill>
              <a:srgbClr val="E0DEEF"/>
            </a:solidFill>
            <a:prstDash val="solid"/>
          </a:ln>
        </p:spPr>
      </p:sp>
      <p:sp>
        <p:nvSpPr>
          <p:cNvPr id="9" name="Shape 7"/>
          <p:cNvSpPr/>
          <p:nvPr/>
        </p:nvSpPr>
        <p:spPr>
          <a:xfrm>
            <a:off x="621792" y="1188720"/>
            <a:ext cx="475488" cy="475488"/>
          </a:xfrm>
          <a:prstGeom prst="ellipse">
            <a:avLst/>
          </a:prstGeom>
          <a:solidFill>
            <a:srgbClr val="F96167"/>
          </a:solidFill>
          <a:ln w="12700">
            <a:solidFill>
              <a:srgbClr val="333333"/>
            </a:solidFill>
            <a:prstDash val="solid"/>
          </a:ln>
        </p:spPr>
      </p:sp>
      <p:sp>
        <p:nvSpPr>
          <p:cNvPr id="10" name="Text 8"/>
          <p:cNvSpPr/>
          <p:nvPr/>
        </p:nvSpPr>
        <p:spPr>
          <a:xfrm>
            <a:off x="621792" y="1188720"/>
            <a:ext cx="475488" cy="47548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1207008" y="1170432"/>
            <a:ext cx="5120640" cy="347472"/>
          </a:xfrm>
          <a:prstGeom prst="rect">
            <a:avLst/>
          </a:prstGeom>
          <a:noFill/>
          <a:ln/>
        </p:spPr>
        <p:txBody>
          <a:bodyPr wrap="square" rtlCol="0" anchor="ctr"/>
          <a:lstStyle/>
          <a:p>
            <a:pPr marL="0" indent="0">
              <a:buNone/>
            </a:pPr>
            <a:r>
              <a:rPr lang="en-US" sz="1200" b="1" dirty="0">
                <a:solidFill>
                  <a:srgbClr val="2E2B5F"/>
                </a:solidFill>
                <a:latin typeface="Calibri" pitchFamily="34" charset="0"/>
                <a:ea typeface="Calibri" pitchFamily="34" charset="-122"/>
                <a:cs typeface="Calibri" pitchFamily="34" charset="-120"/>
              </a:rPr>
              <a:t>Early Detection of Behavioural Disorders</a:t>
            </a:r>
            <a:endParaRPr lang="en-US" sz="1200" dirty="0"/>
          </a:p>
        </p:txBody>
      </p:sp>
      <p:sp>
        <p:nvSpPr>
          <p:cNvPr id="12" name="Text 10"/>
          <p:cNvSpPr/>
          <p:nvPr/>
        </p:nvSpPr>
        <p:spPr>
          <a:xfrm>
            <a:off x="1207008" y="1536192"/>
            <a:ext cx="5120640" cy="868680"/>
          </a:xfrm>
          <a:prstGeom prst="rect">
            <a:avLst/>
          </a:prstGeom>
          <a:noFill/>
          <a:ln/>
        </p:spPr>
        <p:txBody>
          <a:bodyPr wrap="square" rtlCol="0" anchor="ctr"/>
          <a:lstStyle/>
          <a:p>
            <a:pPr marL="0" indent="0">
              <a:buNone/>
            </a:pPr>
            <a:r>
              <a:rPr lang="en-US" sz="1000" dirty="0">
                <a:solidFill>
                  <a:srgbClr val="6B6B8A"/>
                </a:solidFill>
                <a:latin typeface="Calibri" pitchFamily="34" charset="0"/>
                <a:ea typeface="Calibri" pitchFamily="34" charset="-122"/>
                <a:cs typeface="Calibri" pitchFamily="34" charset="-120"/>
              </a:rPr>
              <a:t>Build a robust ML model to predict Severity Impairment Index (sii) for children aged 5–22 using physical health, sleep, and physical activity data from the CMI-PIU dataset. Target metric: Quadratic Weighted Kappa (QWK) &gt; 0.60 — the threshold for clinically meaningful ordinal agreement.</a:t>
            </a:r>
            <a:endParaRPr lang="en-US" sz="1000" dirty="0"/>
          </a:p>
        </p:txBody>
      </p:sp>
      <p:sp>
        <p:nvSpPr>
          <p:cNvPr id="13" name="Shape 11"/>
          <p:cNvSpPr/>
          <p:nvPr/>
        </p:nvSpPr>
        <p:spPr>
          <a:xfrm>
            <a:off x="502920" y="2560320"/>
            <a:ext cx="5943600" cy="1389888"/>
          </a:xfrm>
          <a:prstGeom prst="rect">
            <a:avLst/>
          </a:prstGeom>
          <a:solidFill>
            <a:srgbClr val="FFFFFF"/>
          </a:solidFill>
          <a:ln w="12700">
            <a:solidFill>
              <a:srgbClr val="E0DEEF"/>
            </a:solidFill>
            <a:prstDash val="solid"/>
          </a:ln>
        </p:spPr>
      </p:sp>
      <p:sp>
        <p:nvSpPr>
          <p:cNvPr id="14" name="Shape 12"/>
          <p:cNvSpPr/>
          <p:nvPr/>
        </p:nvSpPr>
        <p:spPr>
          <a:xfrm>
            <a:off x="621792" y="2670048"/>
            <a:ext cx="475488" cy="475488"/>
          </a:xfrm>
          <a:prstGeom prst="ellipse">
            <a:avLst/>
          </a:prstGeom>
          <a:solidFill>
            <a:srgbClr val="3BBFAD"/>
          </a:solidFill>
          <a:ln w="12700">
            <a:solidFill>
              <a:srgbClr val="333333"/>
            </a:solidFill>
            <a:prstDash val="solid"/>
          </a:ln>
        </p:spPr>
      </p:sp>
      <p:sp>
        <p:nvSpPr>
          <p:cNvPr id="15" name="Text 13"/>
          <p:cNvSpPr/>
          <p:nvPr/>
        </p:nvSpPr>
        <p:spPr>
          <a:xfrm>
            <a:off x="621792" y="2670048"/>
            <a:ext cx="475488" cy="47548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1207008" y="2651760"/>
            <a:ext cx="5120640" cy="347472"/>
          </a:xfrm>
          <a:prstGeom prst="rect">
            <a:avLst/>
          </a:prstGeom>
          <a:noFill/>
          <a:ln/>
        </p:spPr>
        <p:txBody>
          <a:bodyPr wrap="square" rtlCol="0" anchor="ctr"/>
          <a:lstStyle/>
          <a:p>
            <a:pPr marL="0" indent="0">
              <a:buNone/>
            </a:pPr>
            <a:r>
              <a:rPr lang="en-US" sz="1200" b="1" dirty="0">
                <a:solidFill>
                  <a:srgbClr val="2E2B5F"/>
                </a:solidFill>
                <a:latin typeface="Calibri" pitchFamily="34" charset="0"/>
                <a:ea typeface="Calibri" pitchFamily="34" charset="-122"/>
                <a:cs typeface="Calibri" pitchFamily="34" charset="-120"/>
              </a:rPr>
              <a:t>Celiac Disease Risk Classification</a:t>
            </a:r>
            <a:endParaRPr lang="en-US" sz="1200" dirty="0"/>
          </a:p>
        </p:txBody>
      </p:sp>
      <p:sp>
        <p:nvSpPr>
          <p:cNvPr id="17" name="Text 15"/>
          <p:cNvSpPr/>
          <p:nvPr/>
        </p:nvSpPr>
        <p:spPr>
          <a:xfrm>
            <a:off x="1207008" y="3017520"/>
            <a:ext cx="5120640" cy="868680"/>
          </a:xfrm>
          <a:prstGeom prst="rect">
            <a:avLst/>
          </a:prstGeom>
          <a:noFill/>
          <a:ln/>
        </p:spPr>
        <p:txBody>
          <a:bodyPr wrap="square" rtlCol="0" anchor="ctr"/>
          <a:lstStyle/>
          <a:p>
            <a:pPr marL="0" indent="0">
              <a:buNone/>
            </a:pPr>
            <a:r>
              <a:rPr lang="en-US" sz="1000" dirty="0">
                <a:solidFill>
                  <a:srgbClr val="6B6B8A"/>
                </a:solidFill>
                <a:latin typeface="Calibri" pitchFamily="34" charset="0"/>
                <a:ea typeface="Calibri" pitchFamily="34" charset="-122"/>
                <a:cs typeface="Calibri" pitchFamily="34" charset="-120"/>
              </a:rPr>
              <a:t>Train a classifier to identify celiac disease risk from clinical inputs (immunoglobulin levels IgA/IgG/IgM, age, gender, and 8 symptom flags) so that high-risk children can be referred for formal testing earlier than the current 6–10 year average diagnosis delay.</a:t>
            </a:r>
            <a:endParaRPr lang="en-US" sz="1000" dirty="0"/>
          </a:p>
        </p:txBody>
      </p:sp>
      <p:sp>
        <p:nvSpPr>
          <p:cNvPr id="18" name="Shape 16"/>
          <p:cNvSpPr/>
          <p:nvPr/>
        </p:nvSpPr>
        <p:spPr>
          <a:xfrm>
            <a:off x="502920" y="4041648"/>
            <a:ext cx="5943600" cy="1389888"/>
          </a:xfrm>
          <a:prstGeom prst="rect">
            <a:avLst/>
          </a:prstGeom>
          <a:solidFill>
            <a:srgbClr val="FFFFFF"/>
          </a:solidFill>
          <a:ln w="12700">
            <a:solidFill>
              <a:srgbClr val="E0DEEF"/>
            </a:solidFill>
            <a:prstDash val="solid"/>
          </a:ln>
        </p:spPr>
      </p:sp>
      <p:sp>
        <p:nvSpPr>
          <p:cNvPr id="19" name="Shape 17"/>
          <p:cNvSpPr/>
          <p:nvPr/>
        </p:nvSpPr>
        <p:spPr>
          <a:xfrm>
            <a:off x="621792" y="4151376"/>
            <a:ext cx="475488" cy="475488"/>
          </a:xfrm>
          <a:prstGeom prst="ellipse">
            <a:avLst/>
          </a:prstGeom>
          <a:solidFill>
            <a:srgbClr val="F5A05A"/>
          </a:solidFill>
          <a:ln w="12700">
            <a:solidFill>
              <a:srgbClr val="333333"/>
            </a:solidFill>
            <a:prstDash val="solid"/>
          </a:ln>
        </p:spPr>
      </p:sp>
      <p:sp>
        <p:nvSpPr>
          <p:cNvPr id="20" name="Text 18"/>
          <p:cNvSpPr/>
          <p:nvPr/>
        </p:nvSpPr>
        <p:spPr>
          <a:xfrm>
            <a:off x="621792" y="4151376"/>
            <a:ext cx="475488" cy="47548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1207008" y="4133088"/>
            <a:ext cx="5120640" cy="347472"/>
          </a:xfrm>
          <a:prstGeom prst="rect">
            <a:avLst/>
          </a:prstGeom>
          <a:noFill/>
          <a:ln/>
        </p:spPr>
        <p:txBody>
          <a:bodyPr wrap="square" rtlCol="0" anchor="ctr"/>
          <a:lstStyle/>
          <a:p>
            <a:pPr marL="0" indent="0">
              <a:buNone/>
            </a:pPr>
            <a:r>
              <a:rPr lang="en-US" sz="1200" b="1" dirty="0">
                <a:solidFill>
                  <a:srgbClr val="2E2B5F"/>
                </a:solidFill>
                <a:latin typeface="Calibri" pitchFamily="34" charset="0"/>
                <a:ea typeface="Calibri" pitchFamily="34" charset="-122"/>
                <a:cs typeface="Calibri" pitchFamily="34" charset="-120"/>
              </a:rPr>
              <a:t>Child Mortality Risk Assessment</a:t>
            </a:r>
            <a:endParaRPr lang="en-US" sz="1200" dirty="0"/>
          </a:p>
        </p:txBody>
      </p:sp>
      <p:sp>
        <p:nvSpPr>
          <p:cNvPr id="22" name="Text 20"/>
          <p:cNvSpPr/>
          <p:nvPr/>
        </p:nvSpPr>
        <p:spPr>
          <a:xfrm>
            <a:off x="1207008" y="4498848"/>
            <a:ext cx="5120640" cy="868680"/>
          </a:xfrm>
          <a:prstGeom prst="rect">
            <a:avLst/>
          </a:prstGeom>
          <a:noFill/>
          <a:ln/>
        </p:spPr>
        <p:txBody>
          <a:bodyPr wrap="square" rtlCol="0" anchor="ctr"/>
          <a:lstStyle/>
          <a:p>
            <a:pPr marL="0" indent="0">
              <a:buNone/>
            </a:pPr>
            <a:r>
              <a:rPr lang="en-US" sz="1000" dirty="0">
                <a:solidFill>
                  <a:srgbClr val="6B6B8A"/>
                </a:solidFill>
                <a:latin typeface="Calibri" pitchFamily="34" charset="0"/>
                <a:ea typeface="Calibri" pitchFamily="34" charset="-122"/>
                <a:cs typeface="Calibri" pitchFamily="34" charset="-120"/>
              </a:rPr>
              <a:t>Develop a model using India's NFHS survey data that quantifies child mortality probability from 30 maternal, nutritional, immunisation, sanitation, and socioeconomic features, enabling targeted public health interventions in high-risk households and regions.</a:t>
            </a:r>
            <a:endParaRPr lang="en-US" sz="1000" dirty="0"/>
          </a:p>
        </p:txBody>
      </p:sp>
      <p:sp>
        <p:nvSpPr>
          <p:cNvPr id="23" name="Shape 21"/>
          <p:cNvSpPr/>
          <p:nvPr/>
        </p:nvSpPr>
        <p:spPr>
          <a:xfrm>
            <a:off x="6629400" y="1078992"/>
            <a:ext cx="4663440" cy="2176272"/>
          </a:xfrm>
          <a:prstGeom prst="rect">
            <a:avLst/>
          </a:prstGeom>
          <a:solidFill>
            <a:srgbClr val="FFFFFF"/>
          </a:solidFill>
          <a:ln w="12700">
            <a:solidFill>
              <a:srgbClr val="E0DEEF"/>
            </a:solidFill>
            <a:prstDash val="solid"/>
          </a:ln>
        </p:spPr>
      </p:sp>
      <p:sp>
        <p:nvSpPr>
          <p:cNvPr id="24" name="Shape 22"/>
          <p:cNvSpPr/>
          <p:nvPr/>
        </p:nvSpPr>
        <p:spPr>
          <a:xfrm>
            <a:off x="6748272" y="1207008"/>
            <a:ext cx="475488" cy="475488"/>
          </a:xfrm>
          <a:prstGeom prst="ellipse">
            <a:avLst/>
          </a:prstGeom>
          <a:solidFill>
            <a:srgbClr val="8B7EC8"/>
          </a:solidFill>
          <a:ln w="12700">
            <a:solidFill>
              <a:srgbClr val="333333"/>
            </a:solidFill>
            <a:prstDash val="solid"/>
          </a:ln>
        </p:spPr>
      </p:sp>
      <p:sp>
        <p:nvSpPr>
          <p:cNvPr id="25" name="Text 23"/>
          <p:cNvSpPr/>
          <p:nvPr/>
        </p:nvSpPr>
        <p:spPr>
          <a:xfrm>
            <a:off x="6748272" y="1207008"/>
            <a:ext cx="475488" cy="47548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7333488" y="1188720"/>
            <a:ext cx="3840480" cy="347472"/>
          </a:xfrm>
          <a:prstGeom prst="rect">
            <a:avLst/>
          </a:prstGeom>
          <a:noFill/>
          <a:ln/>
        </p:spPr>
        <p:txBody>
          <a:bodyPr wrap="square" rtlCol="0" anchor="ctr"/>
          <a:lstStyle/>
          <a:p>
            <a:pPr marL="0" indent="0">
              <a:buNone/>
            </a:pPr>
            <a:r>
              <a:rPr lang="en-US" sz="1150" b="1" dirty="0">
                <a:solidFill>
                  <a:srgbClr val="2E2B5F"/>
                </a:solidFill>
                <a:latin typeface="Calibri" pitchFamily="34" charset="0"/>
                <a:ea typeface="Calibri" pitchFamily="34" charset="-122"/>
                <a:cs typeface="Calibri" pitchFamily="34" charset="-120"/>
              </a:rPr>
              <a:t>Intelligent Parenting Chatbot</a:t>
            </a:r>
            <a:endParaRPr lang="en-US" sz="1150" dirty="0"/>
          </a:p>
        </p:txBody>
      </p:sp>
      <p:sp>
        <p:nvSpPr>
          <p:cNvPr id="27" name="Text 25"/>
          <p:cNvSpPr/>
          <p:nvPr/>
        </p:nvSpPr>
        <p:spPr>
          <a:xfrm>
            <a:off x="6748272" y="1700784"/>
            <a:ext cx="4425696" cy="1417320"/>
          </a:xfrm>
          <a:prstGeom prst="rect">
            <a:avLst/>
          </a:prstGeom>
          <a:noFill/>
          <a:ln/>
        </p:spPr>
        <p:txBody>
          <a:bodyPr wrap="square" rtlCol="0" anchor="ctr"/>
          <a:lstStyle/>
          <a:p>
            <a:pPr marL="0" indent="0">
              <a:buNone/>
            </a:pPr>
            <a:r>
              <a:rPr lang="en-US" sz="1000" dirty="0">
                <a:solidFill>
                  <a:srgbClr val="6B6B8A"/>
                </a:solidFill>
                <a:latin typeface="Calibri" pitchFamily="34" charset="0"/>
                <a:ea typeface="Calibri" pitchFamily="34" charset="-122"/>
                <a:cs typeface="Calibri" pitchFamily="34" charset="-120"/>
              </a:rPr>
              <a:t>Create a RAG-powered conversational agent backed by ChromaDB and an LLM that answers evidence-based parenting questions, interprets prediction outputs in plain language, and provides actionable next steps — bridging the gap between clinical results and caregiver understanding.</a:t>
            </a:r>
            <a:endParaRPr lang="en-US" sz="1000" dirty="0"/>
          </a:p>
        </p:txBody>
      </p:sp>
      <p:sp>
        <p:nvSpPr>
          <p:cNvPr id="28" name="Shape 26"/>
          <p:cNvSpPr/>
          <p:nvPr/>
        </p:nvSpPr>
        <p:spPr>
          <a:xfrm>
            <a:off x="6629400" y="3383280"/>
            <a:ext cx="4663440" cy="2176272"/>
          </a:xfrm>
          <a:prstGeom prst="rect">
            <a:avLst/>
          </a:prstGeom>
          <a:solidFill>
            <a:srgbClr val="FFFFFF"/>
          </a:solidFill>
          <a:ln w="12700">
            <a:solidFill>
              <a:srgbClr val="E0DEEF"/>
            </a:solidFill>
            <a:prstDash val="solid"/>
          </a:ln>
        </p:spPr>
      </p:sp>
      <p:sp>
        <p:nvSpPr>
          <p:cNvPr id="29" name="Shape 27"/>
          <p:cNvSpPr/>
          <p:nvPr/>
        </p:nvSpPr>
        <p:spPr>
          <a:xfrm>
            <a:off x="6748272" y="3511296"/>
            <a:ext cx="475488" cy="475488"/>
          </a:xfrm>
          <a:prstGeom prst="ellipse">
            <a:avLst/>
          </a:prstGeom>
          <a:solidFill>
            <a:srgbClr val="2E2B5F"/>
          </a:solidFill>
          <a:ln w="12700">
            <a:solidFill>
              <a:srgbClr val="333333"/>
            </a:solidFill>
            <a:prstDash val="solid"/>
          </a:ln>
        </p:spPr>
      </p:sp>
      <p:sp>
        <p:nvSpPr>
          <p:cNvPr id="30" name="Text 28"/>
          <p:cNvSpPr/>
          <p:nvPr/>
        </p:nvSpPr>
        <p:spPr>
          <a:xfrm>
            <a:off x="6748272" y="3511296"/>
            <a:ext cx="475488" cy="47548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7333488" y="3493008"/>
            <a:ext cx="3840480" cy="347472"/>
          </a:xfrm>
          <a:prstGeom prst="rect">
            <a:avLst/>
          </a:prstGeom>
          <a:noFill/>
          <a:ln/>
        </p:spPr>
        <p:txBody>
          <a:bodyPr wrap="square" rtlCol="0" anchor="ctr"/>
          <a:lstStyle/>
          <a:p>
            <a:pPr marL="0" indent="0">
              <a:buNone/>
            </a:pPr>
            <a:r>
              <a:rPr lang="en-US" sz="1150" b="1" dirty="0">
                <a:solidFill>
                  <a:srgbClr val="2E2B5F"/>
                </a:solidFill>
                <a:latin typeface="Calibri" pitchFamily="34" charset="0"/>
                <a:ea typeface="Calibri" pitchFamily="34" charset="-122"/>
                <a:cs typeface="Calibri" pitchFamily="34" charset="-120"/>
              </a:rPr>
              <a:t>Unified, Deployable Platform</a:t>
            </a:r>
            <a:endParaRPr lang="en-US" sz="1150" dirty="0"/>
          </a:p>
        </p:txBody>
      </p:sp>
      <p:sp>
        <p:nvSpPr>
          <p:cNvPr id="32" name="Text 30"/>
          <p:cNvSpPr/>
          <p:nvPr/>
        </p:nvSpPr>
        <p:spPr>
          <a:xfrm>
            <a:off x="6748272" y="4005072"/>
            <a:ext cx="4425696" cy="1417320"/>
          </a:xfrm>
          <a:prstGeom prst="rect">
            <a:avLst/>
          </a:prstGeom>
          <a:noFill/>
          <a:ln/>
        </p:spPr>
        <p:txBody>
          <a:bodyPr wrap="square" rtlCol="0" anchor="ctr"/>
          <a:lstStyle/>
          <a:p>
            <a:pPr marL="0" indent="0">
              <a:buNone/>
            </a:pPr>
            <a:r>
              <a:rPr lang="en-US" sz="1000" dirty="0">
                <a:solidFill>
                  <a:srgbClr val="6B6B8A"/>
                </a:solidFill>
                <a:latin typeface="Calibri" pitchFamily="34" charset="0"/>
                <a:ea typeface="Calibri" pitchFamily="34" charset="-122"/>
                <a:cs typeface="Calibri" pitchFamily="34" charset="-120"/>
              </a:rPr>
              <a:t>Integrate all four models into a single Flask API with a React frontend, allowing seamless switching between modules, persistent chat history, real-time inference, and a user experience accessible to non-technical caregivers and healthcare workers alike.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2E2B5F"/>
        </a:solidFill>
        <a:effectLst/>
      </p:bgPr>
    </p:bg>
    <p:spTree>
      <p:nvGrpSpPr>
        <p:cNvPr id="1" name=""/>
        <p:cNvGrpSpPr/>
        <p:nvPr/>
      </p:nvGrpSpPr>
      <p:grpSpPr>
        <a:xfrm>
          <a:off x="0" y="0"/>
          <a:ext cx="0" cy="0"/>
          <a:chOff x="0" y="0"/>
          <a:chExt cx="0" cy="0"/>
        </a:xfrm>
      </p:grpSpPr>
      <p:sp>
        <p:nvSpPr>
          <p:cNvPr id="2" name="Shape 0"/>
          <p:cNvSpPr/>
          <p:nvPr/>
        </p:nvSpPr>
        <p:spPr>
          <a:xfrm>
            <a:off x="10058400" y="-731520"/>
            <a:ext cx="2377440" cy="2377440"/>
          </a:xfrm>
          <a:prstGeom prst="ellipse">
            <a:avLst/>
          </a:prstGeom>
          <a:solidFill>
            <a:srgbClr val="3BBFAD">
              <a:alpha val="60000"/>
            </a:srgbClr>
          </a:solidFill>
          <a:ln w="12700">
            <a:solidFill>
              <a:srgbClr val="333333"/>
            </a:solidFill>
            <a:prstDash val="solid"/>
          </a:ln>
        </p:spPr>
      </p:sp>
      <p:sp>
        <p:nvSpPr>
          <p:cNvPr id="3" name="Shape 1"/>
          <p:cNvSpPr/>
          <p:nvPr/>
        </p:nvSpPr>
        <p:spPr>
          <a:xfrm>
            <a:off x="10607040" y="5120640"/>
            <a:ext cx="1828800" cy="1828800"/>
          </a:xfrm>
          <a:prstGeom prst="ellipse">
            <a:avLst/>
          </a:prstGeom>
          <a:solidFill>
            <a:srgbClr val="F96167">
              <a:alpha val="55000"/>
            </a:srgbClr>
          </a:solidFill>
          <a:ln w="12700">
            <a:solidFill>
              <a:srgbClr val="333333"/>
            </a:solidFill>
            <a:prstDash val="solid"/>
          </a:ln>
        </p:spPr>
      </p:sp>
      <p:sp>
        <p:nvSpPr>
          <p:cNvPr id="4" name="Shape 2"/>
          <p:cNvSpPr/>
          <p:nvPr/>
        </p:nvSpPr>
        <p:spPr>
          <a:xfrm>
            <a:off x="-731520" y="5303520"/>
            <a:ext cx="1828800" cy="1828800"/>
          </a:xfrm>
          <a:prstGeom prst="ellipse">
            <a:avLst/>
          </a:prstGeom>
          <a:solidFill>
            <a:srgbClr val="F5A05A">
              <a:alpha val="60000"/>
            </a:srgbClr>
          </a:solidFill>
          <a:ln w="12700">
            <a:solidFill>
              <a:srgbClr val="333333"/>
            </a:solidFill>
            <a:prstDash val="solid"/>
          </a:ln>
        </p:spPr>
      </p:sp>
      <p:sp>
        <p:nvSpPr>
          <p:cNvPr id="5" name="Text 3"/>
          <p:cNvSpPr/>
          <p:nvPr/>
        </p:nvSpPr>
        <p:spPr>
          <a:xfrm>
            <a:off x="1371600" y="1463040"/>
            <a:ext cx="8595360" cy="914400"/>
          </a:xfrm>
          <a:prstGeom prst="rect">
            <a:avLst/>
          </a:prstGeom>
          <a:noFill/>
          <a:ln/>
        </p:spPr>
        <p:txBody>
          <a:bodyPr wrap="square"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NurtureAI</a:t>
            </a:r>
            <a:endParaRPr lang="en-US" sz="4600" dirty="0"/>
          </a:p>
        </p:txBody>
      </p:sp>
      <p:sp>
        <p:nvSpPr>
          <p:cNvPr id="6" name="Shape 4"/>
          <p:cNvSpPr/>
          <p:nvPr/>
        </p:nvSpPr>
        <p:spPr>
          <a:xfrm>
            <a:off x="4114800" y="2487168"/>
            <a:ext cx="3108960" cy="64008"/>
          </a:xfrm>
          <a:prstGeom prst="rect">
            <a:avLst/>
          </a:prstGeom>
          <a:solidFill>
            <a:srgbClr val="F96167"/>
          </a:solidFill>
          <a:ln w="12700">
            <a:solidFill>
              <a:srgbClr val="333333"/>
            </a:solidFill>
            <a:prstDash val="solid"/>
          </a:ln>
        </p:spPr>
      </p:sp>
      <p:sp>
        <p:nvSpPr>
          <p:cNvPr id="7" name="Text 5"/>
          <p:cNvSpPr/>
          <p:nvPr/>
        </p:nvSpPr>
        <p:spPr>
          <a:xfrm>
            <a:off x="1371600" y="2670048"/>
            <a:ext cx="8595360" cy="822960"/>
          </a:xfrm>
          <a:prstGeom prst="rect">
            <a:avLst/>
          </a:prstGeom>
          <a:noFill/>
          <a:ln/>
        </p:spPr>
        <p:txBody>
          <a:bodyPr wrap="square" rtlCol="0" anchor="ctr"/>
          <a:lstStyle/>
          <a:p>
            <a:pPr marL="0" indent="0" algn="ctr">
              <a:buNone/>
            </a:pPr>
            <a:r>
              <a:rPr lang="en-US" sz="1600" dirty="0">
                <a:solidFill>
                  <a:srgbClr val="3BBFAD"/>
                </a:solidFill>
                <a:latin typeface="Calibri" pitchFamily="34" charset="0"/>
                <a:ea typeface="Calibri" pitchFamily="34" charset="-122"/>
                <a:cs typeface="Calibri" pitchFamily="34" charset="-120"/>
              </a:rPr>
              <a:t>Five Models. One Platform. Smarter Parenting.</a:t>
            </a:r>
            <a:endParaRPr lang="en-US" sz="1600" dirty="0"/>
          </a:p>
        </p:txBody>
      </p:sp>
      <p:sp>
        <p:nvSpPr>
          <p:cNvPr id="8" name="Text 6"/>
          <p:cNvSpPr/>
          <p:nvPr/>
        </p:nvSpPr>
        <p:spPr>
          <a:xfrm>
            <a:off x="457200" y="5486400"/>
            <a:ext cx="10789920" cy="320040"/>
          </a:xfrm>
          <a:prstGeom prst="rect">
            <a:avLst/>
          </a:prstGeom>
          <a:noFill/>
          <a:ln/>
        </p:spPr>
        <p:txBody>
          <a:bodyPr wrap="square" rtlCol="0" anchor="ctr"/>
          <a:lstStyle/>
          <a:p>
            <a:pPr marL="0" indent="0" algn="ctr">
              <a:buNone/>
            </a:pPr>
            <a:r>
              <a:rPr lang="en-US" sz="1000" dirty="0">
                <a:solidFill>
                  <a:srgbClr val="7773AA"/>
                </a:solidFill>
                <a:latin typeface="Calibri" pitchFamily="34" charset="0"/>
                <a:ea typeface="Calibri" pitchFamily="34" charset="-122"/>
                <a:cs typeface="Calibri" pitchFamily="34" charset="-120"/>
              </a:rPr>
              <a:t>CMI-PIU Dataset  ·  OrdinalGB Pipeline  ·  Celiac RF  ·  Child Mortality GBM  ·  RAG Chatbot  ·  May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2323</Words>
  <Application>Microsoft Office PowerPoint</Application>
  <PresentationFormat>Widescreen</PresentationFormat>
  <Paragraphs>351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Apoorv Gupta</cp:lastModifiedBy>
  <cp:revision>2</cp:revision>
  <dcterms:created xsi:type="dcterms:W3CDTF">2026-05-05T03:42:14Z</dcterms:created>
  <dcterms:modified xsi:type="dcterms:W3CDTF">2026-05-05T05:36:42Z</dcterms:modified>
</cp:coreProperties>
</file>