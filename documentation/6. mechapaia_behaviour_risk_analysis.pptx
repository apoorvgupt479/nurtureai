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7" r:id="rId6"/>
    <p:sldId id="261" r:id="rId7"/>
    <p:sldId id="260" r:id="rId8"/>
    <p:sldId id="262" r:id="rId9"/>
    <p:sldId id="268" r:id="rId10"/>
    <p:sldId id="263" r:id="rId11"/>
    <p:sldId id="269" r:id="rId12"/>
    <p:sldId id="264" r:id="rId13"/>
    <p:sldId id="265" r:id="rId14"/>
  </p:sldIdLst>
  <p:sldSz cx="9144000" cy="5143500" type="screen16x9"/>
  <p:notesSz cx="5143500" cy="9144000"/>
  <p:embeddedFontLst>
    <p:embeddedFont>
      <p:font typeface="Bricolage Grotesque Extra Bold" panose="020B0604020202020204" charset="0"/>
      <p:regular r:id="rId16"/>
    </p:embeddedFont>
    <p:embeddedFont>
      <p:font typeface="Montserrat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0E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9146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82D5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90E3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E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7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2507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NurtureAI: Adult Behavioral Risk Analysis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01082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Machine Learning-Based Caregiving Risk Prediction Using BRFSS 2013 Dataset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496119" y="3314179"/>
            <a:ext cx="47227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i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K-Means Clustering + Random Forest Classification |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9523"/>
            <a:ext cx="356666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Problem &amp; Objective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1676028"/>
            <a:ext cx="2622724" cy="2517949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637877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EAEF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4856" y="1934691"/>
            <a:ext cx="191319" cy="1913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37877" y="23848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The Challenge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37877" y="2691333"/>
            <a:ext cx="233920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Caregiving environments vary dramatically based on adult behavioral patterns. Identifying high-risk households early remains difficult without comprehensive data.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260601" y="1676028"/>
            <a:ext cx="2622724" cy="2517949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9" name="Shape 6"/>
          <p:cNvSpPr/>
          <p:nvPr/>
        </p:nvSpPr>
        <p:spPr>
          <a:xfrm>
            <a:off x="3402360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EAEF6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19339" y="1934691"/>
            <a:ext cx="191319" cy="1913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02360" y="23848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Objective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02360" y="2691333"/>
            <a:ext cx="2339206" cy="11340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Segment adults into distinct behavioral risk groups and predict risk categories using minimal onboarding inputs for faster deployment.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025083" y="1676028"/>
            <a:ext cx="2622724" cy="2517949"/>
          </a:xfrm>
          <a:prstGeom prst="roundRect">
            <a:avLst>
              <a:gd name="adj" fmla="val 2365"/>
            </a:avLst>
          </a:prstGeom>
          <a:solidFill>
            <a:srgbClr val="282D5E"/>
          </a:solidFill>
          <a:ln/>
        </p:spPr>
      </p:sp>
      <p:sp>
        <p:nvSpPr>
          <p:cNvPr id="14" name="Shape 10"/>
          <p:cNvSpPr/>
          <p:nvPr/>
        </p:nvSpPr>
        <p:spPr>
          <a:xfrm>
            <a:off x="6166842" y="1817787"/>
            <a:ext cx="425276" cy="425276"/>
          </a:xfrm>
          <a:prstGeom prst="roundRect">
            <a:avLst>
              <a:gd name="adj" fmla="val 13436988"/>
            </a:avLst>
          </a:prstGeom>
          <a:solidFill>
            <a:srgbClr val="EEAEF6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83821" y="1934691"/>
            <a:ext cx="191319" cy="1913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66842" y="2384822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Our Approach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166842" y="2691333"/>
            <a:ext cx="233920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Clustering: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Identify natural behavioral patterns</a:t>
            </a:r>
            <a:endParaRPr lang="en-US" sz="1100" dirty="0"/>
          </a:p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Classification: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Predict risk for new users instantly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15714"/>
            <a:ext cx="3860081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Dataset — BRFSS 2013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1513061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Dataset Overview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1876276"/>
            <a:ext cx="2188443" cy="14600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490,000+ survey responses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12 carefully selected features from 330+ total variables</a:t>
            </a:r>
            <a:endParaRPr lang="en-US" sz="1100" dirty="0"/>
          </a:p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Focus on health, lifestyle, and socioeconomic factors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3035201" y="1513061"/>
            <a:ext cx="203939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Key Feature Categories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035201" y="1876276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Health: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General, Physical, Mental wellness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3035201" y="2457450"/>
            <a:ext cx="21884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Lifestyle: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Sleep, Exercise, Smoking, Alcohol consumption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035201" y="3265438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Socioeconomic: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Income level, Marital status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035201" y="3846612"/>
            <a:ext cx="21884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Target: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Healthy · Moderate Risk · High Risk classification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72008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Preprocessing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198513"/>
            <a:ext cx="4075881" cy="5670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7877" y="19073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 Cleaning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37877" y="221381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 missing values and special codes</a:t>
            </a:r>
            <a:endParaRPr lang="en-US" sz="11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1198513"/>
            <a:ext cx="4075881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713759" y="190730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Encoding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713759" y="2213818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Convert categorical variables to numeric format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119" y="2582391"/>
            <a:ext cx="4075881" cy="56703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37877" y="32911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Normalization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637877" y="3597697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Scale values for consistent clustering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2582391"/>
            <a:ext cx="4075881" cy="56703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713759" y="3291185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Validation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713759" y="3597697"/>
            <a:ext cx="3792364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Drop incomplete or invalid rows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708720" y="4285208"/>
            <a:ext cx="7939162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r>
              <a:rPr lang="en-US" sz="11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~191,000 clean, fully numeric records ready for analysis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496119" y="4125739"/>
            <a:ext cx="19050" cy="545753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BFDC38-202A-13E4-1357-21B2E79FDD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4924" y="469302"/>
            <a:ext cx="4677008" cy="4204895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1DEB16D0-0EE0-762F-7FDE-57428D0B280F}"/>
              </a:ext>
            </a:extLst>
          </p:cNvPr>
          <p:cNvSpPr/>
          <p:nvPr/>
        </p:nvSpPr>
        <p:spPr>
          <a:xfrm>
            <a:off x="496119" y="472008"/>
            <a:ext cx="3351395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Correlation Matrix</a:t>
            </a:r>
            <a:endParaRPr lang="en-US" sz="27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08F7B6E6-6970-4AF0-7095-A9E917207742}"/>
              </a:ext>
            </a:extLst>
          </p:cNvPr>
          <p:cNvSpPr/>
          <p:nvPr/>
        </p:nvSpPr>
        <p:spPr>
          <a:xfrm>
            <a:off x="496119" y="1112483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Insights</a:t>
            </a:r>
            <a:endParaRPr lang="en-US" sz="1350" dirty="0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3A5ECCC4-028C-ADF5-3849-DC29B1F9F5C0}"/>
              </a:ext>
            </a:extLst>
          </p:cNvPr>
          <p:cNvSpPr/>
          <p:nvPr/>
        </p:nvSpPr>
        <p:spPr>
          <a:xfrm>
            <a:off x="686128" y="1140425"/>
            <a:ext cx="3164026" cy="3926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50"/>
              </a:lnSpc>
            </a:pPr>
            <a:endParaRPr lang="en-US" sz="1050" dirty="0">
              <a:solidFill>
                <a:srgbClr val="FFFFFF"/>
              </a:solidFill>
              <a:latin typeface="Montserrat" pitchFamily="34" charset="0"/>
              <a:ea typeface="Montserrat" pitchFamily="34" charset="-122"/>
              <a:cs typeface="Montserrat" pitchFamily="34" charset="-120"/>
            </a:endParaRP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General_Health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Physical_Health_Days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(0.44), confirming that self-rated health perception is closely tied to frequency of physical illness.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Mental_Health_Days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Depression_Diagnosis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(-0.36), validating that clinically diagnosed depression manifests in reported poor mental health days.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Income_Level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Marital_Status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(-0.35), suggesting that household structure and financial stability are linked factors in caregiving capacity.</a:t>
            </a:r>
          </a:p>
          <a:p>
            <a:pPr marL="171450" indent="-171450">
              <a:lnSpc>
                <a:spcPts val="1650"/>
              </a:lnSpc>
              <a:buFont typeface="Arial" panose="020B0604020202020204" pitchFamily="34" charset="0"/>
              <a:buChar char="•"/>
            </a:pP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Income_Level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and </a:t>
            </a:r>
            <a:r>
              <a:rPr lang="en-US" sz="1050" dirty="0" err="1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General_Health</a:t>
            </a: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(-0.30), indicating that lower income brackets tend to report poorer overall health.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329302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057"/>
            <a:ext cx="6079703" cy="3765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Exploratory Data Analysis — Key Insights</a:t>
            </a:r>
            <a:endParaRPr lang="en-US" sz="2350" dirty="0"/>
          </a:p>
        </p:txBody>
      </p:sp>
      <p:sp>
        <p:nvSpPr>
          <p:cNvPr id="3" name="Shape 1"/>
          <p:cNvSpPr/>
          <p:nvPr/>
        </p:nvSpPr>
        <p:spPr>
          <a:xfrm>
            <a:off x="496119" y="1152376"/>
            <a:ext cx="271090" cy="271090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4" name="Text 2"/>
          <p:cNvSpPr/>
          <p:nvPr/>
        </p:nvSpPr>
        <p:spPr>
          <a:xfrm>
            <a:off x="869603" y="1193750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Sleep Duration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869603" y="1484412"/>
            <a:ext cx="243630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Most adults report 7–8 hours of sleep per night, aligning with recommended guidelines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96119" y="2045791"/>
            <a:ext cx="271090" cy="271090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7" name="Text 5"/>
          <p:cNvSpPr/>
          <p:nvPr/>
        </p:nvSpPr>
        <p:spPr>
          <a:xfrm>
            <a:off x="869603" y="2087166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BMI Distribution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869603" y="2377827"/>
            <a:ext cx="243630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Data skewed toward overweight and obese categories, reflecting population health trends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96119" y="2939207"/>
            <a:ext cx="271090" cy="271090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0" name="Text 8"/>
          <p:cNvSpPr/>
          <p:nvPr/>
        </p:nvSpPr>
        <p:spPr>
          <a:xfrm>
            <a:off x="869603" y="2980581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Income Impact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69603" y="3271242"/>
            <a:ext cx="243630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Lower income brackets show stronger correlation with mental health challenges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96119" y="3832622"/>
            <a:ext cx="271090" cy="271090"/>
          </a:xfrm>
          <a:prstGeom prst="roundRect">
            <a:avLst>
              <a:gd name="adj" fmla="val 18669"/>
            </a:avLst>
          </a:prstGeom>
          <a:solidFill>
            <a:srgbClr val="282D5E"/>
          </a:solidFill>
          <a:ln/>
        </p:spPr>
      </p:sp>
      <p:sp>
        <p:nvSpPr>
          <p:cNvPr id="13" name="Text 11"/>
          <p:cNvSpPr/>
          <p:nvPr/>
        </p:nvSpPr>
        <p:spPr>
          <a:xfrm>
            <a:off x="869603" y="3873996"/>
            <a:ext cx="1506215" cy="188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Sleep &amp; Depression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69603" y="4164657"/>
            <a:ext cx="2436305" cy="356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Irregular sleep patterns strongly associated with reported depression symptoms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19497F7-F15F-2A3F-72A1-0C484961B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6618" y="986426"/>
            <a:ext cx="5493188" cy="390556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522387"/>
            <a:ext cx="4722763" cy="8417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 Engineering — Risk Scores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25119" y="1556072"/>
            <a:ext cx="472276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Transformed 12 features into 3 meaningful composite scores, each scaled to [0,1] range.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3925119" y="2120131"/>
            <a:ext cx="2297385" cy="1396603"/>
          </a:xfrm>
          <a:prstGeom prst="roundRect">
            <a:avLst>
              <a:gd name="adj" fmla="val 4050"/>
            </a:avLst>
          </a:prstGeom>
          <a:solidFill>
            <a:srgbClr val="243799"/>
          </a:solidFill>
          <a:ln/>
        </p:spPr>
      </p:sp>
      <p:sp>
        <p:nvSpPr>
          <p:cNvPr id="6" name="Text 3"/>
          <p:cNvSpPr/>
          <p:nvPr/>
        </p:nvSpPr>
        <p:spPr>
          <a:xfrm>
            <a:off x="4059734" y="225474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Mental Stress Score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59734" y="2541836"/>
            <a:ext cx="2028155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Combines mental health status, depression indicators, and sleep quality to quantify psychological burden.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422" y="2120131"/>
            <a:ext cx="2297460" cy="1396603"/>
          </a:xfrm>
          <a:prstGeom prst="roundRect">
            <a:avLst>
              <a:gd name="adj" fmla="val 4050"/>
            </a:avLst>
          </a:prstGeom>
          <a:solidFill>
            <a:srgbClr val="091158"/>
          </a:solidFill>
          <a:ln/>
        </p:spPr>
      </p:sp>
      <p:sp>
        <p:nvSpPr>
          <p:cNvPr id="9" name="Text 6"/>
          <p:cNvSpPr/>
          <p:nvPr/>
        </p:nvSpPr>
        <p:spPr>
          <a:xfrm>
            <a:off x="6485037" y="2254746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Lifestyle Risk Score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85037" y="2541836"/>
            <a:ext cx="2028230" cy="840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Integrates exercise frequency, smoking status, and alcohol consumption patterns for behavioral assessment.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25119" y="3644652"/>
            <a:ext cx="4722763" cy="976461"/>
          </a:xfrm>
          <a:prstGeom prst="roundRect">
            <a:avLst>
              <a:gd name="adj" fmla="val 5793"/>
            </a:avLst>
          </a:prstGeom>
          <a:solidFill>
            <a:srgbClr val="000030"/>
          </a:solidFill>
          <a:ln/>
        </p:spPr>
      </p:sp>
      <p:sp>
        <p:nvSpPr>
          <p:cNvPr id="12" name="Text 9"/>
          <p:cNvSpPr/>
          <p:nvPr/>
        </p:nvSpPr>
        <p:spPr>
          <a:xfrm>
            <a:off x="4059734" y="3779267"/>
            <a:ext cx="1683469" cy="210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Physical Risk Score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59734" y="4066356"/>
            <a:ext cx="4453533" cy="420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Merges physical health status, BMI classification, and general wellness for physical health evaluation.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01901" y="409947"/>
            <a:ext cx="4769197" cy="84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Unsupervised Learning — Clustering</a:t>
            </a:r>
            <a:endParaRPr lang="en-US" sz="2650" dirty="0"/>
          </a:p>
        </p:txBody>
      </p:sp>
      <p:sp>
        <p:nvSpPr>
          <p:cNvPr id="4" name="Text 1"/>
          <p:cNvSpPr/>
          <p:nvPr/>
        </p:nvSpPr>
        <p:spPr>
          <a:xfrm>
            <a:off x="3901901" y="1306041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Algorithms Tested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3901901" y="1710333"/>
            <a:ext cx="2320230" cy="1229916"/>
          </a:xfrm>
          <a:prstGeom prst="roundRect">
            <a:avLst>
              <a:gd name="adj" fmla="val 4614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056013" y="18644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K-Means (K=3)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056013" y="2152799"/>
            <a:ext cx="2012007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Selected for best balance of performance and interpretability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350868" y="1710333"/>
            <a:ext cx="2320230" cy="1229916"/>
          </a:xfrm>
          <a:prstGeom prst="roundRect">
            <a:avLst>
              <a:gd name="adj" fmla="val 4614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04980" y="1864444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Hierarchical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04980" y="2152799"/>
            <a:ext cx="2012007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Considered but slower and less scalable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901901" y="3068985"/>
            <a:ext cx="4769197" cy="807690"/>
          </a:xfrm>
          <a:prstGeom prst="roundRect">
            <a:avLst>
              <a:gd name="adj" fmla="val 7026"/>
            </a:avLst>
          </a:prstGeom>
          <a:solidFill>
            <a:srgbClr val="090E3F"/>
          </a:solidFill>
          <a:ln w="19050">
            <a:solidFill>
              <a:srgbClr val="41467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056013" y="3223096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3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DBSCAN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056013" y="3511451"/>
            <a:ext cx="446097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Evaluated for density-based clustering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4104531" y="4166443"/>
            <a:ext cx="4566568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050" b="1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Result:</a:t>
            </a:r>
            <a:r>
              <a:rPr lang="en-US" sz="10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 K-Means selected for best combination of performance metrics and interpretability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901901" y="4021559"/>
            <a:ext cx="19050" cy="711994"/>
          </a:xfrm>
          <a:prstGeom prst="rect">
            <a:avLst/>
          </a:prstGeom>
          <a:solidFill>
            <a:srgbClr val="EEAEF6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00D7C857-D445-8E7B-6EAF-915C3F341D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48719F5-B317-5BA3-271F-1FBC68CCE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1447"/>
            <a:ext cx="9144000" cy="27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457474"/>
            <a:ext cx="35441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Risk Segments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183978"/>
            <a:ext cx="8151763" cy="1502048"/>
          </a:xfrm>
          <a:prstGeom prst="roundRect">
            <a:avLst>
              <a:gd name="adj" fmla="val 3964"/>
            </a:avLst>
          </a:prstGeom>
          <a:solidFill>
            <a:srgbClr val="282D5E"/>
          </a:solidFill>
          <a:ln/>
        </p:spPr>
      </p:sp>
      <p:sp>
        <p:nvSpPr>
          <p:cNvPr id="4" name="Shape 2"/>
          <p:cNvSpPr/>
          <p:nvPr/>
        </p:nvSpPr>
        <p:spPr>
          <a:xfrm>
            <a:off x="496119" y="2183978"/>
            <a:ext cx="2717229" cy="1502048"/>
          </a:xfrm>
          <a:prstGeom prst="roundRect">
            <a:avLst>
              <a:gd name="adj" fmla="val 3964"/>
            </a:avLst>
          </a:prstGeom>
          <a:solidFill>
            <a:srgbClr val="EEAEF6"/>
          </a:solidFill>
          <a:ln/>
        </p:spPr>
      </p:sp>
      <p:sp>
        <p:nvSpPr>
          <p:cNvPr id="5" name="Text 3"/>
          <p:cNvSpPr/>
          <p:nvPr/>
        </p:nvSpPr>
        <p:spPr>
          <a:xfrm>
            <a:off x="637877" y="2325737"/>
            <a:ext cx="2118643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🟢 Healthy Environment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37877" y="2637011"/>
            <a:ext cx="222111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Good sleep quality, regular exercise, stable income levels, positive mental health indicators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13348" y="2183978"/>
            <a:ext cx="2717229" cy="1502048"/>
          </a:xfrm>
          <a:prstGeom prst="rect">
            <a:avLst/>
          </a:prstGeom>
          <a:solidFill>
            <a:srgbClr val="243799"/>
          </a:solidFill>
          <a:ln/>
        </p:spPr>
      </p:sp>
      <p:sp>
        <p:nvSpPr>
          <p:cNvPr id="8" name="Shape 6"/>
          <p:cNvSpPr/>
          <p:nvPr/>
        </p:nvSpPr>
        <p:spPr>
          <a:xfrm>
            <a:off x="3213348" y="2183978"/>
            <a:ext cx="19050" cy="1502048"/>
          </a:xfrm>
          <a:prstGeom prst="roundRect">
            <a:avLst>
              <a:gd name="adj" fmla="val 312558"/>
            </a:avLst>
          </a:prstGeom>
          <a:solidFill>
            <a:srgbClr val="3D50B2"/>
          </a:solidFill>
          <a:ln/>
        </p:spPr>
      </p:sp>
      <p:sp>
        <p:nvSpPr>
          <p:cNvPr id="9" name="Text 7"/>
          <p:cNvSpPr/>
          <p:nvPr/>
        </p:nvSpPr>
        <p:spPr>
          <a:xfrm>
            <a:off x="3567708" y="232573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🟡</a:t>
            </a:r>
            <a:r>
              <a:rPr lang="en-US" sz="135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Moderate Risk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567708" y="2637011"/>
            <a:ext cx="200851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Some lifestyle or health issues present, requires monitoring and support interventions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036168" y="2757785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090E3F"/>
          </a:solidFill>
          <a:ln w="19050">
            <a:solidFill>
              <a:srgbClr val="3D50B2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24721" y="2846338"/>
            <a:ext cx="177180" cy="1771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930578" y="2183978"/>
            <a:ext cx="2717229" cy="1502048"/>
          </a:xfrm>
          <a:prstGeom prst="rect">
            <a:avLst/>
          </a:prstGeom>
          <a:solidFill>
            <a:srgbClr val="091158"/>
          </a:solidFill>
          <a:ln/>
        </p:spPr>
      </p:sp>
      <p:sp>
        <p:nvSpPr>
          <p:cNvPr id="14" name="Shape 11"/>
          <p:cNvSpPr/>
          <p:nvPr/>
        </p:nvSpPr>
        <p:spPr>
          <a:xfrm>
            <a:off x="5930578" y="2183978"/>
            <a:ext cx="19050" cy="1502048"/>
          </a:xfrm>
          <a:prstGeom prst="roundRect">
            <a:avLst>
              <a:gd name="adj" fmla="val 312558"/>
            </a:avLst>
          </a:prstGeom>
          <a:solidFill>
            <a:srgbClr val="222A71"/>
          </a:solidFill>
          <a:ln/>
        </p:spPr>
      </p:sp>
      <p:sp>
        <p:nvSpPr>
          <p:cNvPr id="15" name="Text 12"/>
          <p:cNvSpPr/>
          <p:nvPr/>
        </p:nvSpPr>
        <p:spPr>
          <a:xfrm>
            <a:off x="6284937" y="2325737"/>
            <a:ext cx="1772022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🔴</a:t>
            </a:r>
            <a:r>
              <a:rPr lang="en-US" sz="1350" b="1" dirty="0">
                <a:solidFill>
                  <a:srgbClr val="FFFFFF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 High Risk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6284937" y="2637011"/>
            <a:ext cx="2221111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Poor health indicators, low income, unhealthy habits, immediate caregiving attention needed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753398" y="2757785"/>
            <a:ext cx="354360" cy="354360"/>
          </a:xfrm>
          <a:prstGeom prst="roundRect">
            <a:avLst>
              <a:gd name="adj" fmla="val 16803"/>
            </a:avLst>
          </a:prstGeom>
          <a:solidFill>
            <a:srgbClr val="090E3F"/>
          </a:solidFill>
          <a:ln w="19050">
            <a:solidFill>
              <a:srgbClr val="222A71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1950" y="2846338"/>
            <a:ext cx="177180" cy="1771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42186A17-EC7E-306F-4A20-B98C52895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CEA5601-3905-B876-0BDE-AC905A4A3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725" y="319087"/>
            <a:ext cx="7448550" cy="4505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510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50738"/>
            <a:ext cx="5058221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Supervised Learning — Random Forest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496119" y="108227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Model Purpose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328068"/>
            <a:ext cx="394617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Predict risk category instantly for new users based on minimal input data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96119" y="1556593"/>
            <a:ext cx="133364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Why Random Forest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96119" y="1802383"/>
            <a:ext cx="3946178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accuracy across all risk categories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Handles complex non-linear patterns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Fast prediction for real-time deployment</a:t>
            </a:r>
            <a:endParaRPr lang="en-US" sz="800" dirty="0"/>
          </a:p>
          <a:p>
            <a:pPr marL="342900" indent="-342900" algn="l">
              <a:lnSpc>
                <a:spcPts val="1150"/>
              </a:lnSpc>
              <a:buSzPct val="100000"/>
              <a:buChar char="•"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Provides feature importance insights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706466" y="108227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Input Features (6)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6466" y="1394520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9" name="Text 7"/>
          <p:cNvSpPr/>
          <p:nvPr/>
        </p:nvSpPr>
        <p:spPr>
          <a:xfrm>
            <a:off x="4839295" y="1338039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General Health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839295" y="1583829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Self-reported overall wellness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706466" y="1948607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12" name="Text 10"/>
          <p:cNvSpPr/>
          <p:nvPr/>
        </p:nvSpPr>
        <p:spPr>
          <a:xfrm>
            <a:off x="4839295" y="1892126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Sleep Hours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39295" y="2137916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Daily sleep duration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06466" y="2502694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15" name="Text 13"/>
          <p:cNvSpPr/>
          <p:nvPr/>
        </p:nvSpPr>
        <p:spPr>
          <a:xfrm>
            <a:off x="4839295" y="244621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Exercise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39295" y="2692003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Physical activity frequency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706466" y="3056781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18" name="Text 16"/>
          <p:cNvSpPr/>
          <p:nvPr/>
        </p:nvSpPr>
        <p:spPr>
          <a:xfrm>
            <a:off x="4839295" y="3000301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Smoking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39295" y="3246090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Tobacco use status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4706466" y="3610868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21" name="Text 19"/>
          <p:cNvSpPr/>
          <p:nvPr/>
        </p:nvSpPr>
        <p:spPr>
          <a:xfrm>
            <a:off x="4839295" y="355438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Income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39295" y="3800177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Household income bracket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06466" y="4164955"/>
            <a:ext cx="53132" cy="53132"/>
          </a:xfrm>
          <a:prstGeom prst="roundRect">
            <a:avLst>
              <a:gd name="adj" fmla="val 537811"/>
            </a:avLst>
          </a:prstGeom>
          <a:solidFill>
            <a:srgbClr val="EEAEF6"/>
          </a:solidFill>
          <a:ln/>
        </p:spPr>
      </p:sp>
      <p:sp>
        <p:nvSpPr>
          <p:cNvPr id="24" name="Text 22"/>
          <p:cNvSpPr/>
          <p:nvPr/>
        </p:nvSpPr>
        <p:spPr>
          <a:xfrm>
            <a:off x="4839295" y="4108475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Marital Status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39295" y="4354264"/>
            <a:ext cx="3813349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0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Relationship status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349" y="396255"/>
            <a:ext cx="2938983" cy="265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Final Pipeline &amp; Deployment</a:t>
            </a:r>
            <a:endParaRPr lang="en-US" sz="1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349" y="763488"/>
            <a:ext cx="254794" cy="71437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3042" y="848395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Dataset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763042" y="1011585"/>
            <a:ext cx="7923609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BRFSS 2013 raw survey data</a:t>
            </a:r>
            <a:endParaRPr lang="en-US" sz="6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6" y="1324049"/>
            <a:ext cx="254794" cy="7143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90439" y="1408956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Preprocess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90439" y="1572146"/>
            <a:ext cx="7796213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Clean, encode, normalize values</a:t>
            </a:r>
            <a:endParaRPr lang="en-US" sz="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43" y="1884611"/>
            <a:ext cx="254794" cy="7143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17836" y="1969517"/>
            <a:ext cx="1064121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Feature Engineering</a:t>
            </a:r>
            <a:endParaRPr lang="en-US" sz="800" dirty="0"/>
          </a:p>
        </p:txBody>
      </p:sp>
      <p:sp>
        <p:nvSpPr>
          <p:cNvPr id="11" name="Text 6"/>
          <p:cNvSpPr/>
          <p:nvPr/>
        </p:nvSpPr>
        <p:spPr>
          <a:xfrm>
            <a:off x="1017836" y="2132707"/>
            <a:ext cx="7668816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Create composite risk scores</a:t>
            </a:r>
            <a:endParaRPr lang="en-US" sz="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614" y="2445172"/>
            <a:ext cx="254794" cy="7143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145307" y="2530078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Clustering</a:t>
            </a:r>
            <a:endParaRPr lang="en-US" sz="800" dirty="0"/>
          </a:p>
        </p:txBody>
      </p:sp>
      <p:sp>
        <p:nvSpPr>
          <p:cNvPr id="14" name="Text 8"/>
          <p:cNvSpPr/>
          <p:nvPr/>
        </p:nvSpPr>
        <p:spPr>
          <a:xfrm>
            <a:off x="1145307" y="2693268"/>
            <a:ext cx="7541344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 behavioral patterns</a:t>
            </a:r>
            <a:endParaRPr lang="en-US" sz="6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143" y="3005733"/>
            <a:ext cx="254794" cy="7143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017836" y="3090639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Classification</a:t>
            </a:r>
            <a:endParaRPr lang="en-US" sz="800" dirty="0"/>
          </a:p>
        </p:txBody>
      </p:sp>
      <p:sp>
        <p:nvSpPr>
          <p:cNvPr id="17" name="Text 10"/>
          <p:cNvSpPr/>
          <p:nvPr/>
        </p:nvSpPr>
        <p:spPr>
          <a:xfrm>
            <a:off x="1017836" y="3253829"/>
            <a:ext cx="7668816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Train Random Forest model</a:t>
            </a:r>
            <a:endParaRPr lang="en-US" sz="65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746" y="3566294"/>
            <a:ext cx="254794" cy="7143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90439" y="3651200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5DCE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Deployment</a:t>
            </a:r>
            <a:endParaRPr lang="en-US" sz="800" dirty="0"/>
          </a:p>
        </p:txBody>
      </p:sp>
      <p:sp>
        <p:nvSpPr>
          <p:cNvPr id="20" name="Text 12"/>
          <p:cNvSpPr/>
          <p:nvPr/>
        </p:nvSpPr>
        <p:spPr>
          <a:xfrm>
            <a:off x="890439" y="3814390"/>
            <a:ext cx="7796213" cy="10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prediction system</a:t>
            </a:r>
            <a:endParaRPr lang="en-US" sz="650" dirty="0"/>
          </a:p>
        </p:txBody>
      </p:sp>
      <p:sp>
        <p:nvSpPr>
          <p:cNvPr id="21" name="Text 13"/>
          <p:cNvSpPr/>
          <p:nvPr/>
        </p:nvSpPr>
        <p:spPr>
          <a:xfrm>
            <a:off x="457349" y="4184079"/>
            <a:ext cx="1061814" cy="132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Model Output</a:t>
            </a:r>
            <a:endParaRPr lang="en-US" sz="800" dirty="0"/>
          </a:p>
        </p:txBody>
      </p:sp>
      <p:sp>
        <p:nvSpPr>
          <p:cNvPr id="22" name="Text 14"/>
          <p:cNvSpPr/>
          <p:nvPr/>
        </p:nvSpPr>
        <p:spPr>
          <a:xfrm>
            <a:off x="457349" y="4367659"/>
            <a:ext cx="4011067" cy="3617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Risk category label (Healthy, Moderate, High)</a:t>
            </a:r>
            <a:endParaRPr lang="en-US" sz="65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scores for predictions</a:t>
            </a:r>
            <a:endParaRPr lang="en-US" sz="650" dirty="0"/>
          </a:p>
          <a:p>
            <a:pPr marL="342900" indent="-342900" algn="l">
              <a:lnSpc>
                <a:spcPts val="850"/>
              </a:lnSpc>
              <a:buSzPct val="100000"/>
              <a:buChar char="•"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Personalized recommendations</a:t>
            </a:r>
            <a:endParaRPr lang="en-US" sz="650" dirty="0"/>
          </a:p>
        </p:txBody>
      </p:sp>
      <p:sp>
        <p:nvSpPr>
          <p:cNvPr id="23" name="Text 15"/>
          <p:cNvSpPr/>
          <p:nvPr/>
        </p:nvSpPr>
        <p:spPr>
          <a:xfrm>
            <a:off x="3239318" y="4183019"/>
            <a:ext cx="1318915" cy="133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800" b="1" dirty="0">
                <a:solidFill>
                  <a:srgbClr val="EEAEF6"/>
                </a:solidFill>
                <a:latin typeface="Bricolage Grotesque Extra Bold" pitchFamily="34" charset="0"/>
                <a:ea typeface="Bricolage Grotesque Extra Bold" pitchFamily="34" charset="-122"/>
                <a:cs typeface="Bricolage Grotesque Extra Bold" pitchFamily="34" charset="-120"/>
              </a:rPr>
              <a:t>Deployment Details</a:t>
            </a:r>
            <a:endParaRPr lang="en-US" sz="800" b="1" dirty="0"/>
          </a:p>
        </p:txBody>
      </p:sp>
      <p:sp>
        <p:nvSpPr>
          <p:cNvPr id="24" name="Text 16"/>
          <p:cNvSpPr/>
          <p:nvPr/>
        </p:nvSpPr>
        <p:spPr>
          <a:xfrm>
            <a:off x="3239319" y="4424226"/>
            <a:ext cx="2304231" cy="305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50"/>
              </a:lnSpc>
              <a:buNone/>
            </a:pPr>
            <a:r>
              <a:rPr lang="en-US" sz="650" dirty="0">
                <a:solidFill>
                  <a:srgbClr val="E5DCE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Model serialized as .pkl file and integrated into web application for real-time risk prediction during user onboarding.</a:t>
            </a:r>
            <a:endParaRPr lang="en-US" sz="650" dirty="0"/>
          </a:p>
        </p:txBody>
      </p:sp>
      <p:pic>
        <p:nvPicPr>
          <p:cNvPr id="25" name="Image 0" descr="preencoded.png">
            <a:extLst>
              <a:ext uri="{FF2B5EF4-FFF2-40B4-BE49-F238E27FC236}">
                <a16:creationId xmlns:a16="http://schemas.microsoft.com/office/drawing/2014/main" id="{8F5B1A40-CE4B-B652-D602-4B129C1E12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398DCD09-A0CB-D42A-789D-684CFAB74E9A}"/>
              </a:ext>
            </a:extLst>
          </p:cNvPr>
          <p:cNvSpPr/>
          <p:nvPr/>
        </p:nvSpPr>
        <p:spPr>
          <a:xfrm>
            <a:off x="736132" y="770855"/>
            <a:ext cx="3871354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4BC60CBD-AA3B-0450-A814-5F24989BC717}"/>
              </a:ext>
            </a:extLst>
          </p:cNvPr>
          <p:cNvSpPr/>
          <p:nvPr/>
        </p:nvSpPr>
        <p:spPr>
          <a:xfrm>
            <a:off x="839614" y="1308496"/>
            <a:ext cx="3767872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BA91DE81-F46E-09E6-4B64-0C2EC1EC1DF6}"/>
              </a:ext>
            </a:extLst>
          </p:cNvPr>
          <p:cNvSpPr/>
          <p:nvPr/>
        </p:nvSpPr>
        <p:spPr>
          <a:xfrm>
            <a:off x="988256" y="1875606"/>
            <a:ext cx="3619230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DEA3CADD-93D7-5BBF-A0E0-FC8C47B8D9AF}"/>
              </a:ext>
            </a:extLst>
          </p:cNvPr>
          <p:cNvSpPr/>
          <p:nvPr/>
        </p:nvSpPr>
        <p:spPr>
          <a:xfrm>
            <a:off x="1097265" y="2449353"/>
            <a:ext cx="3510221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779B1117-3A75-106A-A62B-37B374DE4E14}"/>
              </a:ext>
            </a:extLst>
          </p:cNvPr>
          <p:cNvSpPr/>
          <p:nvPr/>
        </p:nvSpPr>
        <p:spPr>
          <a:xfrm>
            <a:off x="966938" y="3025912"/>
            <a:ext cx="3635460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F31F90EA-FCA5-BBD3-3BAF-16FC2923BD05}"/>
              </a:ext>
            </a:extLst>
          </p:cNvPr>
          <p:cNvSpPr/>
          <p:nvPr/>
        </p:nvSpPr>
        <p:spPr>
          <a:xfrm>
            <a:off x="838918" y="3589548"/>
            <a:ext cx="3768568" cy="466279"/>
          </a:xfrm>
          <a:prstGeom prst="roundRect">
            <a:avLst/>
          </a:prstGeom>
          <a:noFill/>
          <a:ln w="9525" cap="flat" cmpd="sng" algn="ctr">
            <a:solidFill>
              <a:schemeClr val="bg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5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C6C6C6"/>
      </a:dk1>
      <a:lt1>
        <a:sysClr val="window" lastClr="000000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684</Words>
  <Application>Microsoft Office PowerPoint</Application>
  <PresentationFormat>On-screen Show (16:9)</PresentationFormat>
  <Paragraphs>121</Paragraphs>
  <Slides>13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Bricolage Grotesque Extra Bold</vt:lpstr>
      <vt:lpstr>Montserrat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Mechapaia Shilla</cp:lastModifiedBy>
  <cp:revision>6</cp:revision>
  <dcterms:created xsi:type="dcterms:W3CDTF">2026-05-05T04:56:06Z</dcterms:created>
  <dcterms:modified xsi:type="dcterms:W3CDTF">2026-05-05T05:44:51Z</dcterms:modified>
</cp:coreProperties>
</file>