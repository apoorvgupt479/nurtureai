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8" d="100"/>
          <a:sy n="48" d="100"/>
        </p:scale>
        <p:origin x="53" y="7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5F0"/>
            </a:gs>
            <a:gs pos="100000">
              <a:srgbClr val="E8E5FF"/>
            </a:gs>
          </a:gsLst>
          <a:lin scaled="0"/>
        </a:gradFill>
        <a:effectLst/>
      </p:bgPr>
    </p:bg>
    <p:spTree>
      <p:nvGrpSpPr>
        <p:cNvPr id="1" name=""/>
        <p:cNvGrpSpPr/>
        <p:nvPr/>
      </p:nvGrpSpPr>
      <p:grpSpPr>
        <a:xfrm>
          <a:off x="0" y="0"/>
          <a:ext cx="0" cy="0"/>
          <a:chOff x="0" y="0"/>
          <a:chExt cx="0" cy="0"/>
        </a:xfrm>
      </p:grpSpPr>
      <p:sp>
        <p:nvSpPr>
          <p:cNvPr id="2" name="Oval 1"/>
          <p:cNvSpPr/>
          <p:nvPr/>
        </p:nvSpPr>
        <p:spPr>
          <a:xfrm>
            <a:off x="-914400" y="-914400"/>
            <a:ext cx="2743200" cy="27432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5029200"/>
            <a:ext cx="3200400" cy="3200400"/>
          </a:xfrm>
          <a:prstGeom prst="ellipse">
            <a:avLst/>
          </a:prstGeom>
          <a:solidFill>
            <a:srgbClr val="E8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1371600"/>
            <a:ext cx="2286000" cy="22860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371600" y="2377440"/>
            <a:ext cx="548640" cy="73152"/>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2560320"/>
            <a:ext cx="7315200" cy="646331"/>
          </a:xfrm>
          <a:prstGeom prst="rect">
            <a:avLst/>
          </a:prstGeom>
          <a:noFill/>
        </p:spPr>
        <p:txBody>
          <a:bodyPr wrap="square">
            <a:spAutoFit/>
          </a:bodyPr>
          <a:lstStyle/>
          <a:p>
            <a:pPr algn="l">
              <a:defRPr sz="4400" b="1">
                <a:solidFill>
                  <a:srgbClr val="2D3436"/>
                </a:solidFill>
                <a:latin typeface="Segoe UI"/>
              </a:defRPr>
            </a:pPr>
            <a:r>
              <a:rPr sz="3600" dirty="0"/>
              <a:t>Nurture AI — </a:t>
            </a:r>
            <a:r>
              <a:rPr sz="3600" dirty="0" err="1"/>
              <a:t>OrdinalGB</a:t>
            </a:r>
            <a:r>
              <a:rPr sz="3600" dirty="0"/>
              <a:t> Pipeline</a:t>
            </a:r>
          </a:p>
        </p:txBody>
      </p:sp>
      <p:sp>
        <p:nvSpPr>
          <p:cNvPr id="7" name="TextBox 6"/>
          <p:cNvSpPr txBox="1"/>
          <p:nvPr/>
        </p:nvSpPr>
        <p:spPr>
          <a:xfrm>
            <a:off x="1371600" y="3749039"/>
            <a:ext cx="6400800" cy="707886"/>
          </a:xfrm>
          <a:prstGeom prst="rect">
            <a:avLst/>
          </a:prstGeom>
          <a:noFill/>
        </p:spPr>
        <p:txBody>
          <a:bodyPr wrap="square">
            <a:spAutoFit/>
          </a:bodyPr>
          <a:lstStyle/>
          <a:p>
            <a:pPr algn="l">
              <a:defRPr sz="2000" b="0">
                <a:solidFill>
                  <a:srgbClr val="636E72"/>
                </a:solidFill>
                <a:latin typeface="Segoe UI"/>
              </a:defRPr>
            </a:pPr>
            <a:r>
              <a:rPr dirty="0"/>
              <a:t>Child Behaviour &amp; Mental Health Risk Prediction · CMI-PIU Dataset · Best QWK = 0.6259</a:t>
            </a:r>
          </a:p>
        </p:txBody>
      </p:sp>
      <p:sp>
        <p:nvSpPr>
          <p:cNvPr id="9" name="Rounded Rectangle 8"/>
          <p:cNvSpPr/>
          <p:nvPr/>
        </p:nvSpPr>
        <p:spPr>
          <a:xfrm>
            <a:off x="9601200" y="2926080"/>
            <a:ext cx="1645920" cy="1645920"/>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875520" y="3200400"/>
            <a:ext cx="1097280" cy="1097280"/>
          </a:xfrm>
          <a:prstGeom prst="roundRect">
            <a:avLst/>
          </a:prstGeom>
          <a:solidFill>
            <a:srgbClr val="FF8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sp>
        <p:nvSpPr>
          <p:cNvPr id="2" name="Oval 1"/>
          <p:cNvSpPr/>
          <p:nvPr/>
        </p:nvSpPr>
        <p:spPr>
          <a:xfrm>
            <a:off x="-914400" y="-914400"/>
            <a:ext cx="2743200" cy="27432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5029200"/>
            <a:ext cx="3200400" cy="3200400"/>
          </a:xfrm>
          <a:prstGeom prst="ellipse">
            <a:avLst/>
          </a:prstGeom>
          <a:solidFill>
            <a:srgbClr val="E8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1362456"/>
            <a:ext cx="2286000" cy="22860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7315200" cy="640080"/>
          </a:xfrm>
          <a:prstGeom prst="rect">
            <a:avLst/>
          </a:prstGeom>
          <a:noFill/>
        </p:spPr>
        <p:txBody>
          <a:bodyPr wrap="square">
            <a:spAutoFit/>
          </a:bodyPr>
          <a:lstStyle/>
          <a:p>
            <a:pPr algn="l">
              <a:defRPr sz="3000" b="1">
                <a:solidFill>
                  <a:srgbClr val="2D3436"/>
                </a:solidFill>
                <a:latin typeface="Segoe UI"/>
              </a:defRPr>
            </a:pPr>
            <a:r>
              <a:t>OrdinalGB — What, Why &amp; How</a:t>
            </a:r>
          </a:p>
        </p:txBody>
      </p:sp>
      <p:sp>
        <p:nvSpPr>
          <p:cNvPr id="6" name="Rounded Rectangle 5"/>
          <p:cNvSpPr/>
          <p:nvPr/>
        </p:nvSpPr>
        <p:spPr>
          <a:xfrm>
            <a:off x="731520" y="1051560"/>
            <a:ext cx="1828800" cy="5486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54480"/>
            <a:ext cx="3291840" cy="4389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05840" y="1920240"/>
            <a:ext cx="457200" cy="73152"/>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286000"/>
            <a:ext cx="2743200" cy="457200"/>
          </a:xfrm>
          <a:prstGeom prst="rect">
            <a:avLst/>
          </a:prstGeom>
          <a:noFill/>
        </p:spPr>
        <p:txBody>
          <a:bodyPr wrap="square">
            <a:spAutoFit/>
          </a:bodyPr>
          <a:lstStyle/>
          <a:p>
            <a:pPr algn="l">
              <a:defRPr sz="2000" b="1">
                <a:solidFill>
                  <a:srgbClr val="2D3436"/>
                </a:solidFill>
                <a:latin typeface="Segoe UI"/>
              </a:defRPr>
            </a:pPr>
            <a:r>
              <a:t>What is OrdinalGB?</a:t>
            </a:r>
          </a:p>
        </p:txBody>
      </p:sp>
      <p:sp>
        <p:nvSpPr>
          <p:cNvPr id="10" name="TextBox 9"/>
          <p:cNvSpPr txBox="1"/>
          <p:nvPr/>
        </p:nvSpPr>
        <p:spPr>
          <a:xfrm>
            <a:off x="1005840" y="2926080"/>
            <a:ext cx="2743200" cy="2286000"/>
          </a:xfrm>
          <a:prstGeom prst="rect">
            <a:avLst/>
          </a:prstGeom>
          <a:noFill/>
        </p:spPr>
        <p:txBody>
          <a:bodyPr wrap="square">
            <a:spAutoFit/>
          </a:bodyPr>
          <a:lstStyle/>
          <a:p>
            <a:pPr algn="l">
              <a:defRPr sz="1500" b="0">
                <a:solidFill>
                  <a:srgbClr val="636E72"/>
                </a:solidFill>
                <a:latin typeface="Segoe UI"/>
              </a:defRPr>
            </a:pPr>
            <a:r>
              <a:t>A GradientBoosting Regressor adapted for ordinal targets. Instead of treating sii (0,1,2,3) as unrelated classes, it treats them as continuous numbers, trains a regression model, then rounds predicted floats back to the nearest class (0–3).</a:t>
            </a:r>
          </a:p>
        </p:txBody>
      </p:sp>
      <p:sp>
        <p:nvSpPr>
          <p:cNvPr id="11" name="Rounded Rectangle 10"/>
          <p:cNvSpPr/>
          <p:nvPr/>
        </p:nvSpPr>
        <p:spPr>
          <a:xfrm>
            <a:off x="4389120" y="1554480"/>
            <a:ext cx="3291840" cy="4389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663440" y="1920240"/>
            <a:ext cx="457200" cy="73152"/>
          </a:xfrm>
          <a:prstGeom prst="roundRect">
            <a:avLst/>
          </a:prstGeom>
          <a:solidFill>
            <a:srgbClr val="A29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63440" y="2286000"/>
            <a:ext cx="2743200" cy="457200"/>
          </a:xfrm>
          <a:prstGeom prst="rect">
            <a:avLst/>
          </a:prstGeom>
          <a:noFill/>
        </p:spPr>
        <p:txBody>
          <a:bodyPr wrap="square">
            <a:spAutoFit/>
          </a:bodyPr>
          <a:lstStyle/>
          <a:p>
            <a:pPr algn="l">
              <a:defRPr sz="2000" b="1">
                <a:solidFill>
                  <a:srgbClr val="2D3436"/>
                </a:solidFill>
                <a:latin typeface="Segoe UI"/>
              </a:defRPr>
            </a:pPr>
            <a:r>
              <a:t>Why We Used It</a:t>
            </a:r>
          </a:p>
        </p:txBody>
      </p:sp>
      <p:sp>
        <p:nvSpPr>
          <p:cNvPr id="14" name="TextBox 13"/>
          <p:cNvSpPr txBox="1"/>
          <p:nvPr/>
        </p:nvSpPr>
        <p:spPr>
          <a:xfrm>
            <a:off x="4663440" y="2926080"/>
            <a:ext cx="2743200" cy="2286000"/>
          </a:xfrm>
          <a:prstGeom prst="rect">
            <a:avLst/>
          </a:prstGeom>
          <a:noFill/>
        </p:spPr>
        <p:txBody>
          <a:bodyPr wrap="square">
            <a:spAutoFit/>
          </a:bodyPr>
          <a:lstStyle/>
          <a:p>
            <a:pPr algn="l">
              <a:defRPr sz="1500" b="0">
                <a:solidFill>
                  <a:srgbClr val="636E72"/>
                </a:solidFill>
                <a:latin typeface="Segoe UI"/>
              </a:defRPr>
            </a:pPr>
            <a:r>
              <a:rPr dirty="0"/>
              <a:t>All 9 standard classifiers scored ≤ 0.08 CV QWK — near-random. OrdinalGB scored 0.6259, which is 8x better. It wins because </a:t>
            </a:r>
            <a:r>
              <a:rPr dirty="0" err="1"/>
              <a:t>sii</a:t>
            </a:r>
            <a:r>
              <a:rPr dirty="0"/>
              <a:t> has a natural order (None &lt; Mild &lt; Moderate &lt; Severe) that standard classifiers ignore but OrdinalGB respects.</a:t>
            </a:r>
          </a:p>
        </p:txBody>
      </p:sp>
      <p:sp>
        <p:nvSpPr>
          <p:cNvPr id="15" name="Rounded Rectangle 14"/>
          <p:cNvSpPr/>
          <p:nvPr/>
        </p:nvSpPr>
        <p:spPr>
          <a:xfrm>
            <a:off x="8046720" y="1563624"/>
            <a:ext cx="3291840" cy="4389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321040" y="1920240"/>
            <a:ext cx="457200" cy="73152"/>
          </a:xfrm>
          <a:prstGeom prst="roundRect">
            <a:avLst/>
          </a:prstGeom>
          <a:solidFill>
            <a:srgbClr val="FF8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2286000"/>
            <a:ext cx="2743200" cy="457200"/>
          </a:xfrm>
          <a:prstGeom prst="rect">
            <a:avLst/>
          </a:prstGeom>
          <a:noFill/>
        </p:spPr>
        <p:txBody>
          <a:bodyPr wrap="square">
            <a:spAutoFit/>
          </a:bodyPr>
          <a:lstStyle/>
          <a:p>
            <a:pPr algn="l">
              <a:defRPr sz="2000" b="1">
                <a:solidFill>
                  <a:srgbClr val="2D3436"/>
                </a:solidFill>
                <a:latin typeface="Segoe UI"/>
              </a:defRPr>
            </a:pPr>
            <a:r>
              <a:t>How It Works</a:t>
            </a:r>
          </a:p>
        </p:txBody>
      </p:sp>
      <p:sp>
        <p:nvSpPr>
          <p:cNvPr id="18" name="TextBox 17"/>
          <p:cNvSpPr txBox="1"/>
          <p:nvPr/>
        </p:nvSpPr>
        <p:spPr>
          <a:xfrm>
            <a:off x="8321040" y="2926080"/>
            <a:ext cx="2743200" cy="2286000"/>
          </a:xfrm>
          <a:prstGeom prst="rect">
            <a:avLst/>
          </a:prstGeom>
          <a:noFill/>
        </p:spPr>
        <p:txBody>
          <a:bodyPr wrap="square">
            <a:spAutoFit/>
          </a:bodyPr>
          <a:lstStyle/>
          <a:p>
            <a:pPr algn="l">
              <a:defRPr sz="1500" b="0">
                <a:solidFill>
                  <a:srgbClr val="636E72"/>
                </a:solidFill>
                <a:latin typeface="Segoe UI"/>
              </a:defRPr>
            </a:pPr>
            <a:r>
              <a:t>Step 1: Feed sii labels (0,1,2,3) to GradientBoosting Regressor as continuous values. Step 2: Model predicts a raw float (e.g. 1.7, 2.4). Step 3: Round to nearest integer, clip to 0–3 → final prediction. Params: 300 trees, depth=4, lr=0.05, subsample=0.8.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5F0"/>
            </a:gs>
            <a:gs pos="100000">
              <a:srgbClr val="E8E5FF"/>
            </a:gs>
          </a:gsLst>
          <a:lin scaled="0"/>
        </a:gradFill>
        <a:effectLst/>
      </p:bgPr>
    </p:bg>
    <p:spTree>
      <p:nvGrpSpPr>
        <p:cNvPr id="1" name=""/>
        <p:cNvGrpSpPr/>
        <p:nvPr/>
      </p:nvGrpSpPr>
      <p:grpSpPr>
        <a:xfrm>
          <a:off x="0" y="0"/>
          <a:ext cx="0" cy="0"/>
          <a:chOff x="0" y="0"/>
          <a:chExt cx="0" cy="0"/>
        </a:xfrm>
      </p:grpSpPr>
      <p:sp>
        <p:nvSpPr>
          <p:cNvPr id="2" name="Oval 1"/>
          <p:cNvSpPr/>
          <p:nvPr/>
        </p:nvSpPr>
        <p:spPr>
          <a:xfrm>
            <a:off x="-914400" y="-914400"/>
            <a:ext cx="2743200" cy="27432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5029200"/>
            <a:ext cx="3200400" cy="3200400"/>
          </a:xfrm>
          <a:prstGeom prst="ellipse">
            <a:avLst/>
          </a:prstGeom>
          <a:solidFill>
            <a:srgbClr val="E8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1371600"/>
            <a:ext cx="2286000" cy="22860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0" y="0"/>
            <a:ext cx="137160" cy="6858000"/>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1371600"/>
            <a:ext cx="2743200" cy="457200"/>
          </a:xfrm>
          <a:prstGeom prst="rect">
            <a:avLst/>
          </a:prstGeom>
          <a:noFill/>
        </p:spPr>
        <p:txBody>
          <a:bodyPr wrap="square">
            <a:spAutoFit/>
          </a:bodyPr>
          <a:lstStyle/>
          <a:p>
            <a:pPr algn="l">
              <a:defRPr sz="1400" b="1">
                <a:solidFill>
                  <a:srgbClr val="FF6B6B"/>
                </a:solidFill>
                <a:latin typeface="Segoe UI"/>
              </a:defRPr>
            </a:pPr>
            <a:r>
              <a:t>ML PIPELINE</a:t>
            </a:r>
          </a:p>
        </p:txBody>
      </p:sp>
      <p:sp>
        <p:nvSpPr>
          <p:cNvPr id="7" name="TextBox 6"/>
          <p:cNvSpPr txBox="1"/>
          <p:nvPr/>
        </p:nvSpPr>
        <p:spPr>
          <a:xfrm>
            <a:off x="1371600" y="2011680"/>
            <a:ext cx="8229600" cy="1371600"/>
          </a:xfrm>
          <a:prstGeom prst="rect">
            <a:avLst/>
          </a:prstGeom>
          <a:noFill/>
        </p:spPr>
        <p:txBody>
          <a:bodyPr wrap="square">
            <a:spAutoFit/>
          </a:bodyPr>
          <a:lstStyle/>
          <a:p>
            <a:pPr algn="l">
              <a:defRPr sz="4000" b="1">
                <a:solidFill>
                  <a:srgbClr val="2D3436"/>
                </a:solidFill>
                <a:latin typeface="Segoe UI"/>
              </a:defRPr>
            </a:pPr>
            <a:r>
              <a:t>Implementation Roadmap</a:t>
            </a:r>
          </a:p>
        </p:txBody>
      </p:sp>
      <p:sp>
        <p:nvSpPr>
          <p:cNvPr id="8" name="TextBox 7"/>
          <p:cNvSpPr txBox="1"/>
          <p:nvPr/>
        </p:nvSpPr>
        <p:spPr>
          <a:xfrm>
            <a:off x="1371600" y="3474720"/>
            <a:ext cx="9600000" cy="457200"/>
          </a:xfrm>
          <a:prstGeom prst="rect">
            <a:avLst/>
          </a:prstGeom>
          <a:noFill/>
        </p:spPr>
        <p:txBody>
          <a:bodyPr wrap="square">
            <a:spAutoFit/>
          </a:bodyPr>
          <a:lstStyle/>
          <a:p>
            <a:pPr algn="l">
              <a:defRPr sz="1500" b="0">
                <a:solidFill>
                  <a:srgbClr val="636E72"/>
                </a:solidFill>
                <a:latin typeface="Segoe UI"/>
              </a:defRPr>
            </a:pPr>
            <a:r>
              <a:t>12-step pipeline from raw data to predictions — CMI-PIU dataset · OrdinalGB (Best QWK = 0.6259). All standard classifiers scored ≤ 0.08; OrdinalGB outperforms by 8x.</a:t>
            </a:r>
          </a:p>
        </p:txBody>
      </p:sp>
      <p:sp>
        <p:nvSpPr>
          <p:cNvPr id="50" name="QWK Box"/>
          <p:cNvSpPr txBox="1"/>
          <p:nvPr/>
        </p:nvSpPr>
        <p:spPr>
          <a:xfrm>
            <a:off x="1371600" y="4022400"/>
            <a:ext cx="8800000" cy="1600000"/>
          </a:xfrm>
          <a:prstGeom prst="roundRect">
            <a:avLst/>
          </a:prstGeom>
          <a:solidFill>
            <a:srgbClr val="FFF0EB"/>
          </a:solidFill>
          <a:ln>
            <a:solidFill>
              <a:srgbClr val="FF6B6B"/>
            </a:solidFill>
            <a:prstDash val="solid"/>
          </a:ln>
        </p:spPr>
        <p:txBody>
          <a:bodyPr wrap="square" lIns="182880" tIns="91440" rIns="182880" bIns="91440">
            <a:spAutoFit/>
          </a:bodyPr>
          <a:lstStyle/>
          <a:p>
            <a:pPr algn="l">
              <a:defRPr sz="1400" b="1">
                <a:solidFill>
                  <a:srgbClr val="FF6B6B"/>
                </a:solidFill>
                <a:latin typeface="Segoe UI"/>
              </a:defRPr>
            </a:pPr>
            <a:r>
              <a:rPr lang="en-US" sz="1400" b="1">
                <a:solidFill>
                  <a:srgbClr val="FF6B6B"/>
                </a:solidFill>
                <a:latin typeface="Segoe UI"/>
              </a:rPr>
              <a:t>ℹ What is QWK (Quadratic Weighted Kappa)?</a:t>
            </a:r>
          </a:p>
          <a:p>
            <a:pPr algn="l"/>
            <a:r>
              <a:rPr lang="en-US" sz="1200" b="0">
                <a:solidFill>
                  <a:srgbClr val="2D3436"/>
                </a:solidFill>
                <a:latin typeface="Segoe UI"/>
              </a:rPr>
              <a:t>QWK measures prediction agreement but penalises big errors far more than small ones. Predicting Severe (3) when true value is Healthy (0) is penalised much more than predicting Mild (1) instead of Healthy (0). Unlike Accuracy — which treats all wrong answers equally — QWK understands the ordinal structure of sii. Score of 0 = random guessing; 1 = perfect. Our 0.6259 = Substantial Agreement (0.61–0.80 range), the standard used in medical research.</a:t>
            </a:r>
          </a:p>
          <a:p>
            <a:pPr algn="l"/>
            <a:r>
              <a:rPr lang="en-US" sz="1100" b="0">
                <a:solidFill>
                  <a:srgbClr val="636E72"/>
                </a:solidFill>
                <a:latin typeface="Segoe UI"/>
              </a:rPr>
              <a:t>Scale: &lt;0.20 Slight  |  0.21–0.40 Fair  |  0.41–0.60 Moderate  |  0.61–0.80 Substantial ✓ (ours)  |  0.81–1.00 Almost Perfect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sp>
        <p:nvSpPr>
          <p:cNvPr id="2" name="Oval 1"/>
          <p:cNvSpPr/>
          <p:nvPr/>
        </p:nvSpPr>
        <p:spPr>
          <a:xfrm>
            <a:off x="-891371" y="-1251223"/>
            <a:ext cx="2743200" cy="27432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5029200"/>
            <a:ext cx="3200400" cy="3200400"/>
          </a:xfrm>
          <a:prstGeom prst="ellipse">
            <a:avLst/>
          </a:prstGeom>
          <a:solidFill>
            <a:srgbClr val="E8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1371600"/>
            <a:ext cx="2286000" cy="22860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7315200" cy="640080"/>
          </a:xfrm>
          <a:prstGeom prst="rect">
            <a:avLst/>
          </a:prstGeom>
          <a:noFill/>
        </p:spPr>
        <p:txBody>
          <a:bodyPr wrap="square">
            <a:spAutoFit/>
          </a:bodyPr>
          <a:lstStyle/>
          <a:p>
            <a:pPr algn="l">
              <a:defRPr sz="3000" b="1">
                <a:solidFill>
                  <a:srgbClr val="2D3436"/>
                </a:solidFill>
                <a:latin typeface="Segoe UI"/>
              </a:defRPr>
            </a:pPr>
            <a:r>
              <a:t>Dataset, Objective &amp; EDA</a:t>
            </a:r>
          </a:p>
        </p:txBody>
      </p:sp>
      <p:sp>
        <p:nvSpPr>
          <p:cNvPr id="6" name="Rounded Rectangle 5"/>
          <p:cNvSpPr/>
          <p:nvPr/>
        </p:nvSpPr>
        <p:spPr>
          <a:xfrm>
            <a:off x="731520" y="1051560"/>
            <a:ext cx="1828800" cy="5486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06918" y="1323474"/>
            <a:ext cx="3291840" cy="336499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1005840" y="1920240"/>
            <a:ext cx="457200" cy="73152"/>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286000"/>
            <a:ext cx="2743200" cy="457200"/>
          </a:xfrm>
          <a:prstGeom prst="rect">
            <a:avLst/>
          </a:prstGeom>
          <a:noFill/>
        </p:spPr>
        <p:txBody>
          <a:bodyPr wrap="square">
            <a:spAutoFit/>
          </a:bodyPr>
          <a:lstStyle/>
          <a:p>
            <a:pPr algn="l">
              <a:defRPr sz="2000" b="1">
                <a:solidFill>
                  <a:srgbClr val="2D3436"/>
                </a:solidFill>
                <a:latin typeface="Segoe UI"/>
              </a:defRPr>
            </a:pPr>
            <a:r>
              <a:t>CMI-PIU Dataset</a:t>
            </a:r>
          </a:p>
        </p:txBody>
      </p:sp>
      <p:sp>
        <p:nvSpPr>
          <p:cNvPr id="10" name="TextBox 9"/>
          <p:cNvSpPr txBox="1"/>
          <p:nvPr/>
        </p:nvSpPr>
        <p:spPr>
          <a:xfrm>
            <a:off x="1005840" y="2926080"/>
            <a:ext cx="2743200" cy="1477328"/>
          </a:xfrm>
          <a:prstGeom prst="rect">
            <a:avLst/>
          </a:prstGeom>
          <a:noFill/>
        </p:spPr>
        <p:txBody>
          <a:bodyPr wrap="square">
            <a:spAutoFit/>
          </a:bodyPr>
          <a:lstStyle/>
          <a:p>
            <a:pPr algn="l">
              <a:defRPr sz="1500" b="0">
                <a:solidFill>
                  <a:srgbClr val="636E72"/>
                </a:solidFill>
                <a:latin typeface="Segoe UI"/>
              </a:defRPr>
            </a:pPr>
            <a:r>
              <a:rPr dirty="0"/>
              <a:t>3,</a:t>
            </a:r>
            <a:r>
              <a:rPr lang="en-IN" dirty="0"/>
              <a:t>900</a:t>
            </a:r>
            <a:r>
              <a:rPr dirty="0"/>
              <a:t> rows, 18 features, target </a:t>
            </a:r>
            <a:r>
              <a:rPr dirty="0" err="1"/>
              <a:t>sii</a:t>
            </a:r>
            <a:r>
              <a:rPr dirty="0"/>
              <a:t> (0–3 severity). After cleaning: </a:t>
            </a:r>
            <a:r>
              <a:rPr lang="en-IN" dirty="0"/>
              <a:t>3000</a:t>
            </a:r>
            <a:r>
              <a:rPr dirty="0"/>
              <a:t> training rows. ~30% missing in Fitness/BIA/Sleep; ~14% missing labels removed.</a:t>
            </a:r>
          </a:p>
        </p:txBody>
      </p:sp>
      <p:sp>
        <p:nvSpPr>
          <p:cNvPr id="11" name="Rounded Rectangle 10"/>
          <p:cNvSpPr/>
          <p:nvPr/>
        </p:nvSpPr>
        <p:spPr>
          <a:xfrm>
            <a:off x="4373078" y="1300373"/>
            <a:ext cx="3291840" cy="327355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663440" y="1920240"/>
            <a:ext cx="457200" cy="73152"/>
          </a:xfrm>
          <a:prstGeom prst="roundRect">
            <a:avLst/>
          </a:prstGeom>
          <a:solidFill>
            <a:srgbClr val="A29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63440" y="2286000"/>
            <a:ext cx="2743200" cy="457200"/>
          </a:xfrm>
          <a:prstGeom prst="rect">
            <a:avLst/>
          </a:prstGeom>
          <a:noFill/>
        </p:spPr>
        <p:txBody>
          <a:bodyPr wrap="square">
            <a:spAutoFit/>
          </a:bodyPr>
          <a:lstStyle/>
          <a:p>
            <a:pPr algn="l">
              <a:defRPr sz="2000" b="1">
                <a:solidFill>
                  <a:srgbClr val="2D3436"/>
                </a:solidFill>
                <a:latin typeface="Segoe UI"/>
              </a:defRPr>
            </a:pPr>
            <a:r>
              <a:rPr dirty="0"/>
              <a:t>Objective</a:t>
            </a:r>
          </a:p>
        </p:txBody>
      </p:sp>
      <p:sp>
        <p:nvSpPr>
          <p:cNvPr id="14" name="TextBox 13"/>
          <p:cNvSpPr txBox="1"/>
          <p:nvPr/>
        </p:nvSpPr>
        <p:spPr>
          <a:xfrm>
            <a:off x="4572000" y="2710474"/>
            <a:ext cx="2743200" cy="2286000"/>
          </a:xfrm>
          <a:prstGeom prst="rect">
            <a:avLst/>
          </a:prstGeom>
          <a:noFill/>
        </p:spPr>
        <p:txBody>
          <a:bodyPr wrap="square">
            <a:spAutoFit/>
          </a:bodyPr>
          <a:lstStyle/>
          <a:p>
            <a:pPr algn="l">
              <a:defRPr sz="1500" b="0">
                <a:solidFill>
                  <a:srgbClr val="636E72"/>
                </a:solidFill>
                <a:latin typeface="Segoe UI"/>
              </a:defRPr>
            </a:pPr>
            <a:r>
              <a:t>Predict Severity Impairment Index (sii) for children aged 5–22 using physical health, sleep, activity and fitness data. Metric: Quadratic Weighted Kappa (QWK).</a:t>
            </a:r>
          </a:p>
        </p:txBody>
      </p:sp>
      <p:sp>
        <p:nvSpPr>
          <p:cNvPr id="15" name="Rounded Rectangle 14"/>
          <p:cNvSpPr/>
          <p:nvPr/>
        </p:nvSpPr>
        <p:spPr>
          <a:xfrm>
            <a:off x="7772400" y="1295881"/>
            <a:ext cx="329184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321040" y="1920240"/>
            <a:ext cx="457200" cy="73152"/>
          </a:xfrm>
          <a:prstGeom prst="roundRect">
            <a:avLst/>
          </a:prstGeom>
          <a:solidFill>
            <a:srgbClr val="FF8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2286000"/>
            <a:ext cx="2743200" cy="457200"/>
          </a:xfrm>
          <a:prstGeom prst="rect">
            <a:avLst/>
          </a:prstGeom>
          <a:noFill/>
        </p:spPr>
        <p:txBody>
          <a:bodyPr wrap="square">
            <a:spAutoFit/>
          </a:bodyPr>
          <a:lstStyle/>
          <a:p>
            <a:pPr algn="l">
              <a:defRPr sz="2000" b="1">
                <a:solidFill>
                  <a:srgbClr val="2D3436"/>
                </a:solidFill>
                <a:latin typeface="Segoe UI"/>
              </a:defRPr>
            </a:pPr>
            <a:r>
              <a:t>EDA Findings</a:t>
            </a:r>
          </a:p>
        </p:txBody>
      </p:sp>
      <p:sp>
        <p:nvSpPr>
          <p:cNvPr id="18" name="TextBox 17"/>
          <p:cNvSpPr txBox="1"/>
          <p:nvPr/>
        </p:nvSpPr>
        <p:spPr>
          <a:xfrm>
            <a:off x="8321040" y="2926080"/>
            <a:ext cx="2743200" cy="2286000"/>
          </a:xfrm>
          <a:prstGeom prst="rect">
            <a:avLst/>
          </a:prstGeom>
          <a:noFill/>
        </p:spPr>
        <p:txBody>
          <a:bodyPr wrap="square">
            <a:spAutoFit/>
          </a:bodyPr>
          <a:lstStyle/>
          <a:p>
            <a:pPr algn="l">
              <a:defRPr sz="1500" b="0">
                <a:solidFill>
                  <a:srgbClr val="636E72"/>
                </a:solidFill>
                <a:latin typeface="Segoe UI"/>
              </a:defRPr>
            </a:pPr>
            <a:r>
              <a:t>Class imbalance: sii=0 (35.6%) dominant, sii=2 (13.4%) smallest. Top correlates: SDS (sleep, r=0.099) and PAQ (activity, r=0.072). Engineered Behavior_Score most predictive (r=0.55).</a:t>
            </a:r>
          </a:p>
        </p:txBody>
      </p:sp>
      <p:sp>
        <p:nvSpPr>
          <p:cNvPr id="19" name="AutoShape 2" descr="Download the bar chart">
            <a:extLst>
              <a:ext uri="{FF2B5EF4-FFF2-40B4-BE49-F238E27FC236}">
                <a16:creationId xmlns:a16="http://schemas.microsoft.com/office/drawing/2014/main" id="{0D88261F-B3E8-48E1-98F7-86A95EEAD59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0" name="AutoShape 4" descr="Download the bar chart">
            <a:extLst>
              <a:ext uri="{FF2B5EF4-FFF2-40B4-BE49-F238E27FC236}">
                <a16:creationId xmlns:a16="http://schemas.microsoft.com/office/drawing/2014/main" id="{4E27D34F-4A1D-CBBD-1A3D-CCE982B8BC25}"/>
              </a:ext>
            </a:extLst>
          </p:cNvPr>
          <p:cNvSpPr>
            <a:spLocks noChangeAspect="1" noChangeArrowheads="1"/>
          </p:cNvSpPr>
          <p:nvPr/>
        </p:nvSpPr>
        <p:spPr bwMode="auto">
          <a:xfrm>
            <a:off x="5836118" y="4298482"/>
            <a:ext cx="564682" cy="9135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1" name="AutoShape 6" descr="Download the bar chart">
            <a:extLst>
              <a:ext uri="{FF2B5EF4-FFF2-40B4-BE49-F238E27FC236}">
                <a16:creationId xmlns:a16="http://schemas.microsoft.com/office/drawing/2014/main" id="{B68F04D8-D4F7-BDCD-7A75-C74AAD910A2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6" name="Picture 25">
            <a:extLst>
              <a:ext uri="{FF2B5EF4-FFF2-40B4-BE49-F238E27FC236}">
                <a16:creationId xmlns:a16="http://schemas.microsoft.com/office/drawing/2014/main" id="{401345D6-4704-3561-F2E3-43EBAD13EA69}"/>
              </a:ext>
            </a:extLst>
          </p:cNvPr>
          <p:cNvPicPr>
            <a:picLocks noChangeAspect="1"/>
          </p:cNvPicPr>
          <p:nvPr/>
        </p:nvPicPr>
        <p:blipFill>
          <a:blip r:embed="rId2"/>
          <a:stretch>
            <a:fillRect/>
          </a:stretch>
        </p:blipFill>
        <p:spPr>
          <a:xfrm>
            <a:off x="3398514" y="4277867"/>
            <a:ext cx="4648206" cy="25595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sp>
        <p:nvSpPr>
          <p:cNvPr id="2" name="Oval 1"/>
          <p:cNvSpPr/>
          <p:nvPr/>
        </p:nvSpPr>
        <p:spPr>
          <a:xfrm>
            <a:off x="-914400" y="-914400"/>
            <a:ext cx="2743200" cy="27432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5029200"/>
            <a:ext cx="3200400" cy="3200400"/>
          </a:xfrm>
          <a:prstGeom prst="ellipse">
            <a:avLst/>
          </a:prstGeom>
          <a:solidFill>
            <a:srgbClr val="E8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1371600"/>
            <a:ext cx="2286000" cy="22860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7315200" cy="640080"/>
          </a:xfrm>
          <a:prstGeom prst="rect">
            <a:avLst/>
          </a:prstGeom>
          <a:noFill/>
        </p:spPr>
        <p:txBody>
          <a:bodyPr wrap="square">
            <a:spAutoFit/>
          </a:bodyPr>
          <a:lstStyle/>
          <a:p>
            <a:pPr algn="l">
              <a:defRPr sz="3000" b="1">
                <a:solidFill>
                  <a:srgbClr val="2D3436"/>
                </a:solidFill>
                <a:latin typeface="Segoe UI"/>
              </a:defRPr>
            </a:pPr>
            <a:r>
              <a:t>Preprocessing &amp; Feature Engineering</a:t>
            </a:r>
          </a:p>
        </p:txBody>
      </p:sp>
      <p:sp>
        <p:nvSpPr>
          <p:cNvPr id="6" name="Rounded Rectangle 5"/>
          <p:cNvSpPr/>
          <p:nvPr/>
        </p:nvSpPr>
        <p:spPr>
          <a:xfrm>
            <a:off x="731520" y="1051560"/>
            <a:ext cx="1828800" cy="54864"/>
          </a:xfrm>
          <a:prstGeom prst="roundRect">
            <a:avLst/>
          </a:prstGeom>
          <a:solidFill>
            <a:srgbClr val="A29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54480"/>
            <a:ext cx="5120640" cy="457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920240"/>
            <a:ext cx="4389120" cy="457200"/>
          </a:xfrm>
          <a:prstGeom prst="rect">
            <a:avLst/>
          </a:prstGeom>
          <a:noFill/>
        </p:spPr>
        <p:txBody>
          <a:bodyPr wrap="square">
            <a:spAutoFit/>
          </a:bodyPr>
          <a:lstStyle/>
          <a:p>
            <a:pPr algn="l">
              <a:defRPr sz="2200" b="1">
                <a:solidFill>
                  <a:srgbClr val="2D3436"/>
                </a:solidFill>
                <a:latin typeface="Segoe UI"/>
              </a:defRPr>
            </a:pPr>
            <a:r>
              <a:t>Data Preprocessing (Step 4)</a:t>
            </a:r>
          </a:p>
        </p:txBody>
      </p:sp>
      <p:sp>
        <p:nvSpPr>
          <p:cNvPr id="9" name="TextBox 8"/>
          <p:cNvSpPr txBox="1"/>
          <p:nvPr/>
        </p:nvSpPr>
        <p:spPr>
          <a:xfrm>
            <a:off x="1097280" y="2651760"/>
            <a:ext cx="4389120" cy="457200"/>
          </a:xfrm>
          <a:prstGeom prst="rect">
            <a:avLst/>
          </a:prstGeom>
          <a:noFill/>
        </p:spPr>
        <p:txBody>
          <a:bodyPr wrap="square">
            <a:spAutoFit/>
          </a:bodyPr>
          <a:lstStyle/>
          <a:p>
            <a:pPr algn="l">
              <a:defRPr sz="1500" b="0">
                <a:solidFill>
                  <a:srgbClr val="636E72"/>
                </a:solidFill>
                <a:latin typeface="Segoe UI"/>
              </a:defRPr>
            </a:pPr>
            <a:r>
              <a:t>Drop ID columns (no predictive value)</a:t>
            </a:r>
          </a:p>
        </p:txBody>
      </p:sp>
      <p:sp>
        <p:nvSpPr>
          <p:cNvPr id="10" name="TextBox 9"/>
          <p:cNvSpPr txBox="1"/>
          <p:nvPr/>
        </p:nvSpPr>
        <p:spPr>
          <a:xfrm>
            <a:off x="1097280" y="3246120"/>
            <a:ext cx="4389120" cy="457200"/>
          </a:xfrm>
          <a:prstGeom prst="rect">
            <a:avLst/>
          </a:prstGeom>
          <a:noFill/>
        </p:spPr>
        <p:txBody>
          <a:bodyPr wrap="square">
            <a:spAutoFit/>
          </a:bodyPr>
          <a:lstStyle/>
          <a:p>
            <a:pPr algn="l">
              <a:defRPr sz="1500" b="0">
                <a:solidFill>
                  <a:srgbClr val="636E72"/>
                </a:solidFill>
                <a:latin typeface="Segoe UI"/>
              </a:defRPr>
            </a:pPr>
            <a:r>
              <a:t>Drop columns with &gt;60% missing values</a:t>
            </a:r>
          </a:p>
        </p:txBody>
      </p:sp>
      <p:sp>
        <p:nvSpPr>
          <p:cNvPr id="11" name="TextBox 10"/>
          <p:cNvSpPr txBox="1"/>
          <p:nvPr/>
        </p:nvSpPr>
        <p:spPr>
          <a:xfrm>
            <a:off x="1097280" y="3840480"/>
            <a:ext cx="4389120" cy="457200"/>
          </a:xfrm>
          <a:prstGeom prst="rect">
            <a:avLst/>
          </a:prstGeom>
          <a:noFill/>
        </p:spPr>
        <p:txBody>
          <a:bodyPr wrap="square">
            <a:spAutoFit/>
          </a:bodyPr>
          <a:lstStyle/>
          <a:p>
            <a:pPr algn="l">
              <a:defRPr sz="1500" b="0">
                <a:solidFill>
                  <a:srgbClr val="636E72"/>
                </a:solidFill>
                <a:latin typeface="Segoe UI"/>
              </a:defRPr>
            </a:pPr>
            <a:r>
              <a:t>Encode categoricals; remove missing targets</a:t>
            </a:r>
          </a:p>
        </p:txBody>
      </p:sp>
      <p:sp>
        <p:nvSpPr>
          <p:cNvPr id="12" name="TextBox 11"/>
          <p:cNvSpPr txBox="1"/>
          <p:nvPr/>
        </p:nvSpPr>
        <p:spPr>
          <a:xfrm>
            <a:off x="1097280" y="4434840"/>
            <a:ext cx="4389120" cy="553998"/>
          </a:xfrm>
          <a:prstGeom prst="rect">
            <a:avLst/>
          </a:prstGeom>
          <a:noFill/>
        </p:spPr>
        <p:txBody>
          <a:bodyPr wrap="square">
            <a:spAutoFit/>
          </a:bodyPr>
          <a:lstStyle/>
          <a:p>
            <a:pPr algn="l">
              <a:defRPr sz="1500" b="0">
                <a:solidFill>
                  <a:srgbClr val="636E72"/>
                </a:solidFill>
                <a:latin typeface="Segoe UI"/>
              </a:defRPr>
            </a:pPr>
            <a:r>
              <a:rPr dirty="0"/>
              <a:t>Median imputation → </a:t>
            </a:r>
            <a:r>
              <a:rPr lang="en-IN" dirty="0"/>
              <a:t>3000</a:t>
            </a:r>
            <a:r>
              <a:rPr dirty="0"/>
              <a:t> rows × 17 features, zero nulls</a:t>
            </a:r>
          </a:p>
        </p:txBody>
      </p:sp>
      <p:sp>
        <p:nvSpPr>
          <p:cNvPr id="13" name="Rounded Rectangle 12"/>
          <p:cNvSpPr/>
          <p:nvPr/>
        </p:nvSpPr>
        <p:spPr>
          <a:xfrm>
            <a:off x="6217920" y="1554480"/>
            <a:ext cx="5120640" cy="457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1920240"/>
            <a:ext cx="4389120" cy="457200"/>
          </a:xfrm>
          <a:prstGeom prst="rect">
            <a:avLst/>
          </a:prstGeom>
          <a:noFill/>
        </p:spPr>
        <p:txBody>
          <a:bodyPr wrap="square">
            <a:spAutoFit/>
          </a:bodyPr>
          <a:lstStyle/>
          <a:p>
            <a:pPr algn="l">
              <a:defRPr sz="2200" b="1">
                <a:solidFill>
                  <a:srgbClr val="2D3436"/>
                </a:solidFill>
                <a:latin typeface="Segoe UI"/>
              </a:defRPr>
            </a:pPr>
            <a:r>
              <a:t>Feature Engineering (5 New Features)</a:t>
            </a:r>
          </a:p>
        </p:txBody>
      </p:sp>
      <p:sp>
        <p:nvSpPr>
          <p:cNvPr id="15" name="TextBox 14"/>
          <p:cNvSpPr txBox="1"/>
          <p:nvPr/>
        </p:nvSpPr>
        <p:spPr>
          <a:xfrm>
            <a:off x="6583680" y="2651760"/>
            <a:ext cx="4389120" cy="457200"/>
          </a:xfrm>
          <a:prstGeom prst="rect">
            <a:avLst/>
          </a:prstGeom>
          <a:noFill/>
        </p:spPr>
        <p:txBody>
          <a:bodyPr wrap="square">
            <a:spAutoFit/>
          </a:bodyPr>
          <a:lstStyle/>
          <a:p>
            <a:pPr algn="l">
              <a:defRPr sz="1500" b="0">
                <a:solidFill>
                  <a:srgbClr val="636E72"/>
                </a:solidFill>
                <a:latin typeface="Segoe UI"/>
              </a:defRPr>
            </a:pPr>
            <a:r>
              <a:t>BMI_Category (WHO cut-offs: 0–3)</a:t>
            </a:r>
          </a:p>
        </p:txBody>
      </p:sp>
      <p:sp>
        <p:nvSpPr>
          <p:cNvPr id="16" name="TextBox 15"/>
          <p:cNvSpPr txBox="1"/>
          <p:nvPr/>
        </p:nvSpPr>
        <p:spPr>
          <a:xfrm>
            <a:off x="6583680" y="3246120"/>
            <a:ext cx="4389120" cy="457200"/>
          </a:xfrm>
          <a:prstGeom prst="rect">
            <a:avLst/>
          </a:prstGeom>
          <a:noFill/>
        </p:spPr>
        <p:txBody>
          <a:bodyPr wrap="square">
            <a:spAutoFit/>
          </a:bodyPr>
          <a:lstStyle/>
          <a:p>
            <a:pPr algn="l">
              <a:defRPr sz="1500" b="0">
                <a:solidFill>
                  <a:srgbClr val="636E72"/>
                </a:solidFill>
                <a:latin typeface="Segoe UI"/>
              </a:defRPr>
            </a:pPr>
            <a:r>
              <a:t>Age_Group (Child / Early Teen / Teen / Adult)</a:t>
            </a:r>
          </a:p>
        </p:txBody>
      </p:sp>
      <p:sp>
        <p:nvSpPr>
          <p:cNvPr id="17" name="TextBox 16"/>
          <p:cNvSpPr txBox="1"/>
          <p:nvPr/>
        </p:nvSpPr>
        <p:spPr>
          <a:xfrm>
            <a:off x="6583680" y="3840480"/>
            <a:ext cx="4389120" cy="457200"/>
          </a:xfrm>
          <a:prstGeom prst="rect">
            <a:avLst/>
          </a:prstGeom>
          <a:noFill/>
        </p:spPr>
        <p:txBody>
          <a:bodyPr wrap="square">
            <a:spAutoFit/>
          </a:bodyPr>
          <a:lstStyle/>
          <a:p>
            <a:pPr algn="l">
              <a:defRPr sz="1500" b="0">
                <a:solidFill>
                  <a:srgbClr val="636E72"/>
                </a:solidFill>
                <a:latin typeface="Segoe UI"/>
              </a:defRPr>
            </a:pPr>
            <a:r>
              <a:t>Pulse_Pressure, Body_Comp_Index</a:t>
            </a:r>
          </a:p>
        </p:txBody>
      </p:sp>
      <p:sp>
        <p:nvSpPr>
          <p:cNvPr id="18" name="TextBox 17"/>
          <p:cNvSpPr txBox="1"/>
          <p:nvPr/>
        </p:nvSpPr>
        <p:spPr>
          <a:xfrm>
            <a:off x="6583680" y="4434840"/>
            <a:ext cx="4389120" cy="457200"/>
          </a:xfrm>
          <a:prstGeom prst="rect">
            <a:avLst/>
          </a:prstGeom>
          <a:noFill/>
        </p:spPr>
        <p:txBody>
          <a:bodyPr wrap="square">
            <a:spAutoFit/>
          </a:bodyPr>
          <a:lstStyle/>
          <a:p>
            <a:pPr algn="l">
              <a:defRPr sz="1500" b="0">
                <a:solidFill>
                  <a:srgbClr val="636E72"/>
                </a:solidFill>
                <a:latin typeface="Segoe UI"/>
              </a:defRPr>
            </a:pPr>
            <a:r>
              <a:t>Behavior_Score (composite, r=0.55) — strongest predictor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sp>
        <p:nvSpPr>
          <p:cNvPr id="2" name="Oval 1"/>
          <p:cNvSpPr/>
          <p:nvPr/>
        </p:nvSpPr>
        <p:spPr>
          <a:xfrm>
            <a:off x="-914400" y="-914400"/>
            <a:ext cx="2743200" cy="27432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5029200"/>
            <a:ext cx="3200400" cy="3200400"/>
          </a:xfrm>
          <a:prstGeom prst="ellipse">
            <a:avLst/>
          </a:prstGeom>
          <a:solidFill>
            <a:srgbClr val="E8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1371600"/>
            <a:ext cx="2286000" cy="22860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7315200" cy="640080"/>
          </a:xfrm>
          <a:prstGeom prst="rect">
            <a:avLst/>
          </a:prstGeom>
          <a:noFill/>
        </p:spPr>
        <p:txBody>
          <a:bodyPr wrap="square">
            <a:spAutoFit/>
          </a:bodyPr>
          <a:lstStyle/>
          <a:p>
            <a:pPr algn="l">
              <a:defRPr sz="3000" b="1">
                <a:solidFill>
                  <a:srgbClr val="2D3436"/>
                </a:solidFill>
                <a:latin typeface="Segoe UI"/>
              </a:defRPr>
            </a:pPr>
            <a:r>
              <a:t>Model Performance Metrics</a:t>
            </a:r>
          </a:p>
        </p:txBody>
      </p:sp>
      <p:sp>
        <p:nvSpPr>
          <p:cNvPr id="6" name="Rounded Rectangle 5"/>
          <p:cNvSpPr/>
          <p:nvPr/>
        </p:nvSpPr>
        <p:spPr>
          <a:xfrm>
            <a:off x="731520" y="1051560"/>
            <a:ext cx="1828800" cy="54864"/>
          </a:xfrm>
          <a:prstGeom prst="roundRect">
            <a:avLst/>
          </a:prstGeom>
          <a:solidFill>
            <a:srgbClr val="FF8E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828800"/>
            <a:ext cx="2560320" cy="3200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234440" y="2194560"/>
            <a:ext cx="1188720" cy="118872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9720" y="3383280"/>
            <a:ext cx="2194560" cy="914400"/>
          </a:xfrm>
          <a:prstGeom prst="rect">
            <a:avLst/>
          </a:prstGeom>
          <a:noFill/>
        </p:spPr>
        <p:txBody>
          <a:bodyPr wrap="square">
            <a:spAutoFit/>
          </a:bodyPr>
          <a:lstStyle/>
          <a:p>
            <a:pPr algn="ctr">
              <a:defRPr sz="3000" b="1">
                <a:solidFill>
                  <a:srgbClr val="FF6B6B"/>
                </a:solidFill>
                <a:latin typeface="Segoe UI"/>
              </a:defRPr>
            </a:pPr>
            <a:r>
              <a:t>0.6259</a:t>
            </a:r>
          </a:p>
        </p:txBody>
      </p:sp>
      <p:sp>
        <p:nvSpPr>
          <p:cNvPr id="10" name="TextBox 9"/>
          <p:cNvSpPr txBox="1"/>
          <p:nvPr/>
        </p:nvSpPr>
        <p:spPr>
          <a:xfrm>
            <a:off x="549720" y="4206480"/>
            <a:ext cx="2194560" cy="457200"/>
          </a:xfrm>
          <a:prstGeom prst="rect">
            <a:avLst/>
          </a:prstGeom>
          <a:noFill/>
        </p:spPr>
        <p:txBody>
          <a:bodyPr wrap="square">
            <a:spAutoFit/>
          </a:bodyPr>
          <a:lstStyle/>
          <a:p>
            <a:pPr algn="ctr">
              <a:defRPr sz="1600" b="0">
                <a:solidFill>
                  <a:srgbClr val="636E72"/>
                </a:solidFill>
                <a:latin typeface="Segoe UI"/>
              </a:defRPr>
            </a:pPr>
            <a:r>
              <a:t>Best CV QWK</a:t>
            </a:r>
          </a:p>
        </p:txBody>
      </p:sp>
      <p:sp>
        <p:nvSpPr>
          <p:cNvPr id="11" name="Rounded Rectangle 10"/>
          <p:cNvSpPr/>
          <p:nvPr/>
        </p:nvSpPr>
        <p:spPr>
          <a:xfrm>
            <a:off x="3429000" y="1828800"/>
            <a:ext cx="2560320" cy="3200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114800" y="2194560"/>
            <a:ext cx="1188720" cy="1188720"/>
          </a:xfrm>
          <a:prstGeom prst="ellipse">
            <a:avLst/>
          </a:prstGeom>
          <a:solidFill>
            <a:srgbClr val="A29B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29000" y="3383280"/>
            <a:ext cx="2194560" cy="914400"/>
          </a:xfrm>
          <a:prstGeom prst="rect">
            <a:avLst/>
          </a:prstGeom>
          <a:noFill/>
        </p:spPr>
        <p:txBody>
          <a:bodyPr wrap="square">
            <a:spAutoFit/>
          </a:bodyPr>
          <a:lstStyle/>
          <a:p>
            <a:pPr algn="ctr">
              <a:defRPr sz="3000" b="1">
                <a:solidFill>
                  <a:srgbClr val="A29BFE"/>
                </a:solidFill>
                <a:latin typeface="Segoe UI"/>
              </a:defRPr>
            </a:pPr>
            <a:r>
              <a:t>10</a:t>
            </a:r>
          </a:p>
        </p:txBody>
      </p:sp>
      <p:sp>
        <p:nvSpPr>
          <p:cNvPr id="14" name="TextBox 13"/>
          <p:cNvSpPr txBox="1"/>
          <p:nvPr/>
        </p:nvSpPr>
        <p:spPr>
          <a:xfrm>
            <a:off x="3429000" y="4206480"/>
            <a:ext cx="2194560" cy="457200"/>
          </a:xfrm>
          <a:prstGeom prst="rect">
            <a:avLst/>
          </a:prstGeom>
          <a:noFill/>
        </p:spPr>
        <p:txBody>
          <a:bodyPr wrap="square">
            <a:spAutoFit/>
          </a:bodyPr>
          <a:lstStyle/>
          <a:p>
            <a:pPr algn="ctr">
              <a:defRPr sz="1600" b="0">
                <a:solidFill>
                  <a:srgbClr val="636E72"/>
                </a:solidFill>
                <a:latin typeface="Segoe UI"/>
              </a:defRPr>
            </a:pPr>
            <a:r>
              <a:t>Models Tested</a:t>
            </a:r>
          </a:p>
        </p:txBody>
      </p:sp>
      <p:sp>
        <p:nvSpPr>
          <p:cNvPr id="15" name="Rounded Rectangle 14"/>
          <p:cNvSpPr/>
          <p:nvPr/>
        </p:nvSpPr>
        <p:spPr>
          <a:xfrm>
            <a:off x="6309359" y="1828800"/>
            <a:ext cx="2560320" cy="3200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995159" y="2194560"/>
            <a:ext cx="1188720" cy="1188720"/>
          </a:xfrm>
          <a:prstGeom prst="ellipse">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59" y="3383280"/>
            <a:ext cx="2194560" cy="914400"/>
          </a:xfrm>
          <a:prstGeom prst="rect">
            <a:avLst/>
          </a:prstGeom>
          <a:noFill/>
        </p:spPr>
        <p:txBody>
          <a:bodyPr wrap="square">
            <a:spAutoFit/>
          </a:bodyPr>
          <a:lstStyle/>
          <a:p>
            <a:pPr algn="ctr">
              <a:defRPr sz="3000" b="1">
                <a:solidFill>
                  <a:srgbClr val="00B894"/>
                </a:solidFill>
                <a:latin typeface="Segoe UI"/>
              </a:defRPr>
            </a:pPr>
            <a:r>
              <a:rPr dirty="0"/>
              <a:t>22</a:t>
            </a:r>
          </a:p>
        </p:txBody>
      </p:sp>
      <p:sp>
        <p:nvSpPr>
          <p:cNvPr id="18" name="TextBox 17"/>
          <p:cNvSpPr txBox="1"/>
          <p:nvPr/>
        </p:nvSpPr>
        <p:spPr>
          <a:xfrm>
            <a:off x="6309359" y="4206480"/>
            <a:ext cx="2194560" cy="457200"/>
          </a:xfrm>
          <a:prstGeom prst="rect">
            <a:avLst/>
          </a:prstGeom>
          <a:noFill/>
        </p:spPr>
        <p:txBody>
          <a:bodyPr wrap="square">
            <a:spAutoFit/>
          </a:bodyPr>
          <a:lstStyle/>
          <a:p>
            <a:pPr algn="ctr">
              <a:defRPr sz="1600" b="0">
                <a:solidFill>
                  <a:srgbClr val="636E72"/>
                </a:solidFill>
                <a:latin typeface="Segoe UI"/>
              </a:defRPr>
            </a:pPr>
            <a:r>
              <a:t>Final Features</a:t>
            </a:r>
          </a:p>
        </p:txBody>
      </p:sp>
      <p:sp>
        <p:nvSpPr>
          <p:cNvPr id="19" name="Rounded Rectangle 18"/>
          <p:cNvSpPr/>
          <p:nvPr/>
        </p:nvSpPr>
        <p:spPr>
          <a:xfrm>
            <a:off x="9189719" y="1828800"/>
            <a:ext cx="2560320" cy="3200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875519" y="2194560"/>
            <a:ext cx="1188720" cy="1188720"/>
          </a:xfrm>
          <a:prstGeom prst="ellipse">
            <a:avLst/>
          </a:prstGeom>
          <a:solidFill>
            <a:srgbClr val="FF8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89719" y="3383280"/>
            <a:ext cx="2194560" cy="914400"/>
          </a:xfrm>
          <a:prstGeom prst="rect">
            <a:avLst/>
          </a:prstGeom>
          <a:noFill/>
        </p:spPr>
        <p:txBody>
          <a:bodyPr wrap="square">
            <a:spAutoFit/>
          </a:bodyPr>
          <a:lstStyle/>
          <a:p>
            <a:pPr algn="ctr">
              <a:defRPr sz="3000" b="1">
                <a:solidFill>
                  <a:srgbClr val="FF8E53"/>
                </a:solidFill>
                <a:latin typeface="Segoe UI"/>
              </a:defRPr>
            </a:pPr>
            <a:r>
              <a:t>8x</a:t>
            </a:r>
          </a:p>
        </p:txBody>
      </p:sp>
      <p:sp>
        <p:nvSpPr>
          <p:cNvPr id="22" name="TextBox 21"/>
          <p:cNvSpPr txBox="1"/>
          <p:nvPr/>
        </p:nvSpPr>
        <p:spPr>
          <a:xfrm>
            <a:off x="9189719" y="4206480"/>
            <a:ext cx="2194560" cy="457200"/>
          </a:xfrm>
          <a:prstGeom prst="rect">
            <a:avLst/>
          </a:prstGeom>
          <a:noFill/>
        </p:spPr>
        <p:txBody>
          <a:bodyPr wrap="square">
            <a:spAutoFit/>
          </a:bodyPr>
          <a:lstStyle/>
          <a:p>
            <a:pPr algn="ctr">
              <a:defRPr sz="1600" b="0">
                <a:solidFill>
                  <a:srgbClr val="636E72"/>
                </a:solidFill>
                <a:latin typeface="Segoe UI"/>
              </a:defRPr>
            </a:pPr>
            <a:r>
              <a:t>Better than 2nd Best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5F0"/>
            </a:gs>
            <a:gs pos="100000">
              <a:srgbClr val="E8E5FF"/>
            </a:gs>
          </a:gsLst>
          <a:lin scaled="0"/>
        </a:gradFill>
        <a:effectLst/>
      </p:bgPr>
    </p:bg>
    <p:spTree>
      <p:nvGrpSpPr>
        <p:cNvPr id="1" name=""/>
        <p:cNvGrpSpPr/>
        <p:nvPr/>
      </p:nvGrpSpPr>
      <p:grpSpPr>
        <a:xfrm>
          <a:off x="0" y="0"/>
          <a:ext cx="0" cy="0"/>
          <a:chOff x="0" y="0"/>
          <a:chExt cx="0" cy="0"/>
        </a:xfrm>
      </p:grpSpPr>
      <p:sp>
        <p:nvSpPr>
          <p:cNvPr id="2" name="Oval 1"/>
          <p:cNvSpPr/>
          <p:nvPr/>
        </p:nvSpPr>
        <p:spPr>
          <a:xfrm>
            <a:off x="-914400" y="-914400"/>
            <a:ext cx="2743200" cy="27432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5607308"/>
            <a:ext cx="3200400" cy="3200400"/>
          </a:xfrm>
          <a:prstGeom prst="ellipse">
            <a:avLst/>
          </a:prstGeom>
          <a:solidFill>
            <a:srgbClr val="E8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1371600"/>
            <a:ext cx="2286000" cy="22860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77240" y="1371600"/>
            <a:ext cx="6409623" cy="4114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219201" y="1371600"/>
            <a:ext cx="144378" cy="4114800"/>
          </a:xfrm>
          <a:prstGeom prst="roundRect">
            <a:avLst/>
          </a:prstGeom>
          <a:solidFill>
            <a:srgbClr val="A29B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1645920"/>
            <a:ext cx="731520" cy="1200329"/>
          </a:xfrm>
          <a:prstGeom prst="rect">
            <a:avLst/>
          </a:prstGeom>
          <a:noFill/>
        </p:spPr>
        <p:txBody>
          <a:bodyPr wrap="square">
            <a:spAutoFit/>
          </a:bodyPr>
          <a:lstStyle/>
          <a:p>
            <a:pPr algn="l">
              <a:defRPr sz="7200" b="1">
                <a:solidFill>
                  <a:srgbClr val="A29BFE"/>
                </a:solidFill>
                <a:latin typeface="Segoe UI"/>
              </a:defRPr>
            </a:pPr>
            <a:r>
              <a:rPr dirty="0"/>
              <a:t>“</a:t>
            </a:r>
          </a:p>
        </p:txBody>
      </p:sp>
      <p:sp>
        <p:nvSpPr>
          <p:cNvPr id="8" name="TextBox 7"/>
          <p:cNvSpPr txBox="1"/>
          <p:nvPr/>
        </p:nvSpPr>
        <p:spPr>
          <a:xfrm>
            <a:off x="1604212" y="2560320"/>
            <a:ext cx="5325978" cy="3046988"/>
          </a:xfrm>
          <a:prstGeom prst="rect">
            <a:avLst/>
          </a:prstGeom>
          <a:noFill/>
        </p:spPr>
        <p:txBody>
          <a:bodyPr wrap="square">
            <a:spAutoFit/>
          </a:bodyPr>
          <a:lstStyle/>
          <a:p>
            <a:pPr algn="l">
              <a:defRPr sz="2400" b="0">
                <a:solidFill>
                  <a:srgbClr val="2D3436"/>
                </a:solidFill>
                <a:latin typeface="Segoe UI"/>
              </a:defRPr>
            </a:pPr>
            <a:r>
              <a:rPr dirty="0"/>
              <a:t>OrdinalGB achieves QWK = 0.6259 (Substantial Agreement) — outperforming all 9 standard classifiers by 8x. The key insight: treating ordinal targets as continuous regression, then rounding, preserves the 0&lt;1&lt;2&lt;3 structure that classifiers discard.</a:t>
            </a:r>
          </a:p>
        </p:txBody>
      </p:sp>
      <p:pic>
        <p:nvPicPr>
          <p:cNvPr id="10" name="Picture 9">
            <a:extLst>
              <a:ext uri="{FF2B5EF4-FFF2-40B4-BE49-F238E27FC236}">
                <a16:creationId xmlns:a16="http://schemas.microsoft.com/office/drawing/2014/main" id="{D000907C-B092-5330-500D-841D1CA9EFA4}"/>
              </a:ext>
            </a:extLst>
          </p:cNvPr>
          <p:cNvPicPr>
            <a:picLocks noChangeAspect="1"/>
          </p:cNvPicPr>
          <p:nvPr/>
        </p:nvPicPr>
        <p:blipFill>
          <a:blip r:embed="rId2"/>
          <a:stretch>
            <a:fillRect/>
          </a:stretch>
        </p:blipFill>
        <p:spPr>
          <a:xfrm>
            <a:off x="7186864" y="1828800"/>
            <a:ext cx="4864928"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F5"/>
        </a:solidFill>
        <a:effectLst/>
      </p:bgPr>
    </p:bg>
    <p:spTree>
      <p:nvGrpSpPr>
        <p:cNvPr id="1" name=""/>
        <p:cNvGrpSpPr/>
        <p:nvPr/>
      </p:nvGrpSpPr>
      <p:grpSpPr>
        <a:xfrm>
          <a:off x="0" y="0"/>
          <a:ext cx="0" cy="0"/>
          <a:chOff x="0" y="0"/>
          <a:chExt cx="0" cy="0"/>
        </a:xfrm>
      </p:grpSpPr>
      <p:sp>
        <p:nvSpPr>
          <p:cNvPr id="2" name="Oval 1"/>
          <p:cNvSpPr/>
          <p:nvPr/>
        </p:nvSpPr>
        <p:spPr>
          <a:xfrm>
            <a:off x="-914400" y="-914400"/>
            <a:ext cx="2743200" cy="27432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5029200"/>
            <a:ext cx="3200400" cy="3200400"/>
          </a:xfrm>
          <a:prstGeom prst="ellipse">
            <a:avLst/>
          </a:prstGeom>
          <a:solidFill>
            <a:srgbClr val="E8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1371600"/>
            <a:ext cx="2286000" cy="22860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7315200" cy="640080"/>
          </a:xfrm>
          <a:prstGeom prst="rect">
            <a:avLst/>
          </a:prstGeom>
          <a:noFill/>
        </p:spPr>
        <p:txBody>
          <a:bodyPr wrap="square">
            <a:spAutoFit/>
          </a:bodyPr>
          <a:lstStyle/>
          <a:p>
            <a:pPr algn="l">
              <a:defRPr sz="3000" b="1">
                <a:solidFill>
                  <a:srgbClr val="2D3436"/>
                </a:solidFill>
                <a:latin typeface="Segoe UI"/>
              </a:defRPr>
            </a:pPr>
            <a:r>
              <a:t>Complete ML Pipeline — 12 Steps</a:t>
            </a:r>
          </a:p>
        </p:txBody>
      </p:sp>
      <p:sp>
        <p:nvSpPr>
          <p:cNvPr id="6" name="Rounded Rectangle 5"/>
          <p:cNvSpPr/>
          <p:nvPr/>
        </p:nvSpPr>
        <p:spPr>
          <a:xfrm>
            <a:off x="731520" y="1051560"/>
            <a:ext cx="1828800" cy="54864"/>
          </a:xfrm>
          <a:prstGeom prst="roundRect">
            <a:avLst/>
          </a:prstGeom>
          <a:solidFill>
            <a:srgbClr val="00B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645920" y="3154680"/>
            <a:ext cx="8869680" cy="54864"/>
          </a:xfrm>
          <a:prstGeom prst="roundRect">
            <a:avLst/>
          </a:prstGeom>
          <a:solidFill>
            <a:srgbClr val="F0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463040" y="2423160"/>
            <a:ext cx="1097280" cy="109728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2697480"/>
            <a:ext cx="1097280" cy="584775"/>
          </a:xfrm>
          <a:prstGeom prst="rect">
            <a:avLst/>
          </a:prstGeom>
          <a:noFill/>
        </p:spPr>
        <p:txBody>
          <a:bodyPr wrap="square">
            <a:spAutoFit/>
          </a:bodyPr>
          <a:lstStyle/>
          <a:p>
            <a:pPr algn="ctr">
              <a:defRPr sz="2800" b="1">
                <a:solidFill>
                  <a:srgbClr val="FF6B6B"/>
                </a:solidFill>
                <a:latin typeface="Segoe UI"/>
              </a:defRPr>
            </a:pPr>
            <a:r>
              <a:rPr sz="3200" dirty="0"/>
              <a:t>01</a:t>
            </a:r>
            <a:endParaRPr dirty="0"/>
          </a:p>
        </p:txBody>
      </p:sp>
      <p:sp>
        <p:nvSpPr>
          <p:cNvPr id="10" name="TextBox 9"/>
          <p:cNvSpPr txBox="1"/>
          <p:nvPr/>
        </p:nvSpPr>
        <p:spPr>
          <a:xfrm>
            <a:off x="1097280" y="3840480"/>
            <a:ext cx="1645920" cy="457200"/>
          </a:xfrm>
          <a:prstGeom prst="rect">
            <a:avLst/>
          </a:prstGeom>
          <a:noFill/>
        </p:spPr>
        <p:txBody>
          <a:bodyPr wrap="square">
            <a:spAutoFit/>
          </a:bodyPr>
          <a:lstStyle/>
          <a:p>
            <a:pPr algn="ctr">
              <a:defRPr sz="1800" b="1">
                <a:solidFill>
                  <a:srgbClr val="2D3436"/>
                </a:solidFill>
                <a:latin typeface="Segoe UI"/>
              </a:defRPr>
            </a:pPr>
            <a:r>
              <a:rPr dirty="0"/>
              <a:t>Data &amp; EDA</a:t>
            </a:r>
          </a:p>
        </p:txBody>
      </p:sp>
      <p:sp>
        <p:nvSpPr>
          <p:cNvPr id="11" name="TextBox 10"/>
          <p:cNvSpPr txBox="1"/>
          <p:nvPr/>
        </p:nvSpPr>
        <p:spPr>
          <a:xfrm>
            <a:off x="914400" y="4297680"/>
            <a:ext cx="2011680" cy="731520"/>
          </a:xfrm>
          <a:prstGeom prst="rect">
            <a:avLst/>
          </a:prstGeom>
          <a:noFill/>
        </p:spPr>
        <p:txBody>
          <a:bodyPr wrap="square">
            <a:spAutoFit/>
          </a:bodyPr>
          <a:lstStyle/>
          <a:p>
            <a:pPr algn="ctr">
              <a:defRPr sz="1300" b="0">
                <a:solidFill>
                  <a:srgbClr val="636E72"/>
                </a:solidFill>
                <a:latin typeface="Segoe UI"/>
              </a:defRPr>
            </a:pPr>
            <a:r>
              <a:rPr dirty="0"/>
              <a:t>CMI-PIU dataset — EDA, distributions, correlations, class imbalance analysis</a:t>
            </a:r>
          </a:p>
        </p:txBody>
      </p:sp>
      <p:sp>
        <p:nvSpPr>
          <p:cNvPr id="12" name="Oval 11"/>
          <p:cNvSpPr/>
          <p:nvPr/>
        </p:nvSpPr>
        <p:spPr>
          <a:xfrm>
            <a:off x="3977639" y="2441227"/>
            <a:ext cx="1097280" cy="1097280"/>
          </a:xfrm>
          <a:prstGeom prst="ellipse">
            <a:avLst/>
          </a:prstGeom>
          <a:solidFill>
            <a:srgbClr val="A29B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77639" y="2697480"/>
            <a:ext cx="1097280" cy="731520"/>
          </a:xfrm>
          <a:prstGeom prst="rect">
            <a:avLst/>
          </a:prstGeom>
          <a:noFill/>
        </p:spPr>
        <p:txBody>
          <a:bodyPr wrap="square">
            <a:spAutoFit/>
          </a:bodyPr>
          <a:lstStyle/>
          <a:p>
            <a:pPr algn="ctr">
              <a:defRPr sz="2800" b="1">
                <a:solidFill>
                  <a:srgbClr val="A29BFE"/>
                </a:solidFill>
                <a:latin typeface="Segoe UI"/>
              </a:defRPr>
            </a:pPr>
            <a:r>
              <a:rPr dirty="0"/>
              <a:t>02</a:t>
            </a:r>
          </a:p>
        </p:txBody>
      </p:sp>
      <p:sp>
        <p:nvSpPr>
          <p:cNvPr id="14" name="TextBox 13"/>
          <p:cNvSpPr txBox="1"/>
          <p:nvPr/>
        </p:nvSpPr>
        <p:spPr>
          <a:xfrm>
            <a:off x="3703319" y="3840480"/>
            <a:ext cx="1645920" cy="457200"/>
          </a:xfrm>
          <a:prstGeom prst="rect">
            <a:avLst/>
          </a:prstGeom>
          <a:noFill/>
        </p:spPr>
        <p:txBody>
          <a:bodyPr wrap="square">
            <a:spAutoFit/>
          </a:bodyPr>
          <a:lstStyle/>
          <a:p>
            <a:pPr algn="ctr">
              <a:defRPr sz="1800" b="1">
                <a:solidFill>
                  <a:srgbClr val="2D3436"/>
                </a:solidFill>
                <a:latin typeface="Segoe UI"/>
              </a:defRPr>
            </a:pPr>
            <a:r>
              <a:rPr dirty="0"/>
              <a:t>Preprocess</a:t>
            </a:r>
          </a:p>
        </p:txBody>
      </p:sp>
      <p:sp>
        <p:nvSpPr>
          <p:cNvPr id="15" name="TextBox 14"/>
          <p:cNvSpPr txBox="1"/>
          <p:nvPr/>
        </p:nvSpPr>
        <p:spPr>
          <a:xfrm>
            <a:off x="3520439" y="4297680"/>
            <a:ext cx="2011680" cy="731520"/>
          </a:xfrm>
          <a:prstGeom prst="rect">
            <a:avLst/>
          </a:prstGeom>
          <a:noFill/>
        </p:spPr>
        <p:txBody>
          <a:bodyPr wrap="square">
            <a:spAutoFit/>
          </a:bodyPr>
          <a:lstStyle/>
          <a:p>
            <a:pPr algn="ctr">
              <a:defRPr sz="1300" b="0">
                <a:solidFill>
                  <a:srgbClr val="636E72"/>
                </a:solidFill>
                <a:latin typeface="Segoe UI"/>
              </a:defRPr>
            </a:pPr>
            <a:r>
              <a:t>Encode, impute, remove missing targets → 2,173 rows × 17 features</a:t>
            </a:r>
          </a:p>
        </p:txBody>
      </p:sp>
      <p:sp>
        <p:nvSpPr>
          <p:cNvPr id="16" name="Oval 15"/>
          <p:cNvSpPr/>
          <p:nvPr/>
        </p:nvSpPr>
        <p:spPr>
          <a:xfrm>
            <a:off x="6583680" y="2446040"/>
            <a:ext cx="1097280" cy="1097280"/>
          </a:xfrm>
          <a:prstGeom prst="ellipse">
            <a:avLst/>
          </a:prstGeom>
          <a:solidFill>
            <a:srgbClr val="FF8E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2697480"/>
            <a:ext cx="1097280" cy="731520"/>
          </a:xfrm>
          <a:prstGeom prst="rect">
            <a:avLst/>
          </a:prstGeom>
          <a:noFill/>
        </p:spPr>
        <p:txBody>
          <a:bodyPr wrap="square">
            <a:spAutoFit/>
          </a:bodyPr>
          <a:lstStyle/>
          <a:p>
            <a:pPr algn="ctr">
              <a:defRPr sz="2800" b="1">
                <a:solidFill>
                  <a:srgbClr val="FF8E53"/>
                </a:solidFill>
                <a:latin typeface="Segoe UI"/>
              </a:defRPr>
            </a:pPr>
            <a:r>
              <a:t>03</a:t>
            </a:r>
          </a:p>
        </p:txBody>
      </p:sp>
      <p:sp>
        <p:nvSpPr>
          <p:cNvPr id="18" name="TextBox 17"/>
          <p:cNvSpPr txBox="1"/>
          <p:nvPr/>
        </p:nvSpPr>
        <p:spPr>
          <a:xfrm>
            <a:off x="6309360" y="3840480"/>
            <a:ext cx="1645920" cy="457200"/>
          </a:xfrm>
          <a:prstGeom prst="rect">
            <a:avLst/>
          </a:prstGeom>
          <a:noFill/>
        </p:spPr>
        <p:txBody>
          <a:bodyPr wrap="square">
            <a:spAutoFit/>
          </a:bodyPr>
          <a:lstStyle/>
          <a:p>
            <a:pPr algn="ctr">
              <a:defRPr sz="1800" b="1">
                <a:solidFill>
                  <a:srgbClr val="2D3436"/>
                </a:solidFill>
                <a:latin typeface="Segoe UI"/>
              </a:defRPr>
            </a:pPr>
            <a:r>
              <a:rPr dirty="0"/>
              <a:t>Model &amp; Train</a:t>
            </a:r>
          </a:p>
        </p:txBody>
      </p:sp>
      <p:sp>
        <p:nvSpPr>
          <p:cNvPr id="19" name="TextBox 18"/>
          <p:cNvSpPr txBox="1"/>
          <p:nvPr/>
        </p:nvSpPr>
        <p:spPr>
          <a:xfrm>
            <a:off x="6181344" y="4325112"/>
            <a:ext cx="2011680" cy="830997"/>
          </a:xfrm>
          <a:prstGeom prst="rect">
            <a:avLst/>
          </a:prstGeom>
          <a:noFill/>
        </p:spPr>
        <p:txBody>
          <a:bodyPr wrap="square">
            <a:spAutoFit/>
          </a:bodyPr>
          <a:lstStyle/>
          <a:p>
            <a:pPr algn="ctr">
              <a:defRPr sz="1300" b="0">
                <a:solidFill>
                  <a:srgbClr val="636E72"/>
                </a:solidFill>
                <a:latin typeface="Segoe UI"/>
              </a:defRPr>
            </a:pPr>
            <a:r>
              <a:rPr sz="1200" dirty="0"/>
              <a:t>Engineer 5 features; OrdinalGB (300 trees, depth=4, </a:t>
            </a:r>
            <a:r>
              <a:rPr sz="1200" dirty="0" err="1"/>
              <a:t>lr</a:t>
            </a:r>
            <a:r>
              <a:rPr sz="1200" dirty="0"/>
              <a:t>=0.05); 5-fold CV QWK = 0.6259</a:t>
            </a:r>
          </a:p>
        </p:txBody>
      </p:sp>
      <p:sp>
        <p:nvSpPr>
          <p:cNvPr id="20" name="Oval 19"/>
          <p:cNvSpPr/>
          <p:nvPr/>
        </p:nvSpPr>
        <p:spPr>
          <a:xfrm>
            <a:off x="9189720" y="2331720"/>
            <a:ext cx="1097280" cy="1097280"/>
          </a:xfrm>
          <a:prstGeom prst="ellipse">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89720" y="2697480"/>
            <a:ext cx="1097280" cy="731520"/>
          </a:xfrm>
          <a:prstGeom prst="rect">
            <a:avLst/>
          </a:prstGeom>
          <a:noFill/>
        </p:spPr>
        <p:txBody>
          <a:bodyPr wrap="square">
            <a:spAutoFit/>
          </a:bodyPr>
          <a:lstStyle/>
          <a:p>
            <a:pPr algn="ctr">
              <a:defRPr sz="2800" b="1">
                <a:solidFill>
                  <a:srgbClr val="00B894"/>
                </a:solidFill>
                <a:latin typeface="Segoe UI"/>
              </a:defRPr>
            </a:pPr>
            <a:r>
              <a:rPr dirty="0"/>
              <a:t>04</a:t>
            </a:r>
          </a:p>
        </p:txBody>
      </p:sp>
      <p:sp>
        <p:nvSpPr>
          <p:cNvPr id="22" name="TextBox 21"/>
          <p:cNvSpPr txBox="1"/>
          <p:nvPr/>
        </p:nvSpPr>
        <p:spPr>
          <a:xfrm>
            <a:off x="8915400" y="3840480"/>
            <a:ext cx="1645920" cy="457200"/>
          </a:xfrm>
          <a:prstGeom prst="rect">
            <a:avLst/>
          </a:prstGeom>
          <a:noFill/>
        </p:spPr>
        <p:txBody>
          <a:bodyPr wrap="square">
            <a:spAutoFit/>
          </a:bodyPr>
          <a:lstStyle/>
          <a:p>
            <a:pPr algn="ctr">
              <a:defRPr sz="1800" b="1">
                <a:solidFill>
                  <a:srgbClr val="2D3436"/>
                </a:solidFill>
                <a:latin typeface="Segoe UI"/>
              </a:defRPr>
            </a:pPr>
            <a:r>
              <a:t>Evaluate &amp; Deploy</a:t>
            </a:r>
          </a:p>
        </p:txBody>
      </p:sp>
      <p:sp>
        <p:nvSpPr>
          <p:cNvPr id="23" name="TextBox 22"/>
          <p:cNvSpPr txBox="1"/>
          <p:nvPr/>
        </p:nvSpPr>
        <p:spPr>
          <a:xfrm>
            <a:off x="8732520" y="4416552"/>
            <a:ext cx="2011680" cy="830997"/>
          </a:xfrm>
          <a:prstGeom prst="rect">
            <a:avLst/>
          </a:prstGeom>
          <a:noFill/>
        </p:spPr>
        <p:txBody>
          <a:bodyPr wrap="square">
            <a:spAutoFit/>
          </a:bodyPr>
          <a:lstStyle/>
          <a:p>
            <a:pPr algn="ctr">
              <a:defRPr sz="1300" b="0">
                <a:solidFill>
                  <a:srgbClr val="636E72"/>
                </a:solidFill>
                <a:latin typeface="Segoe UI"/>
              </a:defRPr>
            </a:pPr>
            <a:r>
              <a:rPr sz="1200" dirty="0"/>
              <a:t>Holdout QWK=0.6244; save </a:t>
            </a:r>
            <a:r>
              <a:rPr sz="1200" dirty="0" err="1"/>
              <a:t>best_model.pkl</a:t>
            </a:r>
            <a:r>
              <a:rPr sz="1200" dirty="0"/>
              <a:t>; predict risk for new children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5F0"/>
            </a:gs>
            <a:gs pos="100000">
              <a:srgbClr val="E8E5FF"/>
            </a:gs>
          </a:gsLst>
          <a:lin scaled="0"/>
        </a:gradFill>
        <a:effectLst/>
      </p:bgPr>
    </p:bg>
    <p:spTree>
      <p:nvGrpSpPr>
        <p:cNvPr id="1" name=""/>
        <p:cNvGrpSpPr/>
        <p:nvPr/>
      </p:nvGrpSpPr>
      <p:grpSpPr>
        <a:xfrm>
          <a:off x="0" y="0"/>
          <a:ext cx="0" cy="0"/>
          <a:chOff x="0" y="0"/>
          <a:chExt cx="0" cy="0"/>
        </a:xfrm>
      </p:grpSpPr>
      <p:sp>
        <p:nvSpPr>
          <p:cNvPr id="2" name="Oval 1"/>
          <p:cNvSpPr/>
          <p:nvPr/>
        </p:nvSpPr>
        <p:spPr>
          <a:xfrm>
            <a:off x="-914400" y="-914400"/>
            <a:ext cx="2743200" cy="27432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5029200"/>
            <a:ext cx="3200400" cy="3200400"/>
          </a:xfrm>
          <a:prstGeom prst="ellipse">
            <a:avLst/>
          </a:prstGeom>
          <a:solidFill>
            <a:srgbClr val="E8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1371600"/>
            <a:ext cx="2286000" cy="2286000"/>
          </a:xfrm>
          <a:prstGeom prst="ellipse">
            <a:avLst/>
          </a:prstGeom>
          <a:solidFill>
            <a:srgbClr val="FE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1828800"/>
            <a:ext cx="12191695" cy="1097280"/>
          </a:xfrm>
          <a:prstGeom prst="rect">
            <a:avLst/>
          </a:prstGeom>
          <a:noFill/>
        </p:spPr>
        <p:txBody>
          <a:bodyPr wrap="square">
            <a:spAutoFit/>
          </a:bodyPr>
          <a:lstStyle/>
          <a:p>
            <a:pPr algn="ctr">
              <a:defRPr sz="5200" b="1">
                <a:solidFill>
                  <a:srgbClr val="2D3436"/>
                </a:solidFill>
                <a:latin typeface="Segoe UI"/>
              </a:defRPr>
            </a:pPr>
            <a:r>
              <a:t>NurtureAI — OrdinalGB</a:t>
            </a:r>
          </a:p>
        </p:txBody>
      </p:sp>
      <p:sp>
        <p:nvSpPr>
          <p:cNvPr id="6" name="TextBox 5"/>
          <p:cNvSpPr txBox="1"/>
          <p:nvPr/>
        </p:nvSpPr>
        <p:spPr>
          <a:xfrm>
            <a:off x="0" y="3200400"/>
            <a:ext cx="12191695" cy="548640"/>
          </a:xfrm>
          <a:prstGeom prst="rect">
            <a:avLst/>
          </a:prstGeom>
          <a:noFill/>
        </p:spPr>
        <p:txBody>
          <a:bodyPr wrap="square">
            <a:spAutoFit/>
          </a:bodyPr>
          <a:lstStyle/>
          <a:p>
            <a:pPr algn="ctr">
              <a:defRPr sz="2200" b="0">
                <a:solidFill>
                  <a:srgbClr val="636E72"/>
                </a:solidFill>
                <a:latin typeface="Segoe UI"/>
              </a:defRPr>
            </a:pPr>
            <a:r>
              <a:t>QWK = 0.6259 — Substantial Agreement. Ready for Viva.</a:t>
            </a:r>
          </a:p>
        </p:txBody>
      </p:sp>
      <p:sp>
        <p:nvSpPr>
          <p:cNvPr id="7" name="TextBox 6"/>
          <p:cNvSpPr txBox="1"/>
          <p:nvPr/>
        </p:nvSpPr>
        <p:spPr>
          <a:xfrm>
            <a:off x="0" y="4114800"/>
            <a:ext cx="12191695" cy="457200"/>
          </a:xfrm>
          <a:prstGeom prst="rect">
            <a:avLst/>
          </a:prstGeom>
          <a:noFill/>
        </p:spPr>
        <p:txBody>
          <a:bodyPr wrap="square">
            <a:spAutoFit/>
          </a:bodyPr>
          <a:lstStyle/>
          <a:p>
            <a:pPr algn="ctr">
              <a:defRPr sz="1400" b="0">
                <a:solidFill>
                  <a:srgbClr val="B2BEC3"/>
                </a:solidFill>
                <a:latin typeface="Segoe UI"/>
              </a:defRPr>
            </a:pPr>
            <a:r>
              <a:t>CMI-PIU Dataset  |  OrdinalGB Pipeline  |  May 2026</a:t>
            </a:r>
          </a:p>
        </p:txBody>
      </p:sp>
      <p:sp>
        <p:nvSpPr>
          <p:cNvPr id="8" name="Oval 7"/>
          <p:cNvSpPr/>
          <p:nvPr/>
        </p:nvSpPr>
        <p:spPr>
          <a:xfrm>
            <a:off x="5029200" y="5029200"/>
            <a:ext cx="1828800" cy="182880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400800" y="5303520"/>
            <a:ext cx="1371600" cy="1371600"/>
          </a:xfrm>
          <a:prstGeom prst="ellipse">
            <a:avLst/>
          </a:prstGeom>
          <a:solidFill>
            <a:srgbClr val="A29B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TotalTime>
  <Words>732</Words>
  <Application>Microsoft Office PowerPoint</Application>
  <PresentationFormat>Widescreen</PresentationFormat>
  <Paragraphs>60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Vanshika Choudhary</dc:creator>
  <cp:keywords/>
  <dc:description>generated using python-pptx</dc:description>
  <cp:lastModifiedBy>Vanshika Choudhary</cp:lastModifiedBy>
  <cp:revision>8</cp:revision>
  <dcterms:created xsi:type="dcterms:W3CDTF">2013-01-27T09:14:16Z</dcterms:created>
  <dcterms:modified xsi:type="dcterms:W3CDTF">2026-05-05T05:59:25Z</dcterms:modified>
  <cp:category/>
</cp:coreProperties>
</file>