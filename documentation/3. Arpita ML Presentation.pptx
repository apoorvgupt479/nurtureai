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18"/>
    <p:sldId id="268" r:id="rId19"/>
    <p:sldId id="269" r:id="rId20"/>
    <p:sldId id="270" r:id="rId21"/>
    <p:sldId id="259" r:id="rId5"/>
    <p:sldId id="260" r:id="rId6"/>
    <p:sldId id="271" r:id="rId22"/>
    <p:sldId id="261" r:id="rId7"/>
    <p:sldId id="272" r:id="rId23"/>
    <p:sldId id="273" r:id="rId24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F47B6E">
              <a:alpha val="25000"/>
            </a:srgbClr>
          </a:solidFill>
          <a:ln w="12700">
            <a:solidFill>
              <a:srgbClr val="F47B6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657600"/>
            <a:ext cx="1645920" cy="1645920"/>
          </a:xfrm>
          <a:prstGeom prst="ellipse">
            <a:avLst/>
          </a:prstGeom>
          <a:solidFill>
            <a:srgbClr val="9B8FE0">
              <a:alpha val="30000"/>
            </a:srgbClr>
          </a:solidFill>
          <a:ln w="12700">
            <a:solidFill>
              <a:srgbClr val="9B8FE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474720"/>
            <a:ext cx="1280160" cy="1280160"/>
          </a:xfrm>
          <a:prstGeom prst="ellipse">
            <a:avLst/>
          </a:prstGeom>
          <a:solidFill>
            <a:srgbClr val="4BBFA3">
              <a:alpha val="20000"/>
            </a:srgbClr>
          </a:solidFill>
          <a:ln w="12700">
            <a:solidFill>
              <a:srgbClr val="4BBFA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47B6E"/>
                </a:solidFill>
              </a:rPr>
              <a:t>MACHINE LEARNING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Child Survival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Prediction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C7E8"/>
                </a:solidFill>
              </a:rPr>
              <a:t>Complete ML Implementation Plan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9C7E8"/>
                </a:solidFill>
              </a:rPr>
              <a:t>NFHS-5 Dataset · Logistic Regression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5AA"/>
                </a:solidFill>
              </a:rPr>
              <a:t>ML Implementation Plan  |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5C9C5">
              <a:alpha val="40000"/>
            </a:srgbClr>
          </a:solidFill>
          <a:ln w="12700">
            <a:solidFill>
              <a:srgbClr val="F5C9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D6D2F5">
              <a:alpha val="40000"/>
            </a:srgbClr>
          </a:solidFill>
          <a:ln w="12700">
            <a:solidFill>
              <a:srgbClr val="D6D2F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1371600" cy="1371600"/>
          </a:xfrm>
          <a:prstGeom prst="ellipse">
            <a:avLst/>
          </a:prstGeom>
          <a:solidFill>
            <a:srgbClr val="C2EFE4">
              <a:alpha val="45000"/>
            </a:srgbClr>
          </a:solidFill>
          <a:ln w="12700">
            <a:solidFill>
              <a:srgbClr val="C2EFE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274320"/>
            <a:ext cx="1097280" cy="1097280"/>
          </a:xfrm>
          <a:prstGeom prst="ellipse">
            <a:avLst/>
          </a:prstGeom>
          <a:solidFill>
            <a:srgbClr val="FAD9C2">
              <a:alpha val="45000"/>
            </a:srgbClr>
          </a:solidFill>
          <a:ln w="12700">
            <a:solidFill>
              <a:srgbClr val="FAD9C2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7B6E"/>
                </a:solidFill>
              </a:rPr>
              <a:t>SECTION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B55"/>
                </a:solidFill>
              </a:rPr>
              <a:t>Implementation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2D2B55"/>
                </a:solidFill>
              </a:rPr>
              <a:t>Roadmap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5A7A"/>
                </a:solidFill>
              </a:rPr>
              <a:t>12-step pipeline from raw data to insights.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5A7A"/>
                </a:solidFill>
              </a:rPr>
              <a:t>Following the model built on the NFHS-5 dataset.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1005840" cy="347472"/>
          </a:xfrm>
          <a:prstGeom prst="roundRect">
            <a:avLst>
              <a:gd name="adj" fmla="val 23684"/>
            </a:avLst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14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4288536"/>
            <a:ext cx="182880" cy="0"/>
          </a:xfrm>
          <a:prstGeom prst="line">
            <a:avLst/>
          </a:prstGeom>
          <a:noFill/>
          <a:ln w="15240">
            <a:solidFill>
              <a:srgbClr val="9896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83664" y="4114800"/>
            <a:ext cx="1005840" cy="347472"/>
          </a:xfrm>
          <a:prstGeom prst="roundRect">
            <a:avLst>
              <a:gd name="adj" fmla="val 23684"/>
            </a:avLst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3664" y="4114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EDA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89504" y="4288536"/>
            <a:ext cx="182880" cy="0"/>
          </a:xfrm>
          <a:prstGeom prst="line">
            <a:avLst/>
          </a:prstGeom>
          <a:noFill/>
          <a:ln w="15240">
            <a:solidFill>
              <a:srgbClr val="9896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7248" y="4114800"/>
            <a:ext cx="1005840" cy="347472"/>
          </a:xfrm>
          <a:prstGeom prst="roundRect">
            <a:avLst>
              <a:gd name="adj" fmla="val 23684"/>
            </a:avLst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4114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Preprocess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33088" y="4288536"/>
            <a:ext cx="182880" cy="0"/>
          </a:xfrm>
          <a:prstGeom prst="line">
            <a:avLst/>
          </a:prstGeom>
          <a:noFill/>
          <a:ln w="15240">
            <a:solidFill>
              <a:srgbClr val="9896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0832" y="4114800"/>
            <a:ext cx="1005840" cy="347472"/>
          </a:xfrm>
          <a:prstGeom prst="roundRect">
            <a:avLst>
              <a:gd name="adj" fmla="val 23684"/>
            </a:avLst>
          </a:prstGeom>
          <a:solidFill>
            <a:srgbClr val="F5A55A"/>
          </a:solidFill>
          <a:ln w="12700">
            <a:solidFill>
              <a:srgbClr val="F5A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0832" y="4114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76672" y="4288536"/>
            <a:ext cx="182880" cy="0"/>
          </a:xfrm>
          <a:prstGeom prst="line">
            <a:avLst/>
          </a:prstGeom>
          <a:noFill/>
          <a:ln w="15240">
            <a:solidFill>
              <a:srgbClr val="9896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14416" y="4114800"/>
            <a:ext cx="1005840" cy="347472"/>
          </a:xfrm>
          <a:prstGeom prst="roundRect">
            <a:avLst>
              <a:gd name="adj" fmla="val 23684"/>
            </a:avLst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14416" y="4114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20256" y="4288536"/>
            <a:ext cx="182880" cy="0"/>
          </a:xfrm>
          <a:prstGeom prst="line">
            <a:avLst/>
          </a:prstGeom>
          <a:noFill/>
          <a:ln w="15240">
            <a:solidFill>
              <a:srgbClr val="9896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4114800"/>
            <a:ext cx="1005840" cy="347472"/>
          </a:xfrm>
          <a:prstGeom prst="roundRect">
            <a:avLst>
              <a:gd name="adj" fmla="val 23684"/>
            </a:avLst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4114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863840" y="4288536"/>
            <a:ext cx="182880" cy="0"/>
          </a:xfrm>
          <a:prstGeom prst="line">
            <a:avLst/>
          </a:prstGeom>
          <a:noFill/>
          <a:ln w="15240">
            <a:solidFill>
              <a:srgbClr val="9896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1584" y="4114800"/>
            <a:ext cx="1005840" cy="347472"/>
          </a:xfrm>
          <a:prstGeom prst="roundRect">
            <a:avLst>
              <a:gd name="adj" fmla="val 23684"/>
            </a:avLst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01584" y="41148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5C9C5">
              <a:alpha val="40000"/>
            </a:srgbClr>
          </a:solidFill>
          <a:ln w="12700">
            <a:solidFill>
              <a:srgbClr val="F5C9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D6D2F5">
              <a:alpha val="40000"/>
            </a:srgbClr>
          </a:solidFill>
          <a:ln w="12700">
            <a:solidFill>
              <a:srgbClr val="D6D2F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1371600" cy="1371600"/>
          </a:xfrm>
          <a:prstGeom prst="ellipse">
            <a:avLst/>
          </a:prstGeom>
          <a:solidFill>
            <a:srgbClr val="C2EFE4">
              <a:alpha val="45000"/>
            </a:srgbClr>
          </a:solidFill>
          <a:ln w="12700">
            <a:solidFill>
              <a:srgbClr val="C2EFE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274320"/>
            <a:ext cx="1097280" cy="1097280"/>
          </a:xfrm>
          <a:prstGeom prst="ellipse">
            <a:avLst/>
          </a:prstGeom>
          <a:solidFill>
            <a:srgbClr val="FAD9C2">
              <a:alpha val="45000"/>
            </a:srgbClr>
          </a:solidFill>
          <a:ln w="12700">
            <a:solidFill>
              <a:srgbClr val="FAD9C2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B55"/>
                </a:solidFill>
              </a:rPr>
              <a:t>Step 1 &amp; 2: Dataset + Objective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E0D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51560"/>
            <a:ext cx="502920" cy="502920"/>
          </a:xfrm>
          <a:prstGeom prst="ellipse">
            <a:avLst/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33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789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B55"/>
                </a:solidFill>
              </a:rPr>
              <a:t>Dataset Understanding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NFHS-5 dataset: maternal &amp; household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Target: ChildAlive (binary: 0 = At Risk, 1 = Alive)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Features: maternal age, State, household conditions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Numerical &amp; categorical features identified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One-hot encoding applied to 'State' column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Check missing values &amp; duplicates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66160" cy="685800"/>
          </a:xfrm>
          <a:prstGeom prst="rect">
            <a:avLst/>
          </a:prstGeom>
          <a:solidFill>
            <a:srgbClr val="EEF6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947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8FE0"/>
                </a:solidFill>
              </a:rPr>
              <a:t>Output: "Dataset has multiple features targeting child survival with class imbalance"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51560"/>
            <a:ext cx="502920" cy="502920"/>
          </a:xfrm>
          <a:prstGeom prst="ellipse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033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10789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B55"/>
                </a:solidFill>
              </a:rPr>
              <a:t>Define Objective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BFA3"/>
                </a:solidFill>
              </a:rPr>
              <a:t>Classification Task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965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A7A"/>
                </a:solidFill>
              </a:rPr>
              <a:t>Predict whether a child is </a:t>
            </a:r>
            <a:pPr indent="0" marL="0">
              <a:buNone/>
            </a:pPr>
            <a:r>
              <a:rPr lang="en-US" sz="1100" b="1" dirty="0">
                <a:solidFill>
                  <a:srgbClr val="5C5A7A"/>
                </a:solidFill>
              </a:rPr>
              <a:t>At Risk (0) or Alive (1)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5A7A"/>
                </a:solidFill>
              </a:rPr>
              <a:t>using maternal &amp; household indicators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BFA3"/>
                </a:solidFill>
              </a:rPr>
              <a:t>Model Used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1089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Logistic Regression (primary)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Interpretable coefficients for health insight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SelectFromModel for feature pruning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LLM-integrated recommendation output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4206240"/>
            <a:ext cx="3749040" cy="320040"/>
          </a:xfrm>
          <a:prstGeom prst="rect">
            <a:avLst/>
          </a:prstGeom>
          <a:solidFill>
            <a:srgbClr val="EEF6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2245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8FE0"/>
                </a:solidFill>
              </a:rPr>
              <a:t>Goal: "Predict child survival + personalized health recommendations"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5C9C5">
              <a:alpha val="40000"/>
            </a:srgbClr>
          </a:solidFill>
          <a:ln w="12700">
            <a:solidFill>
              <a:srgbClr val="F5C9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D6D2F5">
              <a:alpha val="40000"/>
            </a:srgbClr>
          </a:solidFill>
          <a:ln w="12700">
            <a:solidFill>
              <a:srgbClr val="D6D2F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1371600" cy="1371600"/>
          </a:xfrm>
          <a:prstGeom prst="ellipse">
            <a:avLst/>
          </a:prstGeom>
          <a:solidFill>
            <a:srgbClr val="C2EFE4">
              <a:alpha val="45000"/>
            </a:srgbClr>
          </a:solidFill>
          <a:ln w="12700">
            <a:solidFill>
              <a:srgbClr val="C2EFE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274320"/>
            <a:ext cx="1097280" cy="1097280"/>
          </a:xfrm>
          <a:prstGeom prst="ellipse">
            <a:avLst/>
          </a:prstGeom>
          <a:solidFill>
            <a:srgbClr val="FAD9C2">
              <a:alpha val="45000"/>
            </a:srgbClr>
          </a:solidFill>
          <a:ln w="12700">
            <a:solidFill>
              <a:srgbClr val="FAD9C2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B55"/>
                </a:solidFill>
              </a:rPr>
              <a:t>Step 3: Exploratory Data Analysis (EDA)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E0D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2743200" cy="109728"/>
          </a:xfrm>
          <a:prstGeom prst="rect">
            <a:avLst/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B55"/>
                </a:solidFill>
              </a:rPr>
              <a:t>Distribution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Histograms for numerical features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BoxPlots to spot outliers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Target class balance check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ChildAlive: ~99% alive (imbalanced)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914400"/>
            <a:ext cx="2743200" cy="109728"/>
          </a:xfrm>
          <a:prstGeom prst="rect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B55"/>
                </a:solidFill>
              </a:rPr>
              <a:t>Correlation Matrix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1031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Feature-feature correlations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Feature-target relationships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Identify redundant features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Guides feature selection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914400"/>
            <a:ext cx="2743200" cy="109728"/>
          </a:xfrm>
          <a:prstGeom prst="rect">
            <a:avLst/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B55"/>
                </a:solidFill>
              </a:rPr>
              <a:t>Key Observations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21031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Class imbalance: 99% class 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State is categorical (36+ values)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Maternal age is numerical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C5A7A"/>
                </a:solidFill>
              </a:rPr>
              <a:t>Some features have low variance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FFF0EE"/>
          </a:solidFill>
          <a:ln w="12700">
            <a:solidFill>
              <a:srgbClr val="F5C4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7B6E"/>
                </a:solidFill>
              </a:rPr>
              <a:t>Output: "High variance in State feature; maternal age &amp; birth order are key predictors. Class imbalance must be addressed."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5C9C5">
              <a:alpha val="40000"/>
            </a:srgbClr>
          </a:solidFill>
          <a:ln w="12700">
            <a:solidFill>
              <a:srgbClr val="F5C9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D6D2F5">
              <a:alpha val="40000"/>
            </a:srgbClr>
          </a:solidFill>
          <a:ln w="12700">
            <a:solidFill>
              <a:srgbClr val="D6D2F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1371600" cy="1371600"/>
          </a:xfrm>
          <a:prstGeom prst="ellipse">
            <a:avLst/>
          </a:prstGeom>
          <a:solidFill>
            <a:srgbClr val="C2EFE4">
              <a:alpha val="45000"/>
            </a:srgbClr>
          </a:solidFill>
          <a:ln w="12700">
            <a:solidFill>
              <a:srgbClr val="C2EFE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274320"/>
            <a:ext cx="1097280" cy="1097280"/>
          </a:xfrm>
          <a:prstGeom prst="ellipse">
            <a:avLst/>
          </a:prstGeom>
          <a:solidFill>
            <a:srgbClr val="FAD9C2">
              <a:alpha val="45000"/>
            </a:srgbClr>
          </a:solidFill>
          <a:ln w="12700">
            <a:solidFill>
              <a:srgbClr val="FAD9C2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B55"/>
                </a:solidFill>
              </a:rPr>
              <a:t>Step 4: Data Preprocessing Pipeline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E0D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97280"/>
            <a:ext cx="502920" cy="502920"/>
          </a:xfrm>
          <a:prstGeom prst="ellipse">
            <a:avLst/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124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B55"/>
                </a:solidFill>
              </a:rPr>
              <a:t>Separate Target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600200"/>
            <a:ext cx="3794760" cy="868680"/>
          </a:xfrm>
          <a:prstGeom prst="rect">
            <a:avLst/>
          </a:prstGeom>
          <a:solidFill>
            <a:srgbClr val="F0EEF8"/>
          </a:solidFill>
          <a:ln w="12700">
            <a:solidFill>
              <a:srgbClr val="D8D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4592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df.drop('ChildAlive')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df['ChildAlive']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097280"/>
            <a:ext cx="502920" cy="502920"/>
          </a:xfrm>
          <a:prstGeom prst="ellipse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04688" y="11247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B55"/>
                </a:solidFill>
              </a:rPr>
              <a:t>Encode Categorical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1600200"/>
            <a:ext cx="3794760" cy="868680"/>
          </a:xfrm>
          <a:prstGeom prst="rect">
            <a:avLst/>
          </a:prstGeom>
          <a:solidFill>
            <a:srgbClr val="F0EEF8"/>
          </a:solidFill>
          <a:ln w="12700">
            <a:solidFill>
              <a:srgbClr val="D8D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64592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pd.get_dummies(X, columns=['State'])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One-hot encoding → 36+ binary columns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017520"/>
            <a:ext cx="502920" cy="502920"/>
          </a:xfrm>
          <a:prstGeom prst="ellipse">
            <a:avLst/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0449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B55"/>
                </a:solidFill>
              </a:rPr>
              <a:t>Train-Test Split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520440"/>
            <a:ext cx="3794760" cy="868680"/>
          </a:xfrm>
          <a:prstGeom prst="rect">
            <a:avLst/>
          </a:prstGeom>
          <a:solidFill>
            <a:srgbClr val="F0EEF8"/>
          </a:solidFill>
          <a:ln w="12700">
            <a:solidFill>
              <a:srgbClr val="D8D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5661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80/20 split · stratify=y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Preserves class distribution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017520"/>
            <a:ext cx="502920" cy="502920"/>
          </a:xfrm>
          <a:prstGeom prst="ellipse">
            <a:avLst/>
          </a:prstGeom>
          <a:solidFill>
            <a:srgbClr val="F5A55A"/>
          </a:solidFill>
          <a:ln w="12700">
            <a:solidFill>
              <a:srgbClr val="F5A5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04688" y="30449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B55"/>
                </a:solidFill>
              </a:rPr>
              <a:t>Feature Selection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92040" y="3520440"/>
            <a:ext cx="3794760" cy="868680"/>
          </a:xfrm>
          <a:prstGeom prst="rect">
            <a:avLst/>
          </a:prstGeom>
          <a:solidFill>
            <a:srgbClr val="F0EEF8"/>
          </a:solidFill>
          <a:ln w="12700">
            <a:solidFill>
              <a:srgbClr val="D8D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56616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SelectFromModel with LogisticRegression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8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Prunes to top ~30-40 features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solidFill>
            <a:srgbClr val="EEFAF6"/>
          </a:solidFill>
          <a:ln w="12700">
            <a:solidFill>
              <a:srgbClr val="B8E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8737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BFA3"/>
                </a:solidFill>
              </a:rPr>
              <a:t>Output: Clean dataset with selected features, ready for Logistic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5C9C5">
              <a:alpha val="40000"/>
            </a:srgbClr>
          </a:solidFill>
          <a:ln w="12700">
            <a:solidFill>
              <a:srgbClr val="F5C9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D6D2F5">
              <a:alpha val="40000"/>
            </a:srgbClr>
          </a:solidFill>
          <a:ln w="12700">
            <a:solidFill>
              <a:srgbClr val="D6D2F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1371600" cy="1371600"/>
          </a:xfrm>
          <a:prstGeom prst="ellipse">
            <a:avLst/>
          </a:prstGeom>
          <a:solidFill>
            <a:srgbClr val="C2EFE4">
              <a:alpha val="45000"/>
            </a:srgbClr>
          </a:solidFill>
          <a:ln w="12700">
            <a:solidFill>
              <a:srgbClr val="C2EFE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274320"/>
            <a:ext cx="1097280" cy="1097280"/>
          </a:xfrm>
          <a:prstGeom prst="ellipse">
            <a:avLst/>
          </a:prstGeom>
          <a:solidFill>
            <a:srgbClr val="FAD9C2">
              <a:alpha val="45000"/>
            </a:srgbClr>
          </a:solidFill>
          <a:ln w="12700">
            <a:solidFill>
              <a:srgbClr val="FAD9C2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B55"/>
                </a:solidFill>
              </a:rPr>
              <a:t>Step 5 &amp; 6: Model Selection &amp; Comparison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E0D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4754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4754880" cy="109728"/>
          </a:xfrm>
          <a:prstGeom prst="rect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51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B55"/>
                </a:solidFill>
              </a:rPr>
              <a:t>🧠 Why Logistic Regression?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201168" cy="201168"/>
          </a:xfrm>
          <a:prstGeom prst="ellipse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002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Interpretability: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</a:rPr>
              <a:t>Coefficients show direction &amp; strength of each feature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267712"/>
            <a:ext cx="201168" cy="201168"/>
          </a:xfrm>
          <a:prstGeom prst="ellipse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221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Health Domain Fit: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</a:rPr>
              <a:t>Crucial to explain WHY a child is at risk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89504"/>
            <a:ext cx="201168" cy="201168"/>
          </a:xfrm>
          <a:prstGeom prst="ellipse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8437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Efficiency: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072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</a:rPr>
              <a:t>Fast training even with one-hot encoded State (36+ cols)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655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Class Compatibility: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6941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</a:rPr>
              <a:t>Works well with stratified binary classification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133088"/>
            <a:ext cx="201168" cy="201168"/>
          </a:xfrm>
          <a:prstGeom prst="ellipse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087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Feature Selection: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3159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</a:rPr>
              <a:t>SelectFromModel uses LR coefficients to prune features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03520" y="91440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0" y="914400"/>
            <a:ext cx="3474720" cy="109728"/>
          </a:xfrm>
          <a:prstGeom prst="rect">
            <a:avLst/>
          </a:prstGeom>
          <a:solidFill>
            <a:srgbClr val="F5A55A"/>
          </a:solidFill>
          <a:ln w="12700">
            <a:solidFill>
              <a:srgbClr val="F5A5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051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B55"/>
                </a:solidFill>
              </a:rPr>
              <a:t>⚖️ Model Comparison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22392" y="1536192"/>
            <a:ext cx="1005840" cy="512064"/>
          </a:xfrm>
          <a:prstGeom prst="rect">
            <a:avLst/>
          </a:prstGeom>
          <a:solidFill>
            <a:srgbClr val="F5A55A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155448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28232" y="1536192"/>
            <a:ext cx="1188720" cy="512064"/>
          </a:xfrm>
          <a:prstGeom prst="rect">
            <a:avLst/>
          </a:prstGeom>
          <a:solidFill>
            <a:srgbClr val="F5A55A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1554480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16952" y="1536192"/>
            <a:ext cx="1005840" cy="512064"/>
          </a:xfrm>
          <a:prstGeom prst="rect">
            <a:avLst/>
          </a:prstGeom>
          <a:solidFill>
            <a:srgbClr val="F5A55A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155448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22392" y="2084832"/>
            <a:ext cx="1005840" cy="512064"/>
          </a:xfrm>
          <a:prstGeom prst="rect">
            <a:avLst/>
          </a:prstGeom>
          <a:solidFill>
            <a:srgbClr val="EEFAF6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210312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Logistic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Regression 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28232" y="2084832"/>
            <a:ext cx="1188720" cy="512064"/>
          </a:xfrm>
          <a:prstGeom prst="rect">
            <a:avLst/>
          </a:prstGeom>
          <a:solidFill>
            <a:srgbClr val="EEFAF6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2103120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Interpretable, fast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616952" y="2084832"/>
            <a:ext cx="1005840" cy="512064"/>
          </a:xfrm>
          <a:prstGeom prst="rect">
            <a:avLst/>
          </a:prstGeom>
          <a:solidFill>
            <a:srgbClr val="EEFAF6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35240" y="210312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Linear boundary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22392" y="2633472"/>
            <a:ext cx="1005840" cy="512064"/>
          </a:xfrm>
          <a:prstGeom prst="rect">
            <a:avLst/>
          </a:prstGeom>
          <a:solidFill>
            <a:srgbClr val="F9F8FF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265176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Decision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Tree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28232" y="2633472"/>
            <a:ext cx="1188720" cy="512064"/>
          </a:xfrm>
          <a:prstGeom prst="rect">
            <a:avLst/>
          </a:prstGeom>
          <a:solidFill>
            <a:srgbClr val="F9F8FF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2651760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Intuitive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16952" y="2633472"/>
            <a:ext cx="1005840" cy="512064"/>
          </a:xfrm>
          <a:prstGeom prst="rect">
            <a:avLst/>
          </a:prstGeom>
          <a:solidFill>
            <a:srgbClr val="F9F8FF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35240" y="265176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Overfits easily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22392" y="3182112"/>
            <a:ext cx="1005840" cy="512064"/>
          </a:xfrm>
          <a:prstGeom prst="rect">
            <a:avLst/>
          </a:prstGeom>
          <a:solidFill>
            <a:srgbClr val="F9F8FF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0680" y="320040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Random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Forest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28232" y="3182112"/>
            <a:ext cx="1188720" cy="512064"/>
          </a:xfrm>
          <a:prstGeom prst="rect">
            <a:avLst/>
          </a:prstGeom>
          <a:solidFill>
            <a:srgbClr val="F9F8FF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3200400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High accuracy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16952" y="3182112"/>
            <a:ext cx="1005840" cy="512064"/>
          </a:xfrm>
          <a:prstGeom prst="rect">
            <a:avLst/>
          </a:prstGeom>
          <a:solidFill>
            <a:srgbClr val="F9F8FF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35240" y="320040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Black box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22392" y="3730752"/>
            <a:ext cx="1005840" cy="512064"/>
          </a:xfrm>
          <a:prstGeom prst="rect">
            <a:avLst/>
          </a:prstGeom>
          <a:solidFill>
            <a:srgbClr val="F9F8FF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0680" y="374904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SVM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28232" y="3730752"/>
            <a:ext cx="1188720" cy="512064"/>
          </a:xfrm>
          <a:prstGeom prst="rect">
            <a:avLst/>
          </a:prstGeom>
          <a:solidFill>
            <a:srgbClr val="F9F8FF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46520" y="3749040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Good margins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616952" y="3730752"/>
            <a:ext cx="1005840" cy="512064"/>
          </a:xfrm>
          <a:prstGeom prst="rect">
            <a:avLst/>
          </a:prstGeom>
          <a:solidFill>
            <a:srgbClr val="F9F8FF"/>
          </a:solidFill>
          <a:ln w="6350">
            <a:solidFill>
              <a:srgbClr val="E0DE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35240" y="3749040"/>
            <a:ext cx="1005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Slow on large data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5C9C5">
              <a:alpha val="40000"/>
            </a:srgbClr>
          </a:solidFill>
          <a:ln w="12700">
            <a:solidFill>
              <a:srgbClr val="F5C9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D6D2F5">
              <a:alpha val="40000"/>
            </a:srgbClr>
          </a:solidFill>
          <a:ln w="12700">
            <a:solidFill>
              <a:srgbClr val="D6D2F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1371600" cy="1371600"/>
          </a:xfrm>
          <a:prstGeom prst="ellipse">
            <a:avLst/>
          </a:prstGeom>
          <a:solidFill>
            <a:srgbClr val="C2EFE4">
              <a:alpha val="45000"/>
            </a:srgbClr>
          </a:solidFill>
          <a:ln w="12700">
            <a:solidFill>
              <a:srgbClr val="C2EFE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274320"/>
            <a:ext cx="1097280" cy="1097280"/>
          </a:xfrm>
          <a:prstGeom prst="ellipse">
            <a:avLst/>
          </a:prstGeom>
          <a:solidFill>
            <a:srgbClr val="FAD9C2">
              <a:alpha val="45000"/>
            </a:srgbClr>
          </a:solidFill>
          <a:ln w="12700">
            <a:solidFill>
              <a:srgbClr val="FAD9C2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B55"/>
                </a:solidFill>
              </a:rPr>
              <a:t>Step 7 &amp; 8: Hyperparameters &amp; Model Training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E0D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4114800" cy="109728"/>
          </a:xfrm>
          <a:prstGeom prst="rect">
            <a:avLst/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B55"/>
                </a:solidFill>
              </a:rPr>
              <a:t>🔧 Hyperparameters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1280160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F5C4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002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1600200"/>
            <a:ext cx="914400" cy="384048"/>
          </a:xfrm>
          <a:prstGeom prst="rect">
            <a:avLst/>
          </a:prstGeom>
          <a:solidFill>
            <a:srgbClr val="F0F8F5"/>
          </a:solidFill>
          <a:ln w="12700">
            <a:solidFill>
              <a:srgbClr val="B8E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6002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'liblinear'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71800" y="16459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Works well for small/medium datasets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130552"/>
            <a:ext cx="1280160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F5C4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305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20240" y="2130552"/>
            <a:ext cx="914400" cy="384048"/>
          </a:xfrm>
          <a:prstGeom prst="rect">
            <a:avLst/>
          </a:prstGeom>
          <a:solidFill>
            <a:srgbClr val="F0F8F5"/>
          </a:solidFill>
          <a:ln w="12700">
            <a:solidFill>
              <a:srgbClr val="B8E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21305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71800" y="21762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Ensures convergence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660904"/>
            <a:ext cx="1280160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F5C4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609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20240" y="2660904"/>
            <a:ext cx="914400" cy="384048"/>
          </a:xfrm>
          <a:prstGeom prst="rect">
            <a:avLst/>
          </a:prstGeom>
          <a:solidFill>
            <a:srgbClr val="F0F8F5"/>
          </a:solidFill>
          <a:ln w="12700">
            <a:solidFill>
              <a:srgbClr val="B8E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266090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71800" y="270662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Reproducibility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191256"/>
            <a:ext cx="1280160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F5C4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1912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test_size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20240" y="3191256"/>
            <a:ext cx="914400" cy="384048"/>
          </a:xfrm>
          <a:prstGeom prst="rect">
            <a:avLst/>
          </a:prstGeom>
          <a:solidFill>
            <a:srgbClr val="F0F8F5"/>
          </a:solidFill>
          <a:ln w="12700">
            <a:solidFill>
              <a:srgbClr val="B8E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319125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 (20%)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71800" y="32369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Standard 80/20 split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721608"/>
            <a:ext cx="1280160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F5C4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7216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20240" y="3721608"/>
            <a:ext cx="914400" cy="384048"/>
          </a:xfrm>
          <a:prstGeom prst="rect">
            <a:avLst/>
          </a:prstGeom>
          <a:solidFill>
            <a:srgbClr val="F0F8F5"/>
          </a:solidFill>
          <a:ln w="12700">
            <a:solidFill>
              <a:srgbClr val="B8E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372160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71800" y="37673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Preserve class balance in split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1280160" cy="384048"/>
          </a:xfrm>
          <a:prstGeom prst="rect">
            <a:avLst/>
          </a:prstGeom>
          <a:solidFill>
            <a:srgbClr val="FFF0EE"/>
          </a:solidFill>
          <a:ln w="12700">
            <a:solidFill>
              <a:srgbClr val="F5C4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519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SelectFromModel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20240" y="4251960"/>
            <a:ext cx="914400" cy="384048"/>
          </a:xfrm>
          <a:prstGeom prst="rect">
            <a:avLst/>
          </a:prstGeom>
          <a:solidFill>
            <a:srgbClr val="F0F8F5"/>
          </a:solidFill>
          <a:ln w="12700">
            <a:solidFill>
              <a:srgbClr val="B8E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0240" y="42519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971800" y="42976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A7A"/>
                </a:solidFill>
              </a:rPr>
              <a:t>Selects ~30-40 top features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914400"/>
            <a:ext cx="4114800" cy="109728"/>
          </a:xfrm>
          <a:prstGeom prst="rect">
            <a:avLst/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B55"/>
                </a:solidFill>
              </a:rPr>
              <a:t>📈 Training Pipeline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846320" y="1645920"/>
            <a:ext cx="384048" cy="384048"/>
          </a:xfrm>
          <a:prstGeom prst="ellipse">
            <a:avLst/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49240" y="16459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B55"/>
                </a:solidFill>
              </a:rPr>
              <a:t>Initial Model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49240" y="193852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LR on full feature 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compute coefficients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2450592"/>
            <a:ext cx="384048" cy="384048"/>
          </a:xfrm>
          <a:prstGeom prst="ellipse">
            <a:avLst/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49240" y="24505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B55"/>
                </a:solidFill>
              </a:rPr>
              <a:t>Feature Pruning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49240" y="27432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SelectFromModel removes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low-impact features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0" y="3255264"/>
            <a:ext cx="384048" cy="384048"/>
          </a:xfrm>
          <a:prstGeom prst="ellipse">
            <a:avLst/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3255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49240" y="325526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B55"/>
                </a:solidFill>
              </a:rPr>
              <a:t>Final Model Fit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49240" y="354787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selected_model.fit(X_train, y_train)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pruned feature set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46320" y="4059936"/>
            <a:ext cx="384048" cy="384048"/>
          </a:xfrm>
          <a:prstGeom prst="ellipse">
            <a:avLst/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4059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349240" y="40599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B55"/>
                </a:solidFill>
              </a:rPr>
              <a:t>Save Model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49240" y="435254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pickle.dump(model, 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columns separately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5C9C5">
              <a:alpha val="40000"/>
            </a:srgbClr>
          </a:solidFill>
          <a:ln w="12700">
            <a:solidFill>
              <a:srgbClr val="F5C9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D6D2F5">
              <a:alpha val="40000"/>
            </a:srgbClr>
          </a:solidFill>
          <a:ln w="12700">
            <a:solidFill>
              <a:srgbClr val="D6D2F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1371600" cy="1371600"/>
          </a:xfrm>
          <a:prstGeom prst="ellipse">
            <a:avLst/>
          </a:prstGeom>
          <a:solidFill>
            <a:srgbClr val="C2EFE4">
              <a:alpha val="45000"/>
            </a:srgbClr>
          </a:solidFill>
          <a:ln w="12700">
            <a:solidFill>
              <a:srgbClr val="C2EFE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274320"/>
            <a:ext cx="1097280" cy="1097280"/>
          </a:xfrm>
          <a:prstGeom prst="ellipse">
            <a:avLst/>
          </a:prstGeom>
          <a:solidFill>
            <a:srgbClr val="FAD9C2">
              <a:alpha val="45000"/>
            </a:srgbClr>
          </a:solidFill>
          <a:ln w="12700">
            <a:solidFill>
              <a:srgbClr val="FAD9C2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B55"/>
                </a:solidFill>
              </a:rPr>
              <a:t>Step 9 &amp; 10: Evaluation Metrics &amp; Validation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E0D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005840"/>
            <a:ext cx="896112" cy="896112"/>
          </a:xfrm>
          <a:prstGeom prst="ellipse">
            <a:avLst/>
          </a:prstGeom>
          <a:solidFill>
            <a:srgbClr val="4BBFA3">
              <a:alpha val="15000"/>
            </a:srgbClr>
          </a:solidFill>
          <a:ln w="12700">
            <a:solidFill>
              <a:srgbClr val="4BBFA3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24128"/>
            <a:ext cx="18288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BFA3"/>
                </a:solidFill>
              </a:rPr>
              <a:t>99%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Overall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6B0"/>
                </a:solidFill>
              </a:rPr>
              <a:t>Driven by class 1 majority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42032" y="91440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90672" y="1005840"/>
            <a:ext cx="896112" cy="896112"/>
          </a:xfrm>
          <a:prstGeom prst="ellipse">
            <a:avLst/>
          </a:prstGeom>
          <a:solidFill>
            <a:srgbClr val="F47B6E">
              <a:alpha val="15000"/>
            </a:srgbClr>
          </a:solidFill>
          <a:ln w="12700">
            <a:solidFill>
              <a:srgbClr val="F47B6E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024128"/>
            <a:ext cx="18288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7B6E"/>
                </a:solidFill>
              </a:rPr>
              <a:t>80%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33472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Precision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(At Risk)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7752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6B0"/>
                </a:solidFill>
              </a:rPr>
              <a:t>Of predicted at-risk, 80% correct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18304" y="91440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66944" y="1005840"/>
            <a:ext cx="896112" cy="896112"/>
          </a:xfrm>
          <a:prstGeom prst="ellipse">
            <a:avLst/>
          </a:prstGeom>
          <a:solidFill>
            <a:srgbClr val="9B8FE0">
              <a:alpha val="15000"/>
            </a:srgbClr>
          </a:solidFill>
          <a:ln w="12700">
            <a:solidFill>
              <a:srgbClr val="9B8FE0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024128"/>
            <a:ext cx="18288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8FE0"/>
                </a:solidFill>
              </a:rPr>
              <a:t>60%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809744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Recall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(At Risk)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64024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6B0"/>
                </a:solidFill>
              </a:rPr>
              <a:t>Of all at-risk, 60% caught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94576" y="91440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43216" y="1005840"/>
            <a:ext cx="896112" cy="896112"/>
          </a:xfrm>
          <a:prstGeom prst="ellipse">
            <a:avLst/>
          </a:prstGeom>
          <a:solidFill>
            <a:srgbClr val="F5A55A">
              <a:alpha val="15000"/>
            </a:srgbClr>
          </a:solidFill>
          <a:ln w="12700">
            <a:solidFill>
              <a:srgbClr val="F5A55A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86016" y="1024128"/>
            <a:ext cx="18288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55A"/>
                </a:solidFill>
              </a:rPr>
              <a:t>~69%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86016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F1-Score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(At Risk)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0296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6B0"/>
                </a:solidFill>
              </a:rPr>
              <a:t>Harmonic mean of precision &amp; recall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8803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B55"/>
                </a:solidFill>
              </a:rPr>
              <a:t>🔁 Validation Method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342900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80/20 Train-Test Split (test_size=0.2)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stratify=y ensures class balance in both 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random_state=42 for reproducibility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C5A7A"/>
                </a:solidFill>
              </a:rPr>
              <a:t>No cross-validation (single split used)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8803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B55"/>
                </a:solidFill>
              </a:rPr>
              <a:t>📋 Classification Report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429000"/>
          <a:ext cx="3840480" cy="1280160"/>
        </p:xfrm>
        <a:graphic>
          <a:graphicData uri="http://schemas.openxmlformats.org/drawingml/2006/table">
            <a:tbl>
              <a:tblPr/>
              <a:tblGrid>
                <a:gridCol w="1280160"/>
                <a:gridCol w="868680"/>
                <a:gridCol w="868680"/>
                <a:gridCol w="822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F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F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F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FE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At Risk (0)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Alive (1)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5C9C5">
              <a:alpha val="40000"/>
            </a:srgbClr>
          </a:solidFill>
          <a:ln w="12700">
            <a:solidFill>
              <a:srgbClr val="F5C9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D6D2F5">
              <a:alpha val="40000"/>
            </a:srgbClr>
          </a:solidFill>
          <a:ln w="12700">
            <a:solidFill>
              <a:srgbClr val="D6D2F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1371600" cy="1371600"/>
          </a:xfrm>
          <a:prstGeom prst="ellipse">
            <a:avLst/>
          </a:prstGeom>
          <a:solidFill>
            <a:srgbClr val="C2EFE4">
              <a:alpha val="45000"/>
            </a:srgbClr>
          </a:solidFill>
          <a:ln w="12700">
            <a:solidFill>
              <a:srgbClr val="C2EFE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274320"/>
            <a:ext cx="1097280" cy="1097280"/>
          </a:xfrm>
          <a:prstGeom prst="ellipse">
            <a:avLst/>
          </a:prstGeom>
          <a:solidFill>
            <a:srgbClr val="FAD9C2">
              <a:alpha val="45000"/>
            </a:srgbClr>
          </a:solidFill>
          <a:ln w="12700">
            <a:solidFill>
              <a:srgbClr val="FAD9C2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B55"/>
                </a:solidFill>
              </a:rPr>
              <a:t>Step 11: Results &amp; Feature Importance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E0D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5029200" cy="109728"/>
          </a:xfrm>
          <a:prstGeom prst="rect">
            <a:avLst/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51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B55"/>
                </a:solidFill>
              </a:rPr>
              <a:t>📌 Key Results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6184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99% Overall Accuracy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1874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</a:rPr>
              <a:t>Model performs excellently on majority class (Alive)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24942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2677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Class Imbalance Impact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5237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</a:rPr>
              <a:t>At Risk class recall is 60% — real challenge due to ~1% minority class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8986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9169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Top Predictive Features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1729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</a:rPr>
              <a:t>Maternal age, birth order, household wealth index, and State are key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5478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566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LLM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8221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</a:rPr>
              <a:t>Google Generative AI provides personalized health recommendations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970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42153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Saved Artifacts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44714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7A"/>
                </a:solidFill>
              </a:rPr>
              <a:t>model.pkl + model_expected_columns.pkl saved for deployment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914400"/>
            <a:ext cx="3200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914400"/>
            <a:ext cx="3200400" cy="109728"/>
          </a:xfrm>
          <a:prstGeom prst="rect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1051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B55"/>
                </a:solidFill>
              </a:rPr>
              <a:t>Top Features (by |Coefficient|)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1645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A7A"/>
                </a:solidFill>
              </a:rPr>
              <a:t>Maternal 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0" y="1947672"/>
            <a:ext cx="2286000" cy="146304"/>
          </a:xfrm>
          <a:prstGeom prst="rect">
            <a:avLst/>
          </a:prstGeom>
          <a:solidFill>
            <a:srgbClr val="F0EEF8"/>
          </a:solidFill>
          <a:ln w="12700">
            <a:solidFill>
              <a:srgbClr val="E0D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1947672"/>
            <a:ext cx="2103120" cy="146304"/>
          </a:xfrm>
          <a:prstGeom prst="rect">
            <a:avLst/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01000" y="19202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6B0"/>
                </a:solidFill>
              </a:rPr>
              <a:t>92%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A7A"/>
                </a:solidFill>
              </a:rPr>
              <a:t>Birth Order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0" y="2450592"/>
            <a:ext cx="2286000" cy="146304"/>
          </a:xfrm>
          <a:prstGeom prst="rect">
            <a:avLst/>
          </a:prstGeom>
          <a:solidFill>
            <a:srgbClr val="F0EEF8"/>
          </a:solidFill>
          <a:ln w="12700">
            <a:solidFill>
              <a:srgbClr val="E0DE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0" y="2450592"/>
            <a:ext cx="1783080" cy="146304"/>
          </a:xfrm>
          <a:prstGeom prst="rect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1000" y="24231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6B0"/>
                </a:solidFill>
              </a:rPr>
              <a:t>78%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0" y="2651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A7A"/>
                </a:solidFill>
              </a:rPr>
              <a:t>Wealth Index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0" y="2953512"/>
            <a:ext cx="2286000" cy="146304"/>
          </a:xfrm>
          <a:prstGeom prst="rect">
            <a:avLst/>
          </a:prstGeom>
          <a:solidFill>
            <a:srgbClr val="F0EEF8"/>
          </a:solidFill>
          <a:ln w="12700">
            <a:solidFill>
              <a:srgbClr val="E0DE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0" y="2953512"/>
            <a:ext cx="1485900" cy="146304"/>
          </a:xfrm>
          <a:prstGeom prst="rect">
            <a:avLst/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01000" y="292608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6B0"/>
                </a:solidFill>
              </a:rPr>
              <a:t>65%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A7A"/>
                </a:solidFill>
              </a:rPr>
              <a:t>State (key)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0" y="3456432"/>
            <a:ext cx="2286000" cy="146304"/>
          </a:xfrm>
          <a:prstGeom prst="rect">
            <a:avLst/>
          </a:prstGeom>
          <a:solidFill>
            <a:srgbClr val="F0EEF8"/>
          </a:solidFill>
          <a:ln w="12700">
            <a:solidFill>
              <a:srgbClr val="E0D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0" y="3456432"/>
            <a:ext cx="1325880" cy="146304"/>
          </a:xfrm>
          <a:prstGeom prst="rect">
            <a:avLst/>
          </a:prstGeom>
          <a:solidFill>
            <a:srgbClr val="F5A55A"/>
          </a:solidFill>
          <a:ln w="12700">
            <a:solidFill>
              <a:srgbClr val="F5A5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01000" y="3429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6B0"/>
                </a:solidFill>
              </a:rPr>
              <a:t>58%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69280" y="3657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A7A"/>
                </a:solidFill>
              </a:rPr>
              <a:t>Antenatal Visits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0" y="3959352"/>
            <a:ext cx="2286000" cy="146304"/>
          </a:xfrm>
          <a:prstGeom prst="rect">
            <a:avLst/>
          </a:prstGeom>
          <a:solidFill>
            <a:srgbClr val="F0EEF8"/>
          </a:solidFill>
          <a:ln w="12700">
            <a:solidFill>
              <a:srgbClr val="E0DE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0" y="3959352"/>
            <a:ext cx="1120140" cy="146304"/>
          </a:xfrm>
          <a:prstGeom prst="rect">
            <a:avLst/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01000" y="39319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6B0"/>
                </a:solidFill>
              </a:rPr>
              <a:t>49%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0" y="4160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A7A"/>
                </a:solidFill>
              </a:rPr>
              <a:t>Education Level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69280" y="4462272"/>
            <a:ext cx="2286000" cy="146304"/>
          </a:xfrm>
          <a:prstGeom prst="rect">
            <a:avLst/>
          </a:prstGeom>
          <a:solidFill>
            <a:srgbClr val="F0EEF8"/>
          </a:solidFill>
          <a:ln w="12700">
            <a:solidFill>
              <a:srgbClr val="E0DE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4462272"/>
            <a:ext cx="960120" cy="146304"/>
          </a:xfrm>
          <a:prstGeom prst="rect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01000" y="44348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6B0"/>
                </a:solidFill>
              </a:rPr>
              <a:t>42%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5C9C5">
              <a:alpha val="40000"/>
            </a:srgbClr>
          </a:solidFill>
          <a:ln w="12700">
            <a:solidFill>
              <a:srgbClr val="F5C9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D6D2F5">
              <a:alpha val="40000"/>
            </a:srgbClr>
          </a:solidFill>
          <a:ln w="12700">
            <a:solidFill>
              <a:srgbClr val="D6D2F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1371600" cy="1371600"/>
          </a:xfrm>
          <a:prstGeom prst="ellipse">
            <a:avLst/>
          </a:prstGeom>
          <a:solidFill>
            <a:srgbClr val="C2EFE4">
              <a:alpha val="45000"/>
            </a:srgbClr>
          </a:solidFill>
          <a:ln w="12700">
            <a:solidFill>
              <a:srgbClr val="C2EFE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274320"/>
            <a:ext cx="1097280" cy="1097280"/>
          </a:xfrm>
          <a:prstGeom prst="ellipse">
            <a:avLst/>
          </a:prstGeom>
          <a:solidFill>
            <a:srgbClr val="FAD9C2">
              <a:alpha val="45000"/>
            </a:srgbClr>
          </a:solidFill>
          <a:ln w="12700">
            <a:solidFill>
              <a:srgbClr val="FAD9C2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B55"/>
                </a:solidFill>
              </a:rPr>
              <a:t>Step 12: Final Pipeline Summary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E0D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11155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60120"/>
            <a:ext cx="1115568" cy="91440"/>
          </a:xfrm>
          <a:prstGeom prst="rect">
            <a:avLst/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789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6E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Dataset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92024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NFHS-5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NFHS5 CSV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81328" y="1801368"/>
            <a:ext cx="146304" cy="0"/>
          </a:xfrm>
          <a:prstGeom prst="line">
            <a:avLst/>
          </a:prstGeom>
          <a:noFill/>
          <a:ln w="19050">
            <a:solidFill>
              <a:srgbClr val="9896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27632" y="960120"/>
            <a:ext cx="11155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27632" y="960120"/>
            <a:ext cx="1115568" cy="91440"/>
          </a:xfrm>
          <a:prstGeom prst="rect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27632" y="10789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FE0"/>
                </a:solidFill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73352" y="14630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EDA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73352" y="192024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1801368"/>
            <a:ext cx="146304" cy="0"/>
          </a:xfrm>
          <a:prstGeom prst="line">
            <a:avLst/>
          </a:prstGeom>
          <a:noFill/>
          <a:ln w="19050">
            <a:solidFill>
              <a:srgbClr val="9896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89504" y="960120"/>
            <a:ext cx="11155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89504" y="960120"/>
            <a:ext cx="1115568" cy="91440"/>
          </a:xfrm>
          <a:prstGeom prst="rect">
            <a:avLst/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10789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BFA3"/>
                </a:solidFill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935224" y="14630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Preprocess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35224" y="192024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05072" y="1801368"/>
            <a:ext cx="146304" cy="0"/>
          </a:xfrm>
          <a:prstGeom prst="line">
            <a:avLst/>
          </a:prstGeom>
          <a:noFill/>
          <a:ln w="19050">
            <a:solidFill>
              <a:srgbClr val="9896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51376" y="960120"/>
            <a:ext cx="11155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51376" y="960120"/>
            <a:ext cx="1115568" cy="91440"/>
          </a:xfrm>
          <a:prstGeom prst="rect">
            <a:avLst/>
          </a:prstGeom>
          <a:solidFill>
            <a:srgbClr val="F5A55A"/>
          </a:solidFill>
          <a:ln w="12700">
            <a:solidFill>
              <a:srgbClr val="F5A5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1376" y="10789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5A"/>
                </a:solidFill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197096" y="14630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Select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97096" y="192024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SelectFrom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66944" y="1801368"/>
            <a:ext cx="146304" cy="0"/>
          </a:xfrm>
          <a:prstGeom prst="line">
            <a:avLst/>
          </a:prstGeom>
          <a:noFill/>
          <a:ln w="19050">
            <a:solidFill>
              <a:srgbClr val="9896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13248" y="960120"/>
            <a:ext cx="11155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13248" y="960120"/>
            <a:ext cx="1115568" cy="91440"/>
          </a:xfrm>
          <a:prstGeom prst="rect">
            <a:avLst/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13248" y="10789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B6E"/>
                </a:solidFill>
              </a:rPr>
              <a:t>05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58968" y="14630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Train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58968" y="192024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LogReg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liblinear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28816" y="1801368"/>
            <a:ext cx="146304" cy="0"/>
          </a:xfrm>
          <a:prstGeom prst="line">
            <a:avLst/>
          </a:prstGeom>
          <a:noFill/>
          <a:ln w="19050">
            <a:solidFill>
              <a:srgbClr val="9896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960120"/>
            <a:ext cx="11155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75120" y="960120"/>
            <a:ext cx="1115568" cy="91440"/>
          </a:xfrm>
          <a:prstGeom prst="rect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10789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FE0"/>
                </a:solidFill>
              </a:rPr>
              <a:t>06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720840" y="14630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Evaluate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192024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99% Acc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F1=0.69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90688" y="1801368"/>
            <a:ext cx="146304" cy="0"/>
          </a:xfrm>
          <a:prstGeom prst="line">
            <a:avLst/>
          </a:prstGeom>
          <a:noFill/>
          <a:ln w="19050">
            <a:solidFill>
              <a:srgbClr val="9896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36992" y="960120"/>
            <a:ext cx="11155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EEE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936992" y="960120"/>
            <a:ext cx="1115568" cy="91440"/>
          </a:xfrm>
          <a:prstGeom prst="rect">
            <a:avLst/>
          </a:prstGeom>
          <a:solidFill>
            <a:srgbClr val="4BBFA3"/>
          </a:solidFill>
          <a:ln w="12700">
            <a:solidFill>
              <a:srgbClr val="4BBFA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36992" y="107899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BFA3"/>
                </a:solidFill>
              </a:rPr>
              <a:t>07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982712" y="1463040"/>
            <a:ext cx="1024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55"/>
                </a:solidFill>
              </a:rPr>
              <a:t>Results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82712" y="192024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5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LLM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2834640"/>
            <a:ext cx="8412480" cy="914400"/>
          </a:xfrm>
          <a:prstGeom prst="rect">
            <a:avLst/>
          </a:prstGeom>
          <a:solidFill>
            <a:srgbClr val="F0EEF8"/>
          </a:solidFill>
          <a:ln w="12700">
            <a:solidFill>
              <a:srgbClr val="D0CCF0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0292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8FE0"/>
                </a:solidFill>
              </a:rPr>
              <a:t>"</a:t>
            </a:r>
            <a:endParaRPr lang="en-US" sz="4000" dirty="0"/>
          </a:p>
        </p:txBody>
      </p:sp>
      <p:sp>
        <p:nvSpPr>
          <p:cNvPr id="51" name="Text 49"/>
          <p:cNvSpPr/>
          <p:nvPr/>
        </p:nvSpPr>
        <p:spPr>
          <a:xfrm>
            <a:off x="822960" y="29260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8FE0"/>
                </a:solidFill>
              </a:rPr>
              <a:t>First I performed EDA on the NFHS-5 dataset, identified class imbalance, then preprocessed using one-hot encoding and stratified splitting, applied Logistic Regression with SelectFromModel feature pruning, achieved 99% accuracy, evaluated with precision/recall on the At Risk class, interpreted feature importance coefficients, and integrated LLM-based personalized recommendations.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3913632"/>
            <a:ext cx="8412480" cy="548640"/>
          </a:xfrm>
          <a:prstGeom prst="rect">
            <a:avLst/>
          </a:prstGeom>
          <a:solidFill>
            <a:srgbClr val="2D2B55"/>
          </a:solidFill>
          <a:ln w="12700">
            <a:solidFill>
              <a:srgbClr val="2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9896B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" y="3931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 →  EDA  →  Preprocessing  →  Feature Selection  →  Logistic Regression  →  Evaluation  →  Results + LLM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F47B6E">
              <a:alpha val="25000"/>
            </a:srgbClr>
          </a:solidFill>
          <a:ln w="12700">
            <a:solidFill>
              <a:srgbClr val="F47B6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657600"/>
            <a:ext cx="1645920" cy="1645920"/>
          </a:xfrm>
          <a:prstGeom prst="ellipse">
            <a:avLst/>
          </a:prstGeom>
          <a:solidFill>
            <a:srgbClr val="9B8FE0">
              <a:alpha val="30000"/>
            </a:srgbClr>
          </a:solidFill>
          <a:ln w="12700">
            <a:solidFill>
              <a:srgbClr val="9B8FE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474720"/>
            <a:ext cx="1280160" cy="1280160"/>
          </a:xfrm>
          <a:prstGeom prst="ellipse">
            <a:avLst/>
          </a:prstGeom>
          <a:solidFill>
            <a:srgbClr val="4BBFA3">
              <a:alpha val="20000"/>
            </a:srgbClr>
          </a:solidFill>
          <a:ln w="12700">
            <a:solidFill>
              <a:srgbClr val="4BBFA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2560320"/>
            <a:ext cx="1371600" cy="1371600"/>
          </a:xfrm>
          <a:prstGeom prst="ellipse">
            <a:avLst/>
          </a:prstGeom>
          <a:solidFill>
            <a:srgbClr val="F47B6E"/>
          </a:solidFill>
          <a:ln w="12700">
            <a:solidFill>
              <a:srgbClr val="F47B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2743200"/>
            <a:ext cx="1097280" cy="1097280"/>
          </a:xfrm>
          <a:prstGeom prst="ellipse">
            <a:avLst/>
          </a:prstGeom>
          <a:solidFill>
            <a:srgbClr val="9B8FE0"/>
          </a:solidFill>
          <a:ln w="12700">
            <a:solidFill>
              <a:srgbClr val="9B8F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Thank You!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7E8"/>
                </a:solidFill>
              </a:rPr>
              <a:t>Child Survival Prediction · NFHS-5 · Logistic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896CC"/>
                </a:solidFill>
              </a:rPr>
              <a:t>Questions? Let's discuss.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Dataset Overview — NFHS-5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</a:rPr>
              <a:t>National Family Health Survey 5 | Source: Kaggle (ravisinghiitbhu/nfhs5)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20116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136,136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Total 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868680"/>
            <a:ext cx="2011680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914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Original Columns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868680"/>
            <a:ext cx="2011680" cy="10058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914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134,278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Alive (Class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868680"/>
            <a:ext cx="2011680" cy="10058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914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1,858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At Risk (Class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01168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Original Dataset — Feature Categories (95 Columns)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377440"/>
            <a:ext cx="1673352" cy="2423160"/>
          </a:xfrm>
          <a:prstGeom prst="rect">
            <a:avLst/>
          </a:prstGeom>
          <a:solidFill>
            <a:srgbClr val="E8F0FE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423160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96F3"/>
                </a:solidFill>
              </a:rPr>
              <a:t>Numerical (3)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715768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Res_Age (Mother's 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971800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Resp_weight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2783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Resp_height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8528" y="2377440"/>
            <a:ext cx="1673352" cy="2423160"/>
          </a:xfrm>
          <a:prstGeom prst="rect">
            <a:avLst/>
          </a:prstGeom>
          <a:solidFill>
            <a:srgbClr val="E8F0FE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84248" y="2423160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3A047"/>
                </a:solidFill>
              </a:rPr>
              <a:t>Household (10)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4248" y="2715768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Electricity, Radio, TV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4248" y="2971800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Bicycle, Motorcycle, Car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4248" y="322783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Telephone, HH Members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4248" y="3483864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Wealth Index, Child&lt;5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48456" y="2377440"/>
            <a:ext cx="1673352" cy="2423160"/>
          </a:xfrm>
          <a:prstGeom prst="rect">
            <a:avLst/>
          </a:prstGeom>
          <a:solidFill>
            <a:srgbClr val="E8F0FE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94176" y="2423160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Health Indicators (20+)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4176" y="2715768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Antenatal visits, Tetanus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94176" y="2971800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DPT, MMR, Measles, JE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94176" y="322783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Hepatitis B, VitaminA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4176" y="3483864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Delivery type, Birth size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58384" y="2377440"/>
            <a:ext cx="1673352" cy="2423160"/>
          </a:xfrm>
          <a:prstGeom prst="rect">
            <a:avLst/>
          </a:prstGeom>
          <a:solidFill>
            <a:srgbClr val="E8F0F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4104" y="2423160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53935"/>
                </a:solidFill>
              </a:rPr>
              <a:t>Maternal Factors (15+)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4104" y="2715768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Education level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4104" y="2971800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Marital status, Age married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4104" y="322783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Anemia, Hemoglobin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4104" y="3483864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Pregnancy complications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68312" y="2377440"/>
            <a:ext cx="1673352" cy="2423160"/>
          </a:xfrm>
          <a:prstGeom prst="rect">
            <a:avLst/>
          </a:prstGeom>
          <a:solidFill>
            <a:srgbClr val="E8F0FE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2" y="2423160"/>
            <a:ext cx="1581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1FA2"/>
                </a:solidFill>
              </a:rPr>
              <a:t>Vaccination &amp; Child (15+)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4032" y="2715768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DPT_full, MEASLES_full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4032" y="2971800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JE_full, ShortBreaths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2" y="3227832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Breastfeeding, IronPill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4032" y="3483864"/>
            <a:ext cx="1581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• Sons_died, Daughters_died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Target: ChildAlive  |  1 = Alive (Healthy)   0 = At Risk   |  Class imbalance: 98.6% vs 1.4%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Target: ChildAlive  |  1 = Alive (Healthy)   0 = At Risk   |  Class imbalance: 98.6% vs 1.4%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Feature Selection — Columns Used for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</a:rPr>
              <a:t>SelectFromModel (Logistic Regression) reduced 129 → 30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30 Features Selected by SelectFromModel (from 129 after one-hot encoding State → 36 dummies):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1. Toilet_Facility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85316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2. Child_under5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2763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3. Tot_child_born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69948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3935"/>
                </a:solidFill>
              </a:rPr>
              <a:t>4. Sons_died 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12264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3935"/>
                </a:solidFill>
              </a:rPr>
              <a:t>5. Daughters_died 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5458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6. Curr_Preg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596896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96F3"/>
                </a:solidFill>
              </a:rPr>
              <a:t>7. Curr_BrstFeed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83921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96F3"/>
                </a:solidFill>
              </a:rPr>
              <a:t>8. ChildFood_bottle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81528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9. Resp_height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323844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10. HealthInsurance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6616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11. B_ChildTwin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808476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12. First3Day_fruitJuice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05079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13. HepatitisB_atBirth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293108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96F3"/>
                </a:solidFill>
              </a:rPr>
              <a:t>14. ShortBreaths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535424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96F3"/>
                </a:solidFill>
              </a:rPr>
              <a:t>15. VitaminA 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14300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16. IronPill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38531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17. IntestinalDrug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162763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18. ultrasound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86994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19. MMR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11226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20. DeliveryPlace_Private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35458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21. Water_Source_Other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59689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96F3"/>
                </a:solidFill>
              </a:rPr>
              <a:t>22. DPT_full 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83921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23. MEASLES_full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08152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A047"/>
                </a:solidFill>
              </a:rPr>
              <a:t>24. State_Bihar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32384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A047"/>
                </a:solidFill>
              </a:rPr>
              <a:t>25. State_Jharkhand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56616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A047"/>
                </a:solidFill>
              </a:rPr>
              <a:t>26. State_Meghalaya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8084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A047"/>
                </a:solidFill>
              </a:rPr>
              <a:t>27. State_Mizoram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05079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A047"/>
                </a:solidFill>
              </a:rPr>
              <a:t>28. State_Sikkim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29310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A047"/>
                </a:solidFill>
              </a:rPr>
              <a:t>29. State_Uttar Pradesh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53542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3A047"/>
                </a:solidFill>
              </a:rPr>
              <a:t>30. State_Uttarakhand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4709160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★ = High-impact health feature   |   ⚠️ = Strong negative predictor (mortality history)   |   State_* = One-hot encoded states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EDA — Class Distribution &amp; Feature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</a:rPr>
              <a:t>Exploratory Data Analysis on NFHS-5 Dataset</a:t>
            </a:r>
          </a:p>
        </p:txBody>
      </p:sp>
      <p:pic>
        <p:nvPicPr>
          <p:cNvPr id="5" name="Picture 4" descr="chart_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4206240" cy="2651760"/>
          </a:xfrm>
          <a:prstGeom prst="rect">
            <a:avLst/>
          </a:prstGeom>
        </p:spPr>
      </p:pic>
      <p:pic>
        <p:nvPicPr>
          <p:cNvPr id="6" name="Picture 5" descr="chart_feature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777240"/>
            <a:ext cx="4297680" cy="2651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880" y="3520440"/>
            <a:ext cx="877824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35387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Class Imbalance: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38728"/>
            <a:ext cx="7040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98.63% Alive vs 1.37% At Risk — severe imbalance must be handled in evaluation (use F1, Recall)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3803904"/>
            <a:ext cx="8778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382219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Original Features: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22192"/>
            <a:ext cx="7040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95 columns including 1 categorical (State), 3 float, 91 integer — no missing values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4087368"/>
            <a:ext cx="877824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410565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After One-Hot Encoding: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05656"/>
            <a:ext cx="7040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State column expanded to 35 dummy columns → total 129 features for model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370832"/>
            <a:ext cx="8778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438912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Feature Selection: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89120"/>
            <a:ext cx="7040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SelectFromModel pruned 129 → 30 most impactful features using LR coefficients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EDA — Top Predictive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</a:rPr>
              <a:t>Logistic Regression Coefficient Analysis | Absolute values indicate influence strength</a:t>
            </a:r>
          </a:p>
        </p:txBody>
      </p:sp>
      <p:pic>
        <p:nvPicPr>
          <p:cNvPr id="5" name="Picture 4" descr="char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530352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0" y="777240"/>
            <a:ext cx="3291840" cy="1325880"/>
          </a:xfrm>
          <a:prstGeom prst="rect">
            <a:avLst/>
          </a:prstGeom>
          <a:solidFill>
            <a:srgbClr val="FFEBEE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804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</a:rPr>
              <a:t>Top Negative Predictors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09728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• Sons_died (coef: -3.81)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2588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• Daughters_died (coef: -3.90)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55448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• B_ChildTwin (coef: -1.69)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78308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• Curr_Preg (coef: -0.43)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240280"/>
            <a:ext cx="3291840" cy="141732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2677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</a:rPr>
              <a:t>Top Positive Predictors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56032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• Curr_BrstFeed (coef: +6.52)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78892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• ChildFood_bottle (coef: +4.41)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01752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• ShortBreaths (coef: +3.91)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24612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• VitaminA (coef: +3.03)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47472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• DPT_full (coef: +2.86)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749039"/>
            <a:ext cx="3291840" cy="1024128"/>
          </a:xfrm>
          <a:prstGeom prst="rect">
            <a:avLst/>
          </a:prstGeom>
          <a:solidFill>
            <a:srgbClr val="E8F0FE"/>
          </a:solidFill>
          <a:ln w="1524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37764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023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3A5F"/>
                </a:solidFill>
              </a:rPr>
              <a:t>Higher |coefficient| = stronger influence on prediction. Breastfeeding dominates at 6.52. Mortality history (sons/daughters died) are strong negative signals.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Support Vector Machine (SVM) — Theory &amp;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</a:rPr>
              <a:t>How SVM finds the optimal decision boundary with maximum margin</a:t>
            </a:r>
          </a:p>
        </p:txBody>
      </p:sp>
      <p:pic>
        <p:nvPicPr>
          <p:cNvPr id="5" name="Picture 4" descr="chart_sv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4206240" cy="4005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777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What is SVM?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515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</a:rPr>
              <a:t>SVM finds the hyperplane that maximally separates classes. It focuses on the data points closest to the boundary — called Support Vectors — and maximises the margin between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91640"/>
            <a:ext cx="438912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1907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Hyperplane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476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7"/>
                </a:solidFill>
              </a:rPr>
              <a:t>The decision boundary in n-dimensional feature space that separates the two classes (ChildAlive 0 vs 1).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304288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Support 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7"/>
                </a:solidFill>
              </a:rPr>
              <a:t>The data points nearest to the hyperplane. These are the critical examples that determine the boundary position.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916936"/>
            <a:ext cx="438912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944368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729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7"/>
                </a:solidFill>
              </a:rPr>
              <a:t>The distance between the hyperplane and the nearest support vectors. SVM maximises this margin to improve generalisation.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529584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55701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Kernel Trick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78561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7"/>
                </a:solidFill>
              </a:rPr>
              <a:t>For non-linearly separable data, kernels (RBF, Polynomial) map data to higher dimensions where a linear boundary exists.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142232"/>
            <a:ext cx="438912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169664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C 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39826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7"/>
                </a:solidFill>
              </a:rPr>
              <a:t>Regularisation: Low C = wider margin (more misclassifications allowed). High C = narrow margin (fits training better).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782312"/>
            <a:ext cx="4389120" cy="347472"/>
          </a:xfrm>
          <a:prstGeom prst="rect">
            <a:avLst/>
          </a:prstGeom>
          <a:solidFill>
            <a:srgbClr val="FFF3E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81888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3A5F"/>
                </a:solidFill>
              </a:rPr>
              <a:t>Note: SVM not used as primary model — slow on large datasets (136K rows). LR chosen for speed + interpretability.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 Comparison — Base vs Tuned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</a:rPr>
              <a:t>Logistic Regression · Decision Tree · Random Forest on NFHS-5</a:t>
            </a:r>
          </a:p>
        </p:txBody>
      </p:sp>
      <p:pic>
        <p:nvPicPr>
          <p:cNvPr id="5" name="Picture 4" descr="chart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77240"/>
            <a:ext cx="5486400" cy="2377440"/>
          </a:xfrm>
          <a:prstGeom prst="rect">
            <a:avLst/>
          </a:prstGeom>
        </p:spPr>
      </p:pic>
      <p:pic>
        <p:nvPicPr>
          <p:cNvPr id="6" name="Picture 5" descr="chart_tune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3246120"/>
            <a:ext cx="5486400" cy="1828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60720" y="777240"/>
            <a:ext cx="320040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79552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79552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79552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1856" y="79552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4" y="79552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115568"/>
            <a:ext cx="3200400" cy="29260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152144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196F3"/>
                </a:solidFill>
              </a:rPr>
              <a:t>LR (Base)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152144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0.992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1152144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0.799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1152144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0.599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1152144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0.685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408176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444752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3A047"/>
                </a:solidFill>
              </a:rPr>
              <a:t>DT (Base)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444752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0.992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1444752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0.697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1444752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0.704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1444752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0.701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1700784"/>
            <a:ext cx="3200400" cy="29260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173736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RF (Base)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737360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0.994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1737360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0.837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1737360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0.688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1737360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0.755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1993392"/>
            <a:ext cx="3200400" cy="20116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2011680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3A5F"/>
                </a:solidFill>
              </a:rPr>
              <a:t>↓ After GridSearchCV Tuning 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2194560"/>
            <a:ext cx="3200400" cy="29260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2231136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196F3"/>
                </a:solidFill>
              </a:rPr>
              <a:t>LR (Tuned)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231136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0.985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2231136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0.477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1856" y="2231136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0.992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2231136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0.645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2487168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2523744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3A047"/>
                </a:solidFill>
              </a:rPr>
              <a:t>DT (Tuned)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523744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0.992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8" y="2523744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0.715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1856" y="2523744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0.696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344" y="2523744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0.706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2779776"/>
            <a:ext cx="3200400" cy="292608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06440" y="2816352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5F"/>
                </a:solidFill>
              </a:rPr>
              <a:t>RF (Tuned)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2816352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0.994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16368" y="2816352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0.885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91856" y="2816352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0.640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7344" y="2816352"/>
            <a:ext cx="475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F"/>
                </a:solidFill>
              </a:rPr>
              <a:t>0.743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4343400"/>
            <a:ext cx="3200400" cy="73152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52160" y="43708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3A047"/>
                </a:solidFill>
              </a:rPr>
              <a:t>Key Insight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5F"/>
                </a:solidFill>
              </a:rPr>
              <a:t>RF has best F1=0.755 (base) &amp; best Precision=0.885 (tuned). Tuned LR achieves highest Recall=0.992 — identifies most At-Risk cases.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 Results — Confusion Matrix &amp; Classification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</a:rPr>
              <a:t>Logistic Regression on 20% Test Set (27,228 samples)</a:t>
            </a:r>
          </a:p>
        </p:txBody>
      </p:sp>
      <p:pic>
        <p:nvPicPr>
          <p:cNvPr id="5" name="Picture 4" descr="char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3840480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97680" y="777240"/>
            <a:ext cx="46634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804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804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804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804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804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466344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188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53935"/>
                </a:solidFill>
              </a:rPr>
              <a:t>At Risk (0)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188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0.80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188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0.60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188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0.69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188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372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490472"/>
            <a:ext cx="4663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36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3A047"/>
                </a:solidFill>
              </a:rPr>
              <a:t>Alive (1)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536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0.99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536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1.00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536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1.00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536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26,856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837944"/>
            <a:ext cx="466344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8836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18836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8836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8836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0.99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18836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27,228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2185416"/>
            <a:ext cx="4663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22311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96F3"/>
                </a:solidFill>
              </a:rPr>
              <a:t>Macro Avg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22311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0.90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2311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0.80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2311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0.84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2311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27,228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2532888"/>
            <a:ext cx="466344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96F3"/>
                </a:solidFill>
              </a:rPr>
              <a:t>Weighted Avg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0.99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0.99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0.99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25786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F"/>
                </a:solidFill>
              </a:rPr>
              <a:t>27,228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3977639"/>
            <a:ext cx="2148840" cy="1078992"/>
          </a:xfrm>
          <a:prstGeom prst="rect">
            <a:avLst/>
          </a:prstGeom>
          <a:solidFill>
            <a:srgbClr val="E8F0FE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40233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</a:rPr>
              <a:t>99% Accuracy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" y="4270247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3A5F"/>
                </a:solidFill>
              </a:rPr>
              <a:t>Driven by 98.6% majority class — not the full story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23160" y="3977639"/>
            <a:ext cx="2148840" cy="1078992"/>
          </a:xfrm>
          <a:prstGeom prst="rect">
            <a:avLst/>
          </a:prstGeom>
          <a:solidFill>
            <a:srgbClr val="E8F0F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96312" y="40233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935"/>
                </a:solidFill>
              </a:rPr>
              <a:t>60% At-Risk Recall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96312" y="4270247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3A5F"/>
                </a:solidFill>
              </a:rPr>
              <a:t>Model catches 60% of At Risk children — challenging due to 1.4% minority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3977639"/>
            <a:ext cx="2148840" cy="1078992"/>
          </a:xfrm>
          <a:prstGeom prst="rect">
            <a:avLst/>
          </a:prstGeom>
          <a:solidFill>
            <a:srgbClr val="E8F0FE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36592" y="40233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3A047"/>
                </a:solidFill>
              </a:rPr>
              <a:t>80% At-Risk Precision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36592" y="4270247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3A5F"/>
                </a:solidFill>
              </a:rPr>
              <a:t>When model flags At Risk, it is correct 80% of the time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3977639"/>
            <a:ext cx="2148840" cy="1078992"/>
          </a:xfrm>
          <a:prstGeom prst="rect">
            <a:avLst/>
          </a:prstGeom>
          <a:solidFill>
            <a:srgbClr val="E8F0FE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76872" y="40233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Class Imbalance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76872" y="4270247"/>
            <a:ext cx="2011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3A5F"/>
                </a:solidFill>
              </a:rPr>
              <a:t>Primary challenge — SMOTE or class_weight='balanced' can improve recall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Child Survival Prediction – ML Implementation Plan</dc:title>
  <dc:subject>PptxGenJS Presentation</dc:subject>
  <dc:creator>PptxGenJS</dc:creator>
  <cp:lastModifiedBy>PptxGenJS</cp:lastModifiedBy>
  <cp:revision>1</cp:revision>
  <dcterms:created xsi:type="dcterms:W3CDTF">2026-05-03T08:51:23Z</dcterms:created>
  <dcterms:modified xsi:type="dcterms:W3CDTF">2026-05-03T08:51:23Z</dcterms:modified>
</cp:coreProperties>
</file>