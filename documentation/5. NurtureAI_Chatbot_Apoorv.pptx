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0" r:id="rId5"/>
    <p:sldId id="258" r:id="rId6"/>
    <p:sldId id="264" r:id="rId7"/>
    <p:sldId id="265" r:id="rId8"/>
    <p:sldId id="266" r:id="rId9"/>
    <p:sldId id="268" r:id="rId10"/>
    <p:sldId id="269" r:id="rId11"/>
    <p:sldId id="270" r:id="rId12"/>
    <p:sldId id="259" r:id="rId13"/>
    <p:sldId id="271" r:id="rId14"/>
    <p:sldId id="261" r:id="rId15"/>
    <p:sldId id="272" r:id="rId16"/>
    <p:sldId id="273" r:id="rId17"/>
    <p:sldId id="26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5F0"/>
            </a:gs>
            <a:gs pos="100000">
              <a:srgbClr val="E8E5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9601200" y="2926080"/>
            <a:ext cx="1645920" cy="16459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377440"/>
            <a:ext cx="548640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8503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Rag Chatbot- </a:t>
            </a:r>
            <a:r>
              <a:rPr lang="en-IN" dirty="0" err="1"/>
              <a:t>Medquad</a:t>
            </a:r>
            <a:r>
              <a:rPr lang="en-IN" dirty="0"/>
              <a:t> Dataset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 Using </a:t>
            </a:r>
            <a:r>
              <a:rPr lang="en-IN" dirty="0" err="1"/>
              <a:t>ChromaDB</a:t>
            </a:r>
            <a:r>
              <a:rPr lang="en-IN" dirty="0"/>
              <a:t> + Gemma 3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2BEC3"/>
                </a:solidFill>
                <a:latin typeface="Segoe UI"/>
              </a:defRPr>
            </a:pPr>
            <a:r>
              <a:rPr dirty="0"/>
              <a:t>A</a:t>
            </a:r>
            <a:r>
              <a:rPr lang="en-IN" dirty="0" err="1"/>
              <a:t>poorv</a:t>
            </a:r>
            <a:r>
              <a:rPr lang="en-IN" dirty="0"/>
              <a:t> Gupta  </a:t>
            </a:r>
            <a:r>
              <a:rPr dirty="0"/>
              <a:t>|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3200400"/>
            <a:ext cx="1097280" cy="1097280"/>
          </a:xfrm>
          <a:prstGeom prst="roundRect">
            <a:avLst/>
          </a:prstGeom>
          <a:solidFill>
            <a:srgbClr val="FF8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Process / </a:t>
            </a:r>
            <a:r>
              <a:rPr dirty="0"/>
              <a:t>Timeline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1828800" cy="54864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645920" y="3154680"/>
            <a:ext cx="8869680" cy="54864"/>
          </a:xfrm>
          <a:prstGeom prst="roundRect">
            <a:avLst/>
          </a:prstGeom>
          <a:solidFill>
            <a:srgbClr val="F0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71600" y="256032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436"/>
                </a:solidFill>
                <a:latin typeface="Segoe UI"/>
              </a:defRPr>
            </a:pPr>
            <a:r>
              <a:rPr dirty="0"/>
              <a:t>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36E72"/>
                </a:solidFill>
                <a:latin typeface="Segoe UI"/>
              </a:defRPr>
            </a:pPr>
            <a:r>
              <a:rPr dirty="0"/>
              <a:t>Gather data and insights</a:t>
            </a:r>
          </a:p>
        </p:txBody>
      </p:sp>
      <p:sp>
        <p:nvSpPr>
          <p:cNvPr id="12" name="Oval 11"/>
          <p:cNvSpPr/>
          <p:nvPr/>
        </p:nvSpPr>
        <p:spPr>
          <a:xfrm>
            <a:off x="3977639" y="2560320"/>
            <a:ext cx="1097280" cy="109728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77639" y="2697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29BFE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19" y="3840480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Cleaning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520439" y="429768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Clean erroneous entries</a:t>
            </a:r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6583680" y="2560320"/>
            <a:ext cx="1097280" cy="1097280"/>
          </a:xfrm>
          <a:prstGeom prst="ellipse">
            <a:avLst/>
          </a:prstGeom>
          <a:solidFill>
            <a:srgbClr val="FF8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697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E53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436"/>
                </a:solidFill>
                <a:latin typeface="Segoe UI"/>
              </a:defRPr>
            </a:pPr>
            <a:r>
              <a:rPr dirty="0"/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97680"/>
            <a:ext cx="2011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Perform embedding and load in </a:t>
            </a:r>
            <a:r>
              <a:rPr lang="en-IN" dirty="0" err="1"/>
              <a:t>ChromaDB</a:t>
            </a:r>
            <a:endParaRPr dirty="0"/>
          </a:p>
        </p:txBody>
      </p:sp>
      <p:sp>
        <p:nvSpPr>
          <p:cNvPr id="20" name="Oval 19"/>
          <p:cNvSpPr/>
          <p:nvPr/>
        </p:nvSpPr>
        <p:spPr>
          <a:xfrm>
            <a:off x="9189720" y="2560320"/>
            <a:ext cx="1097280" cy="109728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2697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894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840480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Deploy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697683" y="4297680"/>
            <a:ext cx="21096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Pass the response to LLM and send to frontend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5F0"/>
            </a:gs>
            <a:gs pos="100000">
              <a:srgbClr val="E8E5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About the Data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  <a:defRPr sz="18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Dataset </a:t>
            </a:r>
            <a:r>
              <a:rPr lang="en-IN" dirty="0" err="1"/>
              <a:t>compostition</a:t>
            </a:r>
            <a:endParaRPr lang="en-IN" dirty="0"/>
          </a:p>
          <a:p>
            <a:pPr marL="285750" indent="-285750" algn="l">
              <a:buFontTx/>
              <a:buChar char="-"/>
              <a:defRPr sz="18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Feature </a:t>
            </a:r>
            <a:r>
              <a:rPr lang="en-IN" dirty="0" err="1"/>
              <a:t>distrubution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Dataset Composition 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1828800" cy="54864"/>
          </a:xfrm>
          <a:prstGeom prst="roundRect">
            <a:avLst/>
          </a:prstGeom>
          <a:solidFill>
            <a:srgbClr val="FF8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5603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2194560"/>
            <a:ext cx="1188720" cy="11887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  <a:latin typeface="Segoe UI"/>
              </a:defRPr>
            </a:pPr>
            <a: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Question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5603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14800" y="2194560"/>
            <a:ext cx="1188720" cy="118872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29BFE"/>
                </a:solidFill>
                <a:latin typeface="Segoe UI"/>
              </a:defRPr>
            </a:pPr>
            <a:r>
              <a:t>2.4K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65760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Answer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309359" y="1828800"/>
            <a:ext cx="25603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995159" y="2194560"/>
            <a:ext cx="1188720" cy="11887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39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B894"/>
                </a:solidFill>
                <a:latin typeface="Segoe UI"/>
              </a:defRPr>
            </a:pPr>
            <a:r>
              <a:t>18ms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365760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Source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9189719" y="1828800"/>
            <a:ext cx="25603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75519" y="2194560"/>
            <a:ext cx="1188720" cy="1188720"/>
          </a:xfrm>
          <a:prstGeom prst="ellipse">
            <a:avLst/>
          </a:prstGeom>
          <a:solidFill>
            <a:srgbClr val="FF8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599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8E53"/>
                </a:solidFill>
                <a:latin typeface="Segoe UI"/>
              </a:defRPr>
            </a:pPr>
            <a:r>
              <a:t>4.9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365760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Focus Area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Feature Distribution – Focus Area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1828800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920240"/>
            <a:ext cx="457200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Unique Focus Areas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05840" y="3178631"/>
            <a:ext cx="27432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Out of 16412 questions, Total number of unique focus areas: 5125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63440" y="1920240"/>
            <a:ext cx="457200" cy="73152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39" y="2286000"/>
            <a:ext cx="2843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Entries Per Focus Area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663440" y="3178631"/>
            <a:ext cx="274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Entries per Focus Area:</a:t>
            </a:r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- Maximum: 53</a:t>
            </a:r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- Average: 3.20</a:t>
            </a:r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- Minimum: 1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21040" y="1920240"/>
            <a:ext cx="457200" cy="73152"/>
          </a:xfrm>
          <a:prstGeom prst="roundRect">
            <a:avLst/>
          </a:prstGeom>
          <a:solidFill>
            <a:srgbClr val="FF8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No. of Focus Area with 1 question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321040" y="3178631"/>
            <a:ext cx="274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Number of focus areas with only 1 question: 2332</a:t>
            </a:r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This represents 45.50% of all unique focus areas.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31102-8A7E-9038-56AA-049E56B6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F50D718-9DD8-C402-EA79-A6B48558243F}"/>
              </a:ext>
            </a:extLst>
          </p:cNvPr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5B4B08-9436-04EA-FFB5-6786F76B6D96}"/>
              </a:ext>
            </a:extLst>
          </p:cNvPr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C0AE97-A376-F988-23FE-5C3953E246E4}"/>
              </a:ext>
            </a:extLst>
          </p:cNvPr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7EBD3-EDFC-9529-0BA7-F4AA07A52D1D}"/>
              </a:ext>
            </a:extLst>
          </p:cNvPr>
          <p:cNvSpPr txBox="1"/>
          <p:nvPr/>
        </p:nvSpPr>
        <p:spPr>
          <a:xfrm>
            <a:off x="731520" y="45720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Feature Distribution – Focus Area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E85691-3181-BEFF-BDE5-6D5C398F8451}"/>
              </a:ext>
            </a:extLst>
          </p:cNvPr>
          <p:cNvSpPr/>
          <p:nvPr/>
        </p:nvSpPr>
        <p:spPr>
          <a:xfrm>
            <a:off x="731520" y="1051560"/>
            <a:ext cx="1828800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2B6113-A1B5-554A-1743-6D574F40BEB5}"/>
              </a:ext>
            </a:extLst>
          </p:cNvPr>
          <p:cNvSpPr/>
          <p:nvPr/>
        </p:nvSpPr>
        <p:spPr>
          <a:xfrm>
            <a:off x="731520" y="1232261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46430E-D17F-5D4A-7388-9B13941218A2}"/>
              </a:ext>
            </a:extLst>
          </p:cNvPr>
          <p:cNvSpPr/>
          <p:nvPr/>
        </p:nvSpPr>
        <p:spPr>
          <a:xfrm>
            <a:off x="1005840" y="1598021"/>
            <a:ext cx="457200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135C9-A7BC-CFDF-2739-F0F75AF56267}"/>
              </a:ext>
            </a:extLst>
          </p:cNvPr>
          <p:cNvSpPr txBox="1"/>
          <p:nvPr/>
        </p:nvSpPr>
        <p:spPr>
          <a:xfrm>
            <a:off x="1005840" y="1780897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Unique Focus Areas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E4133-A1E3-44FB-4E4C-4DCA758FD384}"/>
              </a:ext>
            </a:extLst>
          </p:cNvPr>
          <p:cNvSpPr txBox="1"/>
          <p:nvPr/>
        </p:nvSpPr>
        <p:spPr>
          <a:xfrm>
            <a:off x="1005840" y="2481934"/>
            <a:ext cx="27432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Out of 16412 questions, Total number of unique focus areas: 5125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7A922B9-CDA8-C46E-8835-A7EA1F3620D4}"/>
              </a:ext>
            </a:extLst>
          </p:cNvPr>
          <p:cNvSpPr/>
          <p:nvPr/>
        </p:nvSpPr>
        <p:spPr>
          <a:xfrm>
            <a:off x="4389120" y="1232261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9A61FE-902C-F79C-DDD8-939DCB3A75E8}"/>
              </a:ext>
            </a:extLst>
          </p:cNvPr>
          <p:cNvSpPr/>
          <p:nvPr/>
        </p:nvSpPr>
        <p:spPr>
          <a:xfrm>
            <a:off x="4663440" y="1598021"/>
            <a:ext cx="457200" cy="73152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AD3867-BD9D-564A-DBC4-057DB58DC9B9}"/>
              </a:ext>
            </a:extLst>
          </p:cNvPr>
          <p:cNvSpPr txBox="1"/>
          <p:nvPr/>
        </p:nvSpPr>
        <p:spPr>
          <a:xfrm>
            <a:off x="4663439" y="1780897"/>
            <a:ext cx="2843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Entries Per Focus Area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8B1DA5-BB33-E60E-AB27-8E7A71C33EB7}"/>
              </a:ext>
            </a:extLst>
          </p:cNvPr>
          <p:cNvSpPr txBox="1"/>
          <p:nvPr/>
        </p:nvSpPr>
        <p:spPr>
          <a:xfrm>
            <a:off x="4663440" y="2467451"/>
            <a:ext cx="274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Entries per Focus Area:</a:t>
            </a:r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- Maximum: 53</a:t>
            </a:r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- Average: 3.20</a:t>
            </a:r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- Minimum: 1</a:t>
            </a:r>
            <a:endParaRPr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C91488-B3E6-2D9F-CB55-0C47FEAC10D6}"/>
              </a:ext>
            </a:extLst>
          </p:cNvPr>
          <p:cNvSpPr/>
          <p:nvPr/>
        </p:nvSpPr>
        <p:spPr>
          <a:xfrm>
            <a:off x="8046720" y="1232261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75D9C6C-EF66-9499-A01D-901555C09F8D}"/>
              </a:ext>
            </a:extLst>
          </p:cNvPr>
          <p:cNvSpPr/>
          <p:nvPr/>
        </p:nvSpPr>
        <p:spPr>
          <a:xfrm>
            <a:off x="8321040" y="1598021"/>
            <a:ext cx="457200" cy="73152"/>
          </a:xfrm>
          <a:prstGeom prst="roundRect">
            <a:avLst/>
          </a:prstGeom>
          <a:solidFill>
            <a:srgbClr val="FF8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B92B9F-5106-F770-B67A-08F70FA88811}"/>
              </a:ext>
            </a:extLst>
          </p:cNvPr>
          <p:cNvSpPr txBox="1"/>
          <p:nvPr/>
        </p:nvSpPr>
        <p:spPr>
          <a:xfrm>
            <a:off x="8321040" y="1780897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No. of Focus Area with 1 question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85BB4F-A153-4137-A850-73C52919140B}"/>
              </a:ext>
            </a:extLst>
          </p:cNvPr>
          <p:cNvSpPr txBox="1"/>
          <p:nvPr/>
        </p:nvSpPr>
        <p:spPr>
          <a:xfrm>
            <a:off x="8321040" y="2467451"/>
            <a:ext cx="274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Number of focus areas with only 1 question: 2332</a:t>
            </a:r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This represents 45.50% of all unique focus areas.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CE7FFC-9141-44DC-9653-D6FEC216E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6" y="3288535"/>
            <a:ext cx="3975460" cy="33853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CE5E64-BB22-9A3E-2BEB-5706E6E18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027" y="3483114"/>
            <a:ext cx="3747855" cy="319072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BFD465E-3856-746E-C9C9-62BF6CC35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1" y="3483114"/>
            <a:ext cx="3888374" cy="3200401"/>
          </a:xfrm>
          <a:prstGeom prst="round2DiagRect">
            <a:avLst/>
          </a:prstGeom>
        </p:spPr>
      </p:pic>
    </p:spTree>
    <p:extLst>
      <p:ext uri="{BB962C8B-B14F-4D97-AF65-F5344CB8AC3E}">
        <p14:creationId xmlns:p14="http://schemas.microsoft.com/office/powerpoint/2010/main" val="81151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FB786-7ED2-C3F6-C552-2282DAA1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B508E3D-EF04-31BE-A921-84B9A73D9333}"/>
              </a:ext>
            </a:extLst>
          </p:cNvPr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920613-6F7E-83A0-4129-0470458CF6DC}"/>
              </a:ext>
            </a:extLst>
          </p:cNvPr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DA6CC-2992-6601-A4C0-F0B23FEFA8DA}"/>
              </a:ext>
            </a:extLst>
          </p:cNvPr>
          <p:cNvSpPr txBox="1"/>
          <p:nvPr/>
        </p:nvSpPr>
        <p:spPr>
          <a:xfrm>
            <a:off x="731520" y="45720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Feature Distribution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B598343-2354-2F5B-9F10-FAE2375AE04F}"/>
              </a:ext>
            </a:extLst>
          </p:cNvPr>
          <p:cNvSpPr/>
          <p:nvPr/>
        </p:nvSpPr>
        <p:spPr>
          <a:xfrm>
            <a:off x="731520" y="1051560"/>
            <a:ext cx="1828800" cy="54864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ABBBA6C-4DE4-D25F-B885-3BF0DAFD5CA9}"/>
              </a:ext>
            </a:extLst>
          </p:cNvPr>
          <p:cNvSpPr/>
          <p:nvPr/>
        </p:nvSpPr>
        <p:spPr>
          <a:xfrm>
            <a:off x="731520" y="1554480"/>
            <a:ext cx="5120640" cy="506403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21903-9D59-C9D8-58B4-378B401526E1}"/>
              </a:ext>
            </a:extLst>
          </p:cNvPr>
          <p:cNvSpPr txBox="1"/>
          <p:nvPr/>
        </p:nvSpPr>
        <p:spPr>
          <a:xfrm>
            <a:off x="1097280" y="1920240"/>
            <a:ext cx="4389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Distribution of Data Sources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9BFBB-64ED-3E8E-1D9C-3D39160A9777}"/>
              </a:ext>
            </a:extLst>
          </p:cNvPr>
          <p:cNvSpPr txBox="1"/>
          <p:nvPr/>
        </p:nvSpPr>
        <p:spPr>
          <a:xfrm>
            <a:off x="1097280" y="2651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dirty="0"/>
              <a:t>  First bullet point goes here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5FC97F-794A-5F49-5099-247F670B04ED}"/>
              </a:ext>
            </a:extLst>
          </p:cNvPr>
          <p:cNvSpPr/>
          <p:nvPr/>
        </p:nvSpPr>
        <p:spPr>
          <a:xfrm>
            <a:off x="6217920" y="1554480"/>
            <a:ext cx="5120640" cy="506403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A7C1E-8EA9-6571-4E2E-6382500BD787}"/>
              </a:ext>
            </a:extLst>
          </p:cNvPr>
          <p:cNvSpPr txBox="1"/>
          <p:nvPr/>
        </p:nvSpPr>
        <p:spPr>
          <a:xfrm>
            <a:off x="6583680" y="1920240"/>
            <a:ext cx="4389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Top 20 common words in the Question/Answer Corpus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1DB8FA-3170-3F36-41C2-0B9127474F14}"/>
              </a:ext>
            </a:extLst>
          </p:cNvPr>
          <p:cNvSpPr txBox="1"/>
          <p:nvPr/>
        </p:nvSpPr>
        <p:spPr>
          <a:xfrm>
            <a:off x="6583680" y="2651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dirty="0"/>
              <a:t>  Supporting detail one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2E25C7-6E22-1AE5-B1EF-DF61B381E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51" r="10161" b="6298"/>
          <a:stretch>
            <a:fillRect/>
          </a:stretch>
        </p:blipFill>
        <p:spPr>
          <a:xfrm>
            <a:off x="1193073" y="2442567"/>
            <a:ext cx="4197531" cy="40496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4D799E1-2B91-ED5D-B483-CC7C359625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" r="1470"/>
          <a:stretch>
            <a:fillRect/>
          </a:stretch>
        </p:blipFill>
        <p:spPr>
          <a:xfrm>
            <a:off x="5988829" y="2689681"/>
            <a:ext cx="5578821" cy="3833457"/>
          </a:xfrm>
          <a:prstGeom prst="round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5DE5231-C330-6339-2091-816306B0498E}"/>
              </a:ext>
            </a:extLst>
          </p:cNvPr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68180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5F0"/>
            </a:gs>
            <a:gs pos="100000">
              <a:srgbClr val="E8E5FF"/>
            </a:gs>
          </a:gsLst>
          <a:lin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C2911-A012-1C9F-7047-25FCB82E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E6AB5BE-DFE7-0618-0A8D-9954203D4323}"/>
              </a:ext>
            </a:extLst>
          </p:cNvPr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77152C-584A-14E2-BBF2-282ABD8D482C}"/>
              </a:ext>
            </a:extLst>
          </p:cNvPr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EAD711-C0BC-316C-EC58-74EAB2C13671}"/>
              </a:ext>
            </a:extLst>
          </p:cNvPr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738DB0-08B3-6B39-F766-FDC3EE7A4C31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887B6-2657-A8CA-586D-E9636D8DD400}"/>
              </a:ext>
            </a:extLst>
          </p:cNvPr>
          <p:cNvSpPr txBox="1"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SECTION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7C076-B3BA-D4D1-1E5D-519EA4875F79}"/>
              </a:ext>
            </a:extLst>
          </p:cNvPr>
          <p:cNvSpPr txBox="1"/>
          <p:nvPr/>
        </p:nvSpPr>
        <p:spPr>
          <a:xfrm>
            <a:off x="1371600" y="201168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Cleaning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3590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5F0"/>
            </a:gs>
            <a:gs pos="100000">
              <a:srgbClr val="E8E5FF"/>
            </a:gs>
          </a:gsLst>
          <a:lin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C46B9-4AEE-DE26-5009-686F75882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29CBEF8-CBD3-491E-934D-1E568DD424C2}"/>
              </a:ext>
            </a:extLst>
          </p:cNvPr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AD35149-1158-3DC7-DB68-33AD16FC33E1}"/>
              </a:ext>
            </a:extLst>
          </p:cNvPr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A63E9-C591-FCEC-139F-A1E8A2AE4702}"/>
              </a:ext>
            </a:extLst>
          </p:cNvPr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4ED93A-4570-0FEE-0974-59F8F841864C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65F22-5A03-9C5F-863F-56250AE94246}"/>
              </a:ext>
            </a:extLst>
          </p:cNvPr>
          <p:cNvSpPr txBox="1"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SECTION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5E2E6F-1B9F-5966-DCB9-E18A5229CAE1}"/>
              </a:ext>
            </a:extLst>
          </p:cNvPr>
          <p:cNvSpPr txBox="1"/>
          <p:nvPr/>
        </p:nvSpPr>
        <p:spPr>
          <a:xfrm>
            <a:off x="1371600" y="201168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RAG System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8593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03F54-88B7-A04D-5B2F-56111E44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4555822-325E-E476-325A-A16CA259FE14}"/>
              </a:ext>
            </a:extLst>
          </p:cNvPr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A3218E4-5A81-0204-0DAC-6A160D2F007C}"/>
              </a:ext>
            </a:extLst>
          </p:cNvPr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FCD98A-7122-D2BB-8728-2DF280703CD4}"/>
              </a:ext>
            </a:extLst>
          </p:cNvPr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3AED3-C4EC-3C1A-C820-CC9E66E4F969}"/>
              </a:ext>
            </a:extLst>
          </p:cNvPr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Process / </a:t>
            </a:r>
            <a:r>
              <a:rPr dirty="0"/>
              <a:t>Timeline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491BF3-D0C7-A351-0B05-CDA1ED584AFE}"/>
              </a:ext>
            </a:extLst>
          </p:cNvPr>
          <p:cNvSpPr/>
          <p:nvPr/>
        </p:nvSpPr>
        <p:spPr>
          <a:xfrm>
            <a:off x="731520" y="1051560"/>
            <a:ext cx="1828800" cy="54864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72D566-3F24-2F00-9AC5-B60388B1D374}"/>
              </a:ext>
            </a:extLst>
          </p:cNvPr>
          <p:cNvSpPr/>
          <p:nvPr/>
        </p:nvSpPr>
        <p:spPr>
          <a:xfrm>
            <a:off x="1645920" y="3154680"/>
            <a:ext cx="8869680" cy="54864"/>
          </a:xfrm>
          <a:prstGeom prst="roundRect">
            <a:avLst/>
          </a:prstGeom>
          <a:solidFill>
            <a:srgbClr val="F0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3FB037-C144-70F0-8EE8-BA74935C63BD}"/>
              </a:ext>
            </a:extLst>
          </p:cNvPr>
          <p:cNvSpPr/>
          <p:nvPr/>
        </p:nvSpPr>
        <p:spPr>
          <a:xfrm>
            <a:off x="1371600" y="256032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B78D48-7021-E39B-46BD-B61695221817}"/>
              </a:ext>
            </a:extLst>
          </p:cNvPr>
          <p:cNvSpPr txBox="1"/>
          <p:nvPr/>
        </p:nvSpPr>
        <p:spPr>
          <a:xfrm>
            <a:off x="1371600" y="2697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4D3CCE-3F00-5A85-9485-E4F6B123EBB6}"/>
              </a:ext>
            </a:extLst>
          </p:cNvPr>
          <p:cNvSpPr txBox="1"/>
          <p:nvPr/>
        </p:nvSpPr>
        <p:spPr>
          <a:xfrm>
            <a:off x="109728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436"/>
                </a:solidFill>
                <a:latin typeface="Segoe UI"/>
              </a:defRPr>
            </a:pPr>
            <a:r>
              <a:rPr dirty="0"/>
              <a:t>Research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AC9125-2001-2D6A-8DD1-5EA4E4ED6B3F}"/>
              </a:ext>
            </a:extLst>
          </p:cNvPr>
          <p:cNvSpPr txBox="1"/>
          <p:nvPr/>
        </p:nvSpPr>
        <p:spPr>
          <a:xfrm>
            <a:off x="914400" y="4297680"/>
            <a:ext cx="20116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36E72"/>
                </a:solidFill>
                <a:latin typeface="Segoe UI"/>
              </a:defRPr>
            </a:pPr>
            <a:r>
              <a:rPr dirty="0"/>
              <a:t>Gather </a:t>
            </a:r>
            <a:r>
              <a:rPr lang="en-IN" dirty="0"/>
              <a:t>types of embeddings possible and choose the best one</a:t>
            </a:r>
            <a:endParaRPr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AB3E65-2B7C-8486-2F52-2709821476E7}"/>
              </a:ext>
            </a:extLst>
          </p:cNvPr>
          <p:cNvSpPr/>
          <p:nvPr/>
        </p:nvSpPr>
        <p:spPr>
          <a:xfrm>
            <a:off x="3977639" y="2560320"/>
            <a:ext cx="1097280" cy="109728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A96A5-A601-77E6-7C30-B90E18E42A91}"/>
              </a:ext>
            </a:extLst>
          </p:cNvPr>
          <p:cNvSpPr txBox="1"/>
          <p:nvPr/>
        </p:nvSpPr>
        <p:spPr>
          <a:xfrm>
            <a:off x="3977639" y="2697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29BFE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EDFF3A-2B41-AAB9-5A0D-2411A196C126}"/>
              </a:ext>
            </a:extLst>
          </p:cNvPr>
          <p:cNvSpPr txBox="1"/>
          <p:nvPr/>
        </p:nvSpPr>
        <p:spPr>
          <a:xfrm>
            <a:off x="3703319" y="3840480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Build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37F92B-1E4F-97C3-9CD4-CEEF9CEB8557}"/>
              </a:ext>
            </a:extLst>
          </p:cNvPr>
          <p:cNvSpPr txBox="1"/>
          <p:nvPr/>
        </p:nvSpPr>
        <p:spPr>
          <a:xfrm>
            <a:off x="3520439" y="4297680"/>
            <a:ext cx="20116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Perform embedding via </a:t>
            </a:r>
            <a:r>
              <a:rPr lang="en-IN" sz="1300" dirty="0"/>
              <a:t>all-MiniLM-L6-v2</a:t>
            </a:r>
            <a:r>
              <a:rPr lang="en-US" dirty="0"/>
              <a:t> and load in </a:t>
            </a:r>
            <a:r>
              <a:rPr lang="en-US" dirty="0" err="1"/>
              <a:t>ChromaDB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E52094D-000D-7CB2-0E05-0A1E25B4B33E}"/>
              </a:ext>
            </a:extLst>
          </p:cNvPr>
          <p:cNvSpPr/>
          <p:nvPr/>
        </p:nvSpPr>
        <p:spPr>
          <a:xfrm>
            <a:off x="6583680" y="2560320"/>
            <a:ext cx="1097280" cy="1097280"/>
          </a:xfrm>
          <a:prstGeom prst="ellipse">
            <a:avLst/>
          </a:prstGeom>
          <a:solidFill>
            <a:srgbClr val="FF8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84132A-F4CD-45D3-CF13-235B4B319DEA}"/>
              </a:ext>
            </a:extLst>
          </p:cNvPr>
          <p:cNvSpPr txBox="1"/>
          <p:nvPr/>
        </p:nvSpPr>
        <p:spPr>
          <a:xfrm>
            <a:off x="6583680" y="2697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E53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0F7D51-A3CF-EC1E-DF8D-9D2057E1BFF7}"/>
              </a:ext>
            </a:extLst>
          </p:cNvPr>
          <p:cNvSpPr txBox="1"/>
          <p:nvPr/>
        </p:nvSpPr>
        <p:spPr>
          <a:xfrm>
            <a:off x="6309360" y="3840480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436"/>
                </a:solidFill>
                <a:latin typeface="Segoe UI"/>
              </a:defRPr>
            </a:pPr>
            <a:r>
              <a:rPr lang="en-IN" dirty="0" err="1"/>
              <a:t>Retreival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454717-24D9-3414-A7D3-96C60BE99173}"/>
              </a:ext>
            </a:extLst>
          </p:cNvPr>
          <p:cNvSpPr txBox="1"/>
          <p:nvPr/>
        </p:nvSpPr>
        <p:spPr>
          <a:xfrm>
            <a:off x="6126480" y="4297680"/>
            <a:ext cx="2011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Return top docs via Cosine Similarity</a:t>
            </a:r>
            <a:endParaRPr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1A9261-CB7C-89BA-6D2F-E7799C288500}"/>
              </a:ext>
            </a:extLst>
          </p:cNvPr>
          <p:cNvSpPr/>
          <p:nvPr/>
        </p:nvSpPr>
        <p:spPr>
          <a:xfrm>
            <a:off x="9189720" y="2560320"/>
            <a:ext cx="1097280" cy="109728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32BF8A-129C-457B-B7A5-465611E85735}"/>
              </a:ext>
            </a:extLst>
          </p:cNvPr>
          <p:cNvSpPr txBox="1"/>
          <p:nvPr/>
        </p:nvSpPr>
        <p:spPr>
          <a:xfrm>
            <a:off x="9189720" y="26974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894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FC09E0-A5F0-7256-7896-0CCF9BD09F3C}"/>
              </a:ext>
            </a:extLst>
          </p:cNvPr>
          <p:cNvSpPr txBox="1"/>
          <p:nvPr/>
        </p:nvSpPr>
        <p:spPr>
          <a:xfrm>
            <a:off x="8915400" y="3840480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Saving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07DD7C-88A6-9506-9BE3-4815C47FBCA4}"/>
              </a:ext>
            </a:extLst>
          </p:cNvPr>
          <p:cNvSpPr txBox="1"/>
          <p:nvPr/>
        </p:nvSpPr>
        <p:spPr>
          <a:xfrm>
            <a:off x="8697683" y="4297680"/>
            <a:ext cx="21096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Save the embeddings for faster future use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9648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A3231-4DEE-22BA-652C-F9EB38F6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ECEDEF7-03BA-661A-2E0C-573529288BD3}"/>
              </a:ext>
            </a:extLst>
          </p:cNvPr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85E0611-4023-7EB0-E80E-D0E72A5840F1}"/>
              </a:ext>
            </a:extLst>
          </p:cNvPr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EB617C-E1E5-F31C-E7A2-FDC91E883D69}"/>
              </a:ext>
            </a:extLst>
          </p:cNvPr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BC03F-41C9-60A5-8E85-479867D9AECA}"/>
              </a:ext>
            </a:extLst>
          </p:cNvPr>
          <p:cNvSpPr txBox="1"/>
          <p:nvPr/>
        </p:nvSpPr>
        <p:spPr>
          <a:xfrm>
            <a:off x="731520" y="45720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Embedding Research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458712E-EA36-A302-C4FA-10A16B06325A}"/>
              </a:ext>
            </a:extLst>
          </p:cNvPr>
          <p:cNvSpPr/>
          <p:nvPr/>
        </p:nvSpPr>
        <p:spPr>
          <a:xfrm>
            <a:off x="731520" y="1051560"/>
            <a:ext cx="1828800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B2D0CC1-46D3-7311-0F36-C7D55837ABC6}"/>
              </a:ext>
            </a:extLst>
          </p:cNvPr>
          <p:cNvSpPr/>
          <p:nvPr/>
        </p:nvSpPr>
        <p:spPr>
          <a:xfrm>
            <a:off x="731520" y="1232260"/>
            <a:ext cx="3291840" cy="507021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C710863-BEBB-A306-44EC-E05671AAB239}"/>
              </a:ext>
            </a:extLst>
          </p:cNvPr>
          <p:cNvSpPr/>
          <p:nvPr/>
        </p:nvSpPr>
        <p:spPr>
          <a:xfrm>
            <a:off x="1005840" y="1598021"/>
            <a:ext cx="457200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95630-5670-360C-7F57-A0F5EAF49673}"/>
              </a:ext>
            </a:extLst>
          </p:cNvPr>
          <p:cNvSpPr txBox="1"/>
          <p:nvPr/>
        </p:nvSpPr>
        <p:spPr>
          <a:xfrm>
            <a:off x="1005840" y="1780897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sz="2000" b="1" dirty="0"/>
              <a:t>Sparse Embeddings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D7AA0-9178-C0C6-C9E6-D6160BDE135E}"/>
              </a:ext>
            </a:extLst>
          </p:cNvPr>
          <p:cNvSpPr txBox="1"/>
          <p:nvPr/>
        </p:nvSpPr>
        <p:spPr>
          <a:xfrm>
            <a:off x="1005840" y="2845727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TF-IDF</a:t>
            </a:r>
          </a:p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Bag of Words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2E77E0-7178-86A8-B72C-365298945238}"/>
              </a:ext>
            </a:extLst>
          </p:cNvPr>
          <p:cNvSpPr/>
          <p:nvPr/>
        </p:nvSpPr>
        <p:spPr>
          <a:xfrm>
            <a:off x="4389120" y="1232260"/>
            <a:ext cx="3291840" cy="507021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9B3BD8F-FF23-8008-C15B-E081AC7D7421}"/>
              </a:ext>
            </a:extLst>
          </p:cNvPr>
          <p:cNvSpPr/>
          <p:nvPr/>
        </p:nvSpPr>
        <p:spPr>
          <a:xfrm>
            <a:off x="4663440" y="1598021"/>
            <a:ext cx="457200" cy="73152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214C9-03F4-01D9-73C8-E38C7FDEB45A}"/>
              </a:ext>
            </a:extLst>
          </p:cNvPr>
          <p:cNvSpPr txBox="1"/>
          <p:nvPr/>
        </p:nvSpPr>
        <p:spPr>
          <a:xfrm>
            <a:off x="4663439" y="1780897"/>
            <a:ext cx="2843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sz="2000" b="1" dirty="0"/>
              <a:t>Word Embeddings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602593-AFE1-1759-3D7C-125E6F3D1AB8}"/>
              </a:ext>
            </a:extLst>
          </p:cNvPr>
          <p:cNvSpPr txBox="1"/>
          <p:nvPr/>
        </p:nvSpPr>
        <p:spPr>
          <a:xfrm>
            <a:off x="4663440" y="2831247"/>
            <a:ext cx="274320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400" dirty="0"/>
              <a:t>Word2Vec: Predicts context words. Two variants: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400" dirty="0"/>
              <a:t>CBOW (context → word)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400" dirty="0"/>
              <a:t>Skip-gram (word → context)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400" dirty="0" err="1"/>
              <a:t>GloVe</a:t>
            </a:r>
            <a:r>
              <a:rPr lang="en-US" sz="1400" dirty="0"/>
              <a:t>: Uses global word co-occurrence statistics. More “statistical” than Word2Vec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400" dirty="0" err="1"/>
              <a:t>FastText</a:t>
            </a:r>
            <a:r>
              <a:rPr lang="en-US" sz="1400" dirty="0"/>
              <a:t>: Breaks words into </a:t>
            </a:r>
            <a:r>
              <a:rPr lang="en-US" sz="1400" dirty="0" err="1"/>
              <a:t>subwords</a:t>
            </a:r>
            <a:r>
              <a:rPr lang="en-US" sz="1400" dirty="0"/>
              <a:t>. Handles rare + misspelled words better</a:t>
            </a:r>
            <a:endParaRPr sz="14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F253224-B720-AF20-1973-742C0D90F417}"/>
              </a:ext>
            </a:extLst>
          </p:cNvPr>
          <p:cNvSpPr/>
          <p:nvPr/>
        </p:nvSpPr>
        <p:spPr>
          <a:xfrm>
            <a:off x="8046720" y="1232260"/>
            <a:ext cx="3291840" cy="507021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6515C1A-27C5-D159-9210-2D58D916A7E8}"/>
              </a:ext>
            </a:extLst>
          </p:cNvPr>
          <p:cNvSpPr/>
          <p:nvPr/>
        </p:nvSpPr>
        <p:spPr>
          <a:xfrm>
            <a:off x="8321040" y="1598021"/>
            <a:ext cx="457200" cy="73152"/>
          </a:xfrm>
          <a:prstGeom prst="roundRect">
            <a:avLst/>
          </a:prstGeom>
          <a:solidFill>
            <a:srgbClr val="FF8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38A3E9-2120-3B97-A631-435D52D0C3C5}"/>
              </a:ext>
            </a:extLst>
          </p:cNvPr>
          <p:cNvSpPr txBox="1"/>
          <p:nvPr/>
        </p:nvSpPr>
        <p:spPr>
          <a:xfrm>
            <a:off x="8321040" y="1780897"/>
            <a:ext cx="274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sz="2000" b="1" dirty="0"/>
              <a:t>Sentence / Paragraph Embeddings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87E158-6D62-A5AA-3770-C709270F6435}"/>
              </a:ext>
            </a:extLst>
          </p:cNvPr>
          <p:cNvSpPr txBox="1"/>
          <p:nvPr/>
        </p:nvSpPr>
        <p:spPr>
          <a:xfrm>
            <a:off x="8321040" y="2890241"/>
            <a:ext cx="27432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Whole sentence → one vector </a:t>
            </a:r>
            <a:br>
              <a:rPr lang="en-US" dirty="0"/>
            </a:br>
            <a:endParaRPr lang="en-US" dirty="0"/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Examples: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Sentence-BERT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all-MiniLM-L6-v2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all-mpnet-base-v2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endParaRPr lang="en-US" dirty="0"/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Used in: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semantic search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RAG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clustering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F4C887-1EF7-E104-5CC3-A952AC2D1131}"/>
              </a:ext>
            </a:extLst>
          </p:cNvPr>
          <p:cNvSpPr txBox="1"/>
          <p:nvPr/>
        </p:nvSpPr>
        <p:spPr>
          <a:xfrm>
            <a:off x="1005840" y="3513615"/>
            <a:ext cx="2743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Based on keyword search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D935FC-E70B-B78E-FEF2-FC968AAF3AFD}"/>
              </a:ext>
            </a:extLst>
          </p:cNvPr>
          <p:cNvSpPr txBox="1"/>
          <p:nvPr/>
        </p:nvSpPr>
        <p:spPr>
          <a:xfrm>
            <a:off x="1005840" y="3962617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Cannot understand semantic meanings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9EF3EA-0D10-4EB2-06C6-43DFCDB0A04C}"/>
              </a:ext>
            </a:extLst>
          </p:cNvPr>
          <p:cNvSpPr txBox="1"/>
          <p:nvPr/>
        </p:nvSpPr>
        <p:spPr>
          <a:xfrm>
            <a:off x="1005840" y="4642452"/>
            <a:ext cx="27432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Not suitable for chatbots where user may not enter exact words.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E2AC3B-67D1-E80A-9368-9FB315674619}"/>
              </a:ext>
            </a:extLst>
          </p:cNvPr>
          <p:cNvSpPr txBox="1"/>
          <p:nvPr/>
        </p:nvSpPr>
        <p:spPr>
          <a:xfrm>
            <a:off x="4713513" y="5555070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500" dirty="0"/>
              <a:t>Each word has </a:t>
            </a:r>
            <a:r>
              <a:rPr lang="en-US" sz="1500" b="1" dirty="0"/>
              <a:t>one fixed vector</a:t>
            </a:r>
            <a:r>
              <a:rPr lang="en-US" sz="1500" dirty="0"/>
              <a:t> (no context awareness)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2065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All about all-MiniLM-L6-v2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1828800" cy="54864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Training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389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Specs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97280" y="3265527"/>
            <a:ext cx="438912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500" dirty="0"/>
              <a:t>Layers: </a:t>
            </a:r>
            <a:r>
              <a:rPr lang="en-US" sz="1500" b="1" dirty="0"/>
              <a:t>6</a:t>
            </a:r>
            <a:br>
              <a:rPr lang="en-US" sz="1500" b="1" dirty="0"/>
            </a:br>
            <a:r>
              <a:rPr lang="en-US" sz="1500" dirty="0"/>
              <a:t>Params: </a:t>
            </a:r>
            <a:r>
              <a:rPr lang="en-US" sz="1500" b="1" dirty="0"/>
              <a:t>~22M</a:t>
            </a:r>
            <a:br>
              <a:rPr lang="en-US" sz="1500" b="1" dirty="0"/>
            </a:br>
            <a:r>
              <a:rPr lang="en-US" sz="1500" dirty="0"/>
              <a:t>Embedding size: </a:t>
            </a:r>
            <a:r>
              <a:rPr lang="en-US" sz="1500" b="1" dirty="0"/>
              <a:t>384</a:t>
            </a:r>
            <a:br>
              <a:rPr lang="en-US" sz="1500" b="1" dirty="0"/>
            </a:br>
            <a:r>
              <a:rPr lang="en-US" sz="1500" dirty="0"/>
              <a:t>Max tokens: </a:t>
            </a:r>
            <a:r>
              <a:rPr lang="en-US" sz="1500" b="1" dirty="0"/>
              <a:t>~256</a:t>
            </a:r>
            <a:br>
              <a:rPr lang="en-US" sz="1500" b="1" dirty="0"/>
            </a:br>
            <a:r>
              <a:rPr lang="en-US" sz="1500" dirty="0"/>
              <a:t>Model size: </a:t>
            </a:r>
            <a:r>
              <a:rPr lang="en-US" sz="1500" b="1" dirty="0"/>
              <a:t>~22MB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357120"/>
            <a:ext cx="4389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500" dirty="0"/>
              <a:t>~</a:t>
            </a:r>
            <a:r>
              <a:rPr lang="en-US" sz="1500" b="1" dirty="0"/>
              <a:t>5× faster</a:t>
            </a:r>
            <a:r>
              <a:rPr lang="en-US" sz="1500" dirty="0"/>
              <a:t> than large models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500" dirty="0"/>
              <a:t>Strong semantic similarity, lower than </a:t>
            </a:r>
            <a:r>
              <a:rPr lang="en-US" sz="1500" dirty="0" err="1"/>
              <a:t>MPNet</a:t>
            </a:r>
            <a:endParaRPr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1E56B7-156C-C55E-2ABE-361E39311E0A}"/>
              </a:ext>
            </a:extLst>
          </p:cNvPr>
          <p:cNvSpPr/>
          <p:nvPr/>
        </p:nvSpPr>
        <p:spPr>
          <a:xfrm>
            <a:off x="5977217" y="3244334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710EB6-850F-84F4-4FED-71AA67F1F836}"/>
              </a:ext>
            </a:extLst>
          </p:cNvPr>
          <p:cNvSpPr txBox="1"/>
          <p:nvPr/>
        </p:nvSpPr>
        <p:spPr>
          <a:xfrm>
            <a:off x="1097280" y="2258898"/>
            <a:ext cx="4389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Sentence embedding model (SBERT family)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Base: BERT (</a:t>
            </a:r>
            <a:r>
              <a:rPr lang="en-US" dirty="0" err="1"/>
              <a:t>MiniLM</a:t>
            </a:r>
            <a:r>
              <a:rPr lang="en-US" dirty="0"/>
              <a:t> distilled)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63E980-DE1E-76B0-5BE1-F97449885C72}"/>
              </a:ext>
            </a:extLst>
          </p:cNvPr>
          <p:cNvSpPr txBox="1"/>
          <p:nvPr/>
        </p:nvSpPr>
        <p:spPr>
          <a:xfrm>
            <a:off x="1097280" y="4577993"/>
            <a:ext cx="4389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436"/>
                </a:solidFill>
                <a:latin typeface="Segoe UI"/>
              </a:defRPr>
            </a:pPr>
            <a:r>
              <a:rPr lang="en-IN" sz="2200" b="1" dirty="0"/>
              <a:t>Training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33710F-CAC6-989F-3924-CBE2090C8E98}"/>
              </a:ext>
            </a:extLst>
          </p:cNvPr>
          <p:cNvSpPr txBox="1"/>
          <p:nvPr/>
        </p:nvSpPr>
        <p:spPr>
          <a:xfrm>
            <a:off x="1097280" y="5008880"/>
            <a:ext cx="4389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500" dirty="0"/>
              <a:t>Data: </a:t>
            </a:r>
            <a:r>
              <a:rPr lang="en-US" sz="1500" b="1" dirty="0"/>
              <a:t>~1B sentence pairs</a:t>
            </a:r>
          </a:p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500" dirty="0"/>
              <a:t>Method: </a:t>
            </a:r>
            <a:r>
              <a:rPr lang="en-US" sz="1500" b="1" dirty="0"/>
              <a:t>Contrastive learning</a:t>
            </a:r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C65E2B-CC5C-6FB1-F57B-2A416E7C00B4}"/>
              </a:ext>
            </a:extLst>
          </p:cNvPr>
          <p:cNvSpPr txBox="1"/>
          <p:nvPr/>
        </p:nvSpPr>
        <p:spPr>
          <a:xfrm>
            <a:off x="6583680" y="1887677"/>
            <a:ext cx="4389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436"/>
                </a:solidFill>
                <a:latin typeface="Segoe UI"/>
              </a:defRPr>
            </a:pPr>
            <a:r>
              <a:rPr lang="en-IN" sz="2200" b="1" dirty="0"/>
              <a:t>Performance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F17F91-973D-B688-8E8A-8E9AE8EA8A77}"/>
              </a:ext>
            </a:extLst>
          </p:cNvPr>
          <p:cNvSpPr txBox="1"/>
          <p:nvPr/>
        </p:nvSpPr>
        <p:spPr>
          <a:xfrm>
            <a:off x="6583680" y="3537188"/>
            <a:ext cx="4389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Text → Tokens → 6-layer Transformer → Mean Pool → 384-d vector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A03426-2F67-533E-7A4C-8D522737B543}"/>
              </a:ext>
            </a:extLst>
          </p:cNvPr>
          <p:cNvSpPr txBox="1"/>
          <p:nvPr/>
        </p:nvSpPr>
        <p:spPr>
          <a:xfrm>
            <a:off x="6583680" y="3067745"/>
            <a:ext cx="4389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436"/>
                </a:solidFill>
                <a:latin typeface="Segoe UI"/>
              </a:defRPr>
            </a:pPr>
            <a:r>
              <a:rPr lang="en-IN" sz="2200" b="1" dirty="0"/>
              <a:t>Pipeline</a:t>
            </a: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62988B-FF39-7F67-CB8B-2E0B9EB0ABCB}"/>
              </a:ext>
            </a:extLst>
          </p:cNvPr>
          <p:cNvSpPr txBox="1"/>
          <p:nvPr/>
        </p:nvSpPr>
        <p:spPr>
          <a:xfrm>
            <a:off x="6573520" y="4736941"/>
            <a:ext cx="4389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500" dirty="0"/>
              <a:t>Semantic search (RAG)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500" dirty="0"/>
              <a:t>Clustering, similarity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EE20E6-3BA8-AB19-EF40-CBACFF0494D0}"/>
              </a:ext>
            </a:extLst>
          </p:cNvPr>
          <p:cNvSpPr txBox="1"/>
          <p:nvPr/>
        </p:nvSpPr>
        <p:spPr>
          <a:xfrm>
            <a:off x="6573520" y="4267498"/>
            <a:ext cx="4389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436"/>
                </a:solidFill>
                <a:latin typeface="Segoe UI"/>
              </a:defRPr>
            </a:pPr>
            <a:r>
              <a:rPr lang="en-IN" sz="2200" b="1" dirty="0"/>
              <a:t>Uses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DE4C40-345C-E0BA-6653-1E576464175F}"/>
              </a:ext>
            </a:extLst>
          </p:cNvPr>
          <p:cNvSpPr txBox="1"/>
          <p:nvPr/>
        </p:nvSpPr>
        <p:spPr>
          <a:xfrm>
            <a:off x="1097280" y="1806268"/>
            <a:ext cx="4389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436"/>
                </a:solidFill>
                <a:latin typeface="Segoe UI"/>
              </a:defRPr>
            </a:pPr>
            <a:r>
              <a:rPr lang="en-IN" sz="2200" b="1" dirty="0"/>
              <a:t>About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9291B-6A57-3D3A-C4DC-0918EABD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44A9002-F1A7-6D13-9327-EEA87EFE696A}"/>
              </a:ext>
            </a:extLst>
          </p:cNvPr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B1FDC8-D81B-5F6E-68EE-54A6E1B918B9}"/>
              </a:ext>
            </a:extLst>
          </p:cNvPr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0A1962-9B92-1407-47A6-3EEA4D267FB9}"/>
              </a:ext>
            </a:extLst>
          </p:cNvPr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467441-BEE0-F432-04F3-D7D896F68532}"/>
              </a:ext>
            </a:extLst>
          </p:cNvPr>
          <p:cNvSpPr txBox="1"/>
          <p:nvPr/>
        </p:nvSpPr>
        <p:spPr>
          <a:xfrm>
            <a:off x="731520" y="45720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All about all-MiniLM-L6-v2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73ED40A-FA99-1A9A-0EF3-808C91F8329F}"/>
              </a:ext>
            </a:extLst>
          </p:cNvPr>
          <p:cNvSpPr/>
          <p:nvPr/>
        </p:nvSpPr>
        <p:spPr>
          <a:xfrm>
            <a:off x="731520" y="1051560"/>
            <a:ext cx="1828800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299632-3B32-11DA-9471-04FF5ECEEBDB}"/>
              </a:ext>
            </a:extLst>
          </p:cNvPr>
          <p:cNvSpPr/>
          <p:nvPr/>
        </p:nvSpPr>
        <p:spPr>
          <a:xfrm>
            <a:off x="731520" y="1232260"/>
            <a:ext cx="3291840" cy="507021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C90D57-D6D8-E504-2117-103083F11658}"/>
              </a:ext>
            </a:extLst>
          </p:cNvPr>
          <p:cNvSpPr/>
          <p:nvPr/>
        </p:nvSpPr>
        <p:spPr>
          <a:xfrm>
            <a:off x="1005840" y="1598021"/>
            <a:ext cx="457200" cy="7315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C00AEE-BFF5-A92C-E838-BA66F99D4038}"/>
              </a:ext>
            </a:extLst>
          </p:cNvPr>
          <p:cNvSpPr txBox="1"/>
          <p:nvPr/>
        </p:nvSpPr>
        <p:spPr>
          <a:xfrm>
            <a:off x="1005840" y="1780897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sz="2000" b="1" dirty="0"/>
              <a:t>Sparse Embeddings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A8144-B332-D9F8-4ADA-FC1888923825}"/>
              </a:ext>
            </a:extLst>
          </p:cNvPr>
          <p:cNvSpPr txBox="1"/>
          <p:nvPr/>
        </p:nvSpPr>
        <p:spPr>
          <a:xfrm>
            <a:off x="1005840" y="2845727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TF-IDF</a:t>
            </a:r>
          </a:p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Bag of Words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C816E34-727C-AEC7-7649-1581F05A9965}"/>
              </a:ext>
            </a:extLst>
          </p:cNvPr>
          <p:cNvSpPr/>
          <p:nvPr/>
        </p:nvSpPr>
        <p:spPr>
          <a:xfrm>
            <a:off x="4389120" y="1232260"/>
            <a:ext cx="3291840" cy="507021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8E58BD0-BB1A-CEFB-4441-6F5B5A858B42}"/>
              </a:ext>
            </a:extLst>
          </p:cNvPr>
          <p:cNvSpPr/>
          <p:nvPr/>
        </p:nvSpPr>
        <p:spPr>
          <a:xfrm>
            <a:off x="4663440" y="1598021"/>
            <a:ext cx="457200" cy="73152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F1925-E4EC-49F9-DDEA-F7A519987AF6}"/>
              </a:ext>
            </a:extLst>
          </p:cNvPr>
          <p:cNvSpPr txBox="1"/>
          <p:nvPr/>
        </p:nvSpPr>
        <p:spPr>
          <a:xfrm>
            <a:off x="4663439" y="1780897"/>
            <a:ext cx="2843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sz="2000" b="1" dirty="0"/>
              <a:t>Word Embeddings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FC4DB3-2133-EBAD-9FBE-6E4B4ED4E577}"/>
              </a:ext>
            </a:extLst>
          </p:cNvPr>
          <p:cNvSpPr txBox="1"/>
          <p:nvPr/>
        </p:nvSpPr>
        <p:spPr>
          <a:xfrm>
            <a:off x="4663440" y="2831247"/>
            <a:ext cx="274320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400" dirty="0"/>
              <a:t>Word2Vec: Predicts context words. Two variants: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400" dirty="0"/>
              <a:t>CBOW (context → word)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400" dirty="0"/>
              <a:t>Skip-gram (word → context)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400" dirty="0" err="1"/>
              <a:t>GloVe</a:t>
            </a:r>
            <a:r>
              <a:rPr lang="en-US" sz="1400" dirty="0"/>
              <a:t>: Uses global word co-occurrence statistics. More “statistical” than Word2Vec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400" dirty="0" err="1"/>
              <a:t>FastText</a:t>
            </a:r>
            <a:r>
              <a:rPr lang="en-US" sz="1400" dirty="0"/>
              <a:t>: Breaks words into </a:t>
            </a:r>
            <a:r>
              <a:rPr lang="en-US" sz="1400" dirty="0" err="1"/>
              <a:t>subwords</a:t>
            </a:r>
            <a:r>
              <a:rPr lang="en-US" sz="1400" dirty="0"/>
              <a:t>. Handles rare + misspelled words better</a:t>
            </a:r>
            <a:endParaRPr sz="14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9F7489B-B056-BCC3-B685-68EE6F0DAA32}"/>
              </a:ext>
            </a:extLst>
          </p:cNvPr>
          <p:cNvSpPr/>
          <p:nvPr/>
        </p:nvSpPr>
        <p:spPr>
          <a:xfrm>
            <a:off x="8046720" y="1232260"/>
            <a:ext cx="3291840" cy="507021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30FE2FE-E74C-BDF2-C1E9-72FA0BDBE727}"/>
              </a:ext>
            </a:extLst>
          </p:cNvPr>
          <p:cNvSpPr/>
          <p:nvPr/>
        </p:nvSpPr>
        <p:spPr>
          <a:xfrm>
            <a:off x="8321040" y="1598021"/>
            <a:ext cx="457200" cy="73152"/>
          </a:xfrm>
          <a:prstGeom prst="roundRect">
            <a:avLst/>
          </a:prstGeom>
          <a:solidFill>
            <a:srgbClr val="FF8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5DB8F3-54EF-57CE-C0CD-9BC802FF29BB}"/>
              </a:ext>
            </a:extLst>
          </p:cNvPr>
          <p:cNvSpPr txBox="1"/>
          <p:nvPr/>
        </p:nvSpPr>
        <p:spPr>
          <a:xfrm>
            <a:off x="8321040" y="1780897"/>
            <a:ext cx="274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3436"/>
                </a:solidFill>
                <a:latin typeface="Segoe UI"/>
              </a:defRPr>
            </a:pPr>
            <a:r>
              <a:rPr lang="en-IN" sz="2000" b="1" dirty="0"/>
              <a:t>Sentence / Paragraph Embeddings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D2E07C-E8C8-E908-7337-616BA04089E5}"/>
              </a:ext>
            </a:extLst>
          </p:cNvPr>
          <p:cNvSpPr txBox="1"/>
          <p:nvPr/>
        </p:nvSpPr>
        <p:spPr>
          <a:xfrm>
            <a:off x="8321040" y="2890241"/>
            <a:ext cx="27432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Whole sentence → one vector </a:t>
            </a:r>
            <a:br>
              <a:rPr lang="en-US" dirty="0"/>
            </a:br>
            <a:endParaRPr lang="en-US" dirty="0"/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Examples: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Sentence-BERT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all-MiniLM-L6-v2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all-mpnet-base-v2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endParaRPr lang="en-US" dirty="0"/>
          </a:p>
          <a:p>
            <a:pPr algn="l"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Used in: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semantic search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RAG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dirty="0"/>
              <a:t>clustering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4F6C47-4AA4-E5B4-5479-2AF327C9A5A4}"/>
              </a:ext>
            </a:extLst>
          </p:cNvPr>
          <p:cNvSpPr txBox="1"/>
          <p:nvPr/>
        </p:nvSpPr>
        <p:spPr>
          <a:xfrm>
            <a:off x="1005840" y="3513615"/>
            <a:ext cx="2743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Based on keyword search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322B08-8296-9DD1-2350-713138A0D347}"/>
              </a:ext>
            </a:extLst>
          </p:cNvPr>
          <p:cNvSpPr txBox="1"/>
          <p:nvPr/>
        </p:nvSpPr>
        <p:spPr>
          <a:xfrm>
            <a:off x="1005840" y="3962617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Cannot understand semantic meanings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9798E8-A832-734F-1674-A017D7B3EA75}"/>
              </a:ext>
            </a:extLst>
          </p:cNvPr>
          <p:cNvSpPr txBox="1"/>
          <p:nvPr/>
        </p:nvSpPr>
        <p:spPr>
          <a:xfrm>
            <a:off x="1005840" y="4642452"/>
            <a:ext cx="27432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IN" sz="1500" dirty="0"/>
              <a:t>Not suitable for chatbots where user may not enter exact words.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76E8AA-2A4F-32F9-BB62-261C573384F3}"/>
              </a:ext>
            </a:extLst>
          </p:cNvPr>
          <p:cNvSpPr txBox="1"/>
          <p:nvPr/>
        </p:nvSpPr>
        <p:spPr>
          <a:xfrm>
            <a:off x="4713513" y="5555070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36E72"/>
                </a:solidFill>
                <a:latin typeface="Segoe UI"/>
              </a:defRPr>
            </a:pPr>
            <a:r>
              <a:rPr lang="en-US" sz="1500" dirty="0"/>
              <a:t>Each word has </a:t>
            </a:r>
            <a:r>
              <a:rPr lang="en-US" sz="1500" b="1" dirty="0"/>
              <a:t>one fixed vector</a:t>
            </a:r>
            <a:r>
              <a:rPr lang="en-US" sz="1500" dirty="0"/>
              <a:t> (no context awareness)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056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5F0"/>
            </a:gs>
            <a:gs pos="100000">
              <a:srgbClr val="E8E5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0" y="707923"/>
            <a:ext cx="8503920" cy="562405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707923"/>
            <a:ext cx="109728" cy="5624051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45572" y="49063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A29BFE"/>
                </a:solidFill>
                <a:latin typeface="Segoe UI"/>
              </a:defRPr>
            </a:pPr>
            <a:r>
              <a:rPr dirty="0"/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797510"/>
            <a:ext cx="6858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D3436"/>
                </a:solidFill>
                <a:latin typeface="Segoe UI"/>
              </a:defRPr>
            </a:pPr>
            <a:r>
              <a:rPr lang="en-US" dirty="0"/>
              <a:t>all-MiniLM-L6-v2 delivers strong semantic understanding while remaining fast and lightweight. </a:t>
            </a:r>
          </a:p>
          <a:p>
            <a:pPr algn="l">
              <a:defRPr sz="2400" b="0">
                <a:solidFill>
                  <a:srgbClr val="2D3436"/>
                </a:solidFill>
                <a:latin typeface="Segoe UI"/>
              </a:defRPr>
            </a:pPr>
            <a:r>
              <a:rPr lang="en-US" dirty="0"/>
              <a:t>Unlike sparse methods like TF-IDF, it captures meaning rather than exact keywords, enabling better matching of symptoms and queries. Compared to larger embedding models, it offers near-competitive accuracy with significantly lower latency and compute cost, making it suitable for real-time responses. This balance of speed, efficiency, and semantic performance makes it more practical than heavier models and more intelligent than traditional techniques for medical information retrieval.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7F149-4221-70B4-41C0-81A728B5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1424970-83BA-7C2A-5854-F2558E135942}"/>
              </a:ext>
            </a:extLst>
          </p:cNvPr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C23E172-126F-E489-46A8-04A9FBA34AC1}"/>
              </a:ext>
            </a:extLst>
          </p:cNvPr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162E714-0C93-409E-0752-C15973C4472B}"/>
              </a:ext>
            </a:extLst>
          </p:cNvPr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3FB8267-8E9D-104D-AE20-E17DE513EF6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14DCC-16AF-36F0-EDB3-5286BB2D3D48}"/>
              </a:ext>
            </a:extLst>
          </p:cNvPr>
          <p:cNvSpPr txBox="1"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SECTION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8C4DF0-C3C9-AABF-D3BA-3878025122AF}"/>
              </a:ext>
            </a:extLst>
          </p:cNvPr>
          <p:cNvSpPr txBox="1"/>
          <p:nvPr/>
        </p:nvSpPr>
        <p:spPr>
          <a:xfrm>
            <a:off x="1371600" y="201168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Passing information to LLM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6200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01BD9-86F4-37A6-E4E0-010D661BE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8936AB7-43A3-ACB4-BB9E-7086CCE0FAB2}"/>
              </a:ext>
            </a:extLst>
          </p:cNvPr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1E28BF0-FB16-3DFB-26BB-2C2655C8A20A}"/>
              </a:ext>
            </a:extLst>
          </p:cNvPr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37AF61-AE8D-9B4C-28C6-37E29B007E80}"/>
              </a:ext>
            </a:extLst>
          </p:cNvPr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331E31-0296-552F-6A19-BE204168AF15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D0300-6FA7-FCC4-C3B9-7F89C782A0F7}"/>
              </a:ext>
            </a:extLst>
          </p:cNvPr>
          <p:cNvSpPr txBox="1"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SECTION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8BF0E-6428-CB12-D56B-C241203B6948}"/>
              </a:ext>
            </a:extLst>
          </p:cNvPr>
          <p:cNvSpPr txBox="1"/>
          <p:nvPr/>
        </p:nvSpPr>
        <p:spPr>
          <a:xfrm>
            <a:off x="1371600" y="201168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D3436"/>
                </a:solidFill>
                <a:latin typeface="Segoe UI"/>
              </a:defRPr>
            </a:pPr>
            <a:r>
              <a:rPr lang="en-IN" dirty="0"/>
              <a:t>Response Evaluation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0669F-3430-FEF2-E9F4-91A8CF729426}"/>
              </a:ext>
            </a:extLst>
          </p:cNvPr>
          <p:cNvSpPr txBox="1"/>
          <p:nvPr/>
        </p:nvSpPr>
        <p:spPr>
          <a:xfrm>
            <a:off x="1371600" y="3474720"/>
            <a:ext cx="71038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  <a:defRPr sz="18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Retrieval Metrics</a:t>
            </a:r>
          </a:p>
          <a:p>
            <a:pPr marL="742950" lvl="1" indent="-285750">
              <a:buFontTx/>
              <a:buChar char="-"/>
              <a:defRPr sz="18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Hit Rate @ 5: 100%</a:t>
            </a:r>
          </a:p>
          <a:p>
            <a:pPr marL="742950" lvl="1" indent="-285750">
              <a:buFontTx/>
              <a:buChar char="-"/>
              <a:defRPr sz="18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Mean Reciprocal Rank (MRR): 98.8%</a:t>
            </a:r>
          </a:p>
          <a:p>
            <a:pPr marL="742950" lvl="1" indent="-285750">
              <a:buFontTx/>
              <a:buChar char="-"/>
              <a:defRPr sz="1800" b="0">
                <a:solidFill>
                  <a:srgbClr val="636E72"/>
                </a:solidFill>
                <a:latin typeface="Segoe UI"/>
              </a:defRPr>
            </a:pPr>
            <a:endParaRPr lang="en-IN" dirty="0"/>
          </a:p>
          <a:p>
            <a:pPr marL="285750" indent="-285750" algn="l">
              <a:buFontTx/>
              <a:buChar char="-"/>
              <a:defRPr sz="18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Generation Evaluation</a:t>
            </a:r>
          </a:p>
          <a:p>
            <a:pPr marL="742950" lvl="1" indent="-285750">
              <a:buFontTx/>
              <a:buChar char="-"/>
              <a:defRPr sz="1800" b="0">
                <a:solidFill>
                  <a:srgbClr val="636E72"/>
                </a:solidFill>
                <a:latin typeface="Segoe UI"/>
              </a:defRPr>
            </a:pPr>
            <a:r>
              <a:rPr lang="en-IN" dirty="0"/>
              <a:t>LLM as a judge (using smarter LLM with strict instructions)</a:t>
            </a:r>
          </a:p>
        </p:txBody>
      </p:sp>
    </p:spTree>
    <p:extLst>
      <p:ext uri="{BB962C8B-B14F-4D97-AF65-F5344CB8AC3E}">
        <p14:creationId xmlns:p14="http://schemas.microsoft.com/office/powerpoint/2010/main" val="1761450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5F0"/>
            </a:gs>
            <a:gs pos="100000">
              <a:srgbClr val="E8E5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-1371600"/>
            <a:ext cx="2286000" cy="2286000"/>
          </a:xfrm>
          <a:prstGeom prst="ellipse">
            <a:avLst/>
          </a:prstGeom>
          <a:solidFill>
            <a:srgbClr val="FE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D3436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36E72"/>
                </a:solidFill>
                <a:latin typeface="Segoe UI"/>
              </a:defRPr>
            </a:pPr>
            <a:r>
              <a:t>Questions? Let's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2BEC3"/>
                </a:solidFill>
                <a:latin typeface="Segoe UI"/>
              </a:defRPr>
            </a:pPr>
            <a:r>
              <a:rPr lang="en-IN" dirty="0"/>
              <a:t>apoorvgupta479</a:t>
            </a:r>
            <a:r>
              <a:rPr dirty="0"/>
              <a:t>@example.com  |  </a:t>
            </a:r>
            <a:r>
              <a:rPr lang="en-IN" dirty="0"/>
              <a:t>github.com/apoorvgupt479  </a:t>
            </a:r>
            <a:r>
              <a:rPr dirty="0"/>
              <a:t>|  </a:t>
            </a:r>
            <a:r>
              <a:rPr lang="en-IN" dirty="0"/>
              <a:t>linkedin.com/</a:t>
            </a:r>
            <a:r>
              <a:rPr lang="en-IN" dirty="0" err="1"/>
              <a:t>apoorv</a:t>
            </a:r>
            <a:r>
              <a:rPr lang="en-IN" dirty="0"/>
              <a:t>---</a:t>
            </a:r>
            <a:r>
              <a:rPr lang="en-IN" dirty="0" err="1"/>
              <a:t>gupta</a:t>
            </a:r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5029200" y="5029200"/>
            <a:ext cx="1828800" cy="1828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0" y="5303520"/>
            <a:ext cx="1371600" cy="137160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8FAF198-5683-480F-A3AE-777F39E83008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752</Words>
  <Application>Microsoft Office PowerPoint</Application>
  <PresentationFormat>Widescreen</PresentationFormat>
  <Paragraphs>158</Paragraphs>
  <Slides>17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ApoorvPC</dc:creator>
  <cp:keywords/>
  <dc:description>generated using python-pptx</dc:description>
  <cp:lastModifiedBy>Apoorv Gupta</cp:lastModifiedBy>
  <cp:revision>4</cp:revision>
  <dcterms:created xsi:type="dcterms:W3CDTF">2013-01-27T09:14:16Z</dcterms:created>
  <dcterms:modified xsi:type="dcterms:W3CDTF">2026-05-05T06:03:16Z</dcterms:modified>
  <cp:category/>
</cp:coreProperties>
</file>